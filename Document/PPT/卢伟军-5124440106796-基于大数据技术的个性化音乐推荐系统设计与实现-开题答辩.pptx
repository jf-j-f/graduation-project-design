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7.xml" ContentType="application/vnd.openxmlformats-officedocument.presentationml.notesSlide+xml"/>
  <Override PartName="/ppt/tags/tag18.xml" ContentType="application/vnd.openxmlformats-officedocument.presentationml.tags+xml"/>
  <Override PartName="/ppt/notesSlides/notesSlide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9.xml" ContentType="application/vnd.openxmlformats-officedocument.presentationml.notesSlide+xml"/>
  <Override PartName="/ppt/tags/tag21.xml" ContentType="application/vnd.openxmlformats-officedocument.presentationml.tags+xml"/>
  <Override PartName="/ppt/notesSlides/notesSlide10.xml" ContentType="application/vnd.openxmlformats-officedocument.presentationml.notesSlide+xml"/>
  <Override PartName="/ppt/tags/tag22.xml" ContentType="application/vnd.openxmlformats-officedocument.presentationml.tags+xml"/>
  <Override PartName="/ppt/notesSlides/notesSlide11.xml" ContentType="application/vnd.openxmlformats-officedocument.presentationml.notesSlide+xml"/>
  <Override PartName="/ppt/tags/tag23.xml" ContentType="application/vnd.openxmlformats-officedocument.presentationml.tags+xml"/>
  <Override PartName="/ppt/notesSlides/notesSlide12.xml" ContentType="application/vnd.openxmlformats-officedocument.presentationml.notesSlide+xml"/>
  <Override PartName="/ppt/tags/tag24.xml" ContentType="application/vnd.openxmlformats-officedocument.presentationml.tags+xml"/>
  <Override PartName="/ppt/notesSlides/notesSlide1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tags/tag29.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0.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sldIdLst>
    <p:sldId id="257" r:id="rId2"/>
    <p:sldId id="283" r:id="rId3"/>
    <p:sldId id="259" r:id="rId4"/>
    <p:sldId id="284" r:id="rId5"/>
    <p:sldId id="260" r:id="rId6"/>
    <p:sldId id="285" r:id="rId7"/>
    <p:sldId id="261" r:id="rId8"/>
    <p:sldId id="287" r:id="rId9"/>
    <p:sldId id="291" r:id="rId10"/>
    <p:sldId id="288" r:id="rId11"/>
    <p:sldId id="289" r:id="rId12"/>
    <p:sldId id="292" r:id="rId13"/>
    <p:sldId id="262" r:id="rId14"/>
    <p:sldId id="290" r:id="rId15"/>
    <p:sldId id="263" r:id="rId16"/>
    <p:sldId id="265" r:id="rId17"/>
    <p:sldId id="293" r:id="rId18"/>
    <p:sldId id="264" r:id="rId19"/>
    <p:sldId id="266" r:id="rId20"/>
    <p:sldId id="267" r:id="rId21"/>
    <p:sldId id="294" r:id="rId22"/>
    <p:sldId id="295" r:id="rId23"/>
    <p:sldId id="296" r:id="rId24"/>
    <p:sldId id="297" r:id="rId25"/>
    <p:sldId id="298" r:id="rId26"/>
    <p:sldId id="282" r:id="rId27"/>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E0E0"/>
    <a:srgbClr val="0AFF00"/>
    <a:srgbClr val="C614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4277" autoAdjust="0"/>
  </p:normalViewPr>
  <p:slideViewPr>
    <p:cSldViewPr snapToGrid="0" showGuides="1">
      <p:cViewPr>
        <p:scale>
          <a:sx n="75" d="100"/>
          <a:sy n="75" d="100"/>
        </p:scale>
        <p:origin x="288" y="2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9A9E8B-8668-4EE9-81CF-39121E276770}" type="datetimeFigureOut">
              <a:rPr lang="zh-CN" altLang="en-US" smtClean="0"/>
              <a:t>2026/1/10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各位老师下午好！我是学生卢伟军。 我选题内容是</a:t>
            </a:r>
            <a:r>
              <a:rPr lang="en-US" altLang="zh-CN" dirty="0"/>
              <a:t>《</a:t>
            </a:r>
            <a:r>
              <a:rPr lang="zh-CN" altLang="en-US" dirty="0"/>
              <a:t>基于大数据技术的个性化音乐推荐系统设计与实现</a:t>
            </a:r>
            <a:r>
              <a:rPr lang="en-US" altLang="zh-CN" dirty="0"/>
              <a:t>》</a:t>
            </a:r>
            <a:r>
              <a:rPr lang="zh-CN" altLang="en-US" dirty="0"/>
              <a:t>。</a:t>
            </a:r>
          </a:p>
        </p:txBody>
      </p:sp>
      <p:sp>
        <p:nvSpPr>
          <p:cNvPr id="4" name="灯片编号占位符 3"/>
          <p:cNvSpPr>
            <a:spLocks noGrp="1"/>
          </p:cNvSpPr>
          <p:nvPr>
            <p:ph type="sldNum" sz="quarter" idx="5"/>
          </p:nvPr>
        </p:nvSpPr>
        <p:spPr/>
        <p:txBody>
          <a:bodyPr/>
          <a:lstStyle/>
          <a:p>
            <a:fld id="{893DABDA-89F0-4727-B28F-05A90B0069BB}" type="slidenum">
              <a:rPr lang="zh-CN" altLang="en-US" smtClean="0"/>
              <a:t>1</a:t>
            </a:fld>
            <a:endParaRPr lang="zh-CN" altLang="en-US"/>
          </a:p>
        </p:txBody>
      </p:sp>
    </p:spTree>
    <p:extLst>
      <p:ext uri="{BB962C8B-B14F-4D97-AF65-F5344CB8AC3E}">
        <p14:creationId xmlns:p14="http://schemas.microsoft.com/office/powerpoint/2010/main" val="1915649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93DABDA-89F0-4727-B28F-05A90B0069BB}" type="slidenum">
              <a:rPr lang="zh-CN" altLang="en-US" smtClean="0"/>
              <a:t>3</a:t>
            </a:fld>
            <a:endParaRPr lang="zh-CN" altLang="en-US"/>
          </a:p>
        </p:txBody>
      </p:sp>
    </p:spTree>
    <p:extLst>
      <p:ext uri="{BB962C8B-B14F-4D97-AF65-F5344CB8AC3E}">
        <p14:creationId xmlns:p14="http://schemas.microsoft.com/office/powerpoint/2010/main" val="176202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t>随着流媒体音乐曲库达到千万级别，“信息过载”让用户面临严重的选择困难。而传统的协同过滤算法在面对海量数据时，又存在“计算性能瓶颈”以及对新用户、新歌存在“冷启动”难题 。</a:t>
            </a:r>
          </a:p>
          <a:p>
            <a:pPr marL="0" lvl="0" indent="0" algn="l" rtl="0">
              <a:spcBef>
                <a:spcPts val="0"/>
              </a:spcBef>
              <a:spcAft>
                <a:spcPts val="0"/>
              </a:spcAft>
              <a:buNone/>
            </a:pPr>
            <a:r>
              <a:rPr lang="zh-CN" altLang="en-US" dirty="0"/>
              <a:t>因此，我准备结合大数据分布式计算与深度学习模型，设计并实现一个能够处理海量数据、且具备精准推荐能力的个性化音乐系统。</a:t>
            </a:r>
            <a:endParaRPr dirty="0"/>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目前国外</a:t>
            </a:r>
            <a:r>
              <a:rPr lang="zh-CN" altLang="en-US" dirty="0"/>
              <a:t>已广泛采用 </a:t>
            </a:r>
            <a:r>
              <a:rPr lang="en-US" altLang="zh-CN" b="1" dirty="0"/>
              <a:t>Transformer</a:t>
            </a:r>
            <a:r>
              <a:rPr lang="zh-CN" altLang="en-US" dirty="0"/>
              <a:t> 等注意力机制模型来捕捉音乐的深层语义特征，</a:t>
            </a:r>
          </a:p>
        </p:txBody>
      </p:sp>
      <p:sp>
        <p:nvSpPr>
          <p:cNvPr id="4" name="灯片编号占位符 3"/>
          <p:cNvSpPr>
            <a:spLocks noGrp="1"/>
          </p:cNvSpPr>
          <p:nvPr>
            <p:ph type="sldNum" sz="quarter" idx="5"/>
          </p:nvPr>
        </p:nvSpPr>
        <p:spPr/>
        <p:txBody>
          <a:bodyPr/>
          <a:lstStyle/>
          <a:p>
            <a:fld id="{893DABDA-89F0-4727-B28F-05A90B0069BB}" type="slidenum">
              <a:rPr lang="zh-CN" altLang="en-US" smtClean="0"/>
              <a:t>7</a:t>
            </a:fld>
            <a:endParaRPr lang="zh-CN" altLang="en-US"/>
          </a:p>
        </p:txBody>
      </p:sp>
    </p:spTree>
    <p:extLst>
      <p:ext uri="{BB962C8B-B14F-4D97-AF65-F5344CB8AC3E}">
        <p14:creationId xmlns:p14="http://schemas.microsoft.com/office/powerpoint/2010/main" val="3772068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a:t>
            </a:r>
            <a:r>
              <a:rPr lang="zh-CN" altLang="en-US" b="1" dirty="0"/>
              <a:t>国内</a:t>
            </a:r>
            <a:r>
              <a:rPr lang="zh-CN" altLang="en-US" dirty="0"/>
              <a:t>研究则更聚焦于</a:t>
            </a:r>
            <a:r>
              <a:rPr lang="zh-CN" altLang="en-US" b="1" dirty="0"/>
              <a:t>工程落地</a:t>
            </a:r>
            <a:r>
              <a:rPr lang="zh-CN" altLang="en-US" dirty="0"/>
              <a:t>，多采用</a:t>
            </a:r>
            <a:r>
              <a:rPr lang="zh-CN" altLang="en-US" b="1" dirty="0"/>
              <a:t>知识图谱</a:t>
            </a:r>
            <a:r>
              <a:rPr lang="zh-CN" altLang="en-US" dirty="0"/>
              <a:t>与</a:t>
            </a:r>
            <a:r>
              <a:rPr lang="zh-CN" altLang="en-US" b="1" dirty="0"/>
              <a:t>情感计算</a:t>
            </a:r>
            <a:r>
              <a:rPr lang="zh-CN" altLang="en-US" dirty="0"/>
              <a:t>来解决冷启动与语义理解难题 。（目前国内外的研究趋势正从单一模型向混合模型演进，架构上也从单机转向分布式 。）</a:t>
            </a:r>
          </a:p>
        </p:txBody>
      </p:sp>
      <p:sp>
        <p:nvSpPr>
          <p:cNvPr id="4" name="灯片编号占位符 3"/>
          <p:cNvSpPr>
            <a:spLocks noGrp="1"/>
          </p:cNvSpPr>
          <p:nvPr>
            <p:ph type="sldNum" sz="quarter" idx="5"/>
          </p:nvPr>
        </p:nvSpPr>
        <p:spPr/>
        <p:txBody>
          <a:bodyPr/>
          <a:lstStyle/>
          <a:p>
            <a:fld id="{893DABDA-89F0-4727-B28F-05A90B0069BB}" type="slidenum">
              <a:rPr lang="zh-CN" altLang="en-US" smtClean="0"/>
              <a:t>8</a:t>
            </a:fld>
            <a:endParaRPr lang="zh-CN" altLang="en-US"/>
          </a:p>
        </p:txBody>
      </p:sp>
    </p:spTree>
    <p:extLst>
      <p:ext uri="{BB962C8B-B14F-4D97-AF65-F5344CB8AC3E}">
        <p14:creationId xmlns:p14="http://schemas.microsoft.com/office/powerpoint/2010/main" val="3756647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dist">
              <a:lnSpc>
                <a:spcPct val="150000"/>
              </a:lnSpc>
            </a:pPr>
            <a:r>
              <a:rPr lang="zh-CN" altLang="en-US" dirty="0"/>
              <a:t>基于此，我的研究目标是： 针对目前消费级硬件（如</a:t>
            </a:r>
            <a:r>
              <a:rPr lang="en-US" altLang="zh-CN" dirty="0"/>
              <a:t>16GB</a:t>
            </a:r>
            <a:r>
              <a:rPr lang="zh-CN" altLang="en-US" dirty="0"/>
              <a:t>内存）的限制，构建端到端的个性化推荐闭环系统，</a:t>
            </a:r>
            <a:r>
              <a:rPr lang="zh-CN" altLang="en-US"/>
              <a:t>实现海量数据计算并获取</a:t>
            </a:r>
            <a:r>
              <a:rPr lang="zh-CN" altLang="en-US" dirty="0"/>
              <a:t>深度偏好</a:t>
            </a:r>
            <a:r>
              <a:rPr lang="en-US" altLang="zh-CN" dirty="0"/>
              <a:t>,</a:t>
            </a:r>
            <a:r>
              <a:rPr lang="zh-CN" altLang="en-US" dirty="0"/>
              <a:t>使在线业务实现精准分发个性化内容。</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93DABDA-89F0-4727-B28F-05A90B0069BB}" type="slidenum">
              <a:rPr lang="zh-CN" altLang="en-US" smtClean="0"/>
              <a:t>10</a:t>
            </a:fld>
            <a:endParaRPr lang="zh-CN" altLang="en-US"/>
          </a:p>
        </p:txBody>
      </p:sp>
    </p:spTree>
    <p:extLst>
      <p:ext uri="{BB962C8B-B14F-4D97-AF65-F5344CB8AC3E}">
        <p14:creationId xmlns:p14="http://schemas.microsoft.com/office/powerpoint/2010/main" val="2522663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重点解决三个关键问题：</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跨语言系统协同</a:t>
            </a:r>
            <a:r>
              <a:rPr lang="zh-CN" altLang="en-US" dirty="0"/>
              <a:t>：攻克 </a:t>
            </a:r>
            <a:r>
              <a:rPr lang="en-US" altLang="zh-CN" dirty="0"/>
              <a:t>Java </a:t>
            </a:r>
            <a:r>
              <a:rPr lang="zh-CN" altLang="en-US" dirty="0"/>
              <a:t>业务层与 </a:t>
            </a:r>
            <a:r>
              <a:rPr lang="en-US" altLang="zh-CN" dirty="0"/>
              <a:t>Python </a:t>
            </a:r>
            <a:r>
              <a:rPr lang="zh-CN" altLang="en-US" dirty="0"/>
              <a:t>算法层在日志同步时的时延与稳定性问题。</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有限资源下的计算平衡</a:t>
            </a:r>
            <a:r>
              <a:rPr lang="zh-CN" altLang="en-US" dirty="0"/>
              <a:t>：在当前环境下，如何协调 </a:t>
            </a:r>
            <a:r>
              <a:rPr lang="en-US" altLang="zh-CN" dirty="0"/>
              <a:t>Spark </a:t>
            </a:r>
            <a:r>
              <a:rPr lang="zh-CN" altLang="en-US" dirty="0"/>
              <a:t>特征计算与 </a:t>
            </a:r>
            <a:r>
              <a:rPr lang="en-US" altLang="zh-CN" dirty="0" err="1"/>
              <a:t>DeepFM</a:t>
            </a:r>
            <a:r>
              <a:rPr lang="en-US" altLang="zh-CN" dirty="0"/>
              <a:t> </a:t>
            </a:r>
            <a:r>
              <a:rPr lang="zh-CN" altLang="en-US" dirty="0"/>
              <a:t>深度训练的资源占比，避免内存溢出 。</a:t>
            </a:r>
            <a:endParaRPr lang="en-US" altLang="zh-CN" b="1" dirty="0"/>
          </a:p>
          <a:p>
            <a:r>
              <a:rPr lang="zh-CN" altLang="en-US" b="1" dirty="0"/>
              <a:t>动态冷启动难题</a:t>
            </a:r>
            <a:r>
              <a:rPr lang="zh-CN" altLang="en-US" dirty="0"/>
              <a:t>：如何利用碎片化的初始行为，为无历史记录的新用户快速构建精准的用户特征 。</a:t>
            </a:r>
          </a:p>
          <a:p>
            <a:endParaRPr lang="zh-CN" altLang="en-US" dirty="0"/>
          </a:p>
        </p:txBody>
      </p:sp>
      <p:sp>
        <p:nvSpPr>
          <p:cNvPr id="4" name="灯片编号占位符 3"/>
          <p:cNvSpPr>
            <a:spLocks noGrp="1"/>
          </p:cNvSpPr>
          <p:nvPr>
            <p:ph type="sldNum" sz="quarter" idx="5"/>
          </p:nvPr>
        </p:nvSpPr>
        <p:spPr/>
        <p:txBody>
          <a:bodyPr/>
          <a:lstStyle/>
          <a:p>
            <a:fld id="{893DABDA-89F0-4727-B28F-05A90B0069BB}" type="slidenum">
              <a:rPr lang="zh-CN" altLang="en-US" smtClean="0"/>
              <a:t>11</a:t>
            </a:fld>
            <a:endParaRPr lang="zh-CN" altLang="en-US"/>
          </a:p>
        </p:txBody>
      </p:sp>
    </p:spTree>
    <p:extLst>
      <p:ext uri="{BB962C8B-B14F-4D97-AF65-F5344CB8AC3E}">
        <p14:creationId xmlns:p14="http://schemas.microsoft.com/office/powerpoint/2010/main" val="197564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我设计了一种</a:t>
            </a:r>
            <a:r>
              <a:rPr lang="en-US" altLang="zh-CN" b="1" dirty="0"/>
              <a:t>Java</a:t>
            </a:r>
            <a:r>
              <a:rPr lang="zh-CN" altLang="en-US" b="1" dirty="0"/>
              <a:t>业务与</a:t>
            </a:r>
            <a:r>
              <a:rPr lang="en-US" altLang="zh-CN" b="1" dirty="0"/>
              <a:t>Python</a:t>
            </a:r>
            <a:r>
              <a:rPr lang="zh-CN" altLang="en-US" b="1" dirty="0"/>
              <a:t>算力解耦</a:t>
            </a:r>
            <a:r>
              <a:rPr lang="zh-CN" altLang="en-US" dirty="0"/>
              <a:t>的轻量级架构。</a:t>
            </a:r>
          </a:p>
          <a:p>
            <a:r>
              <a:rPr lang="zh-CN" altLang="en-US" dirty="0"/>
              <a:t>前端负责全链路埋点；后端利用 </a:t>
            </a:r>
            <a:r>
              <a:rPr lang="en-US" altLang="zh-CN" b="1" dirty="0" err="1"/>
              <a:t>PySpark</a:t>
            </a:r>
            <a:r>
              <a:rPr lang="zh-CN" altLang="en-US" dirty="0"/>
              <a:t> 和 </a:t>
            </a:r>
            <a:r>
              <a:rPr lang="en-US" altLang="zh-CN" b="1" dirty="0" err="1"/>
              <a:t>DeepFM</a:t>
            </a:r>
            <a:r>
              <a:rPr lang="zh-CN" altLang="en-US" dirty="0"/>
              <a:t> 进行分布式清洗与混合推荐计算；最后通过 </a:t>
            </a:r>
            <a:r>
              <a:rPr lang="en-US" altLang="zh-CN" dirty="0"/>
              <a:t>JDBC </a:t>
            </a:r>
            <a:r>
              <a:rPr lang="zh-CN" altLang="en-US" dirty="0"/>
              <a:t>自动回传结果，从而打通从</a:t>
            </a:r>
            <a:r>
              <a:rPr lang="zh-CN" altLang="en-US" b="1" dirty="0"/>
              <a:t>离线计算</a:t>
            </a:r>
            <a:r>
              <a:rPr lang="zh-CN" altLang="en-US" dirty="0"/>
              <a:t>到</a:t>
            </a:r>
            <a:r>
              <a:rPr lang="zh-CN" altLang="en-US" b="1" dirty="0"/>
              <a:t>在线服务</a:t>
            </a:r>
            <a:r>
              <a:rPr lang="zh-CN" altLang="en-US" dirty="0"/>
              <a:t>的高效闭环。”</a:t>
            </a:r>
          </a:p>
          <a:p>
            <a:endParaRPr lang="zh-CN" altLang="en-US" dirty="0"/>
          </a:p>
        </p:txBody>
      </p:sp>
      <p:sp>
        <p:nvSpPr>
          <p:cNvPr id="4" name="灯片编号占位符 3"/>
          <p:cNvSpPr>
            <a:spLocks noGrp="1"/>
          </p:cNvSpPr>
          <p:nvPr>
            <p:ph type="sldNum" sz="quarter" idx="5"/>
          </p:nvPr>
        </p:nvSpPr>
        <p:spPr/>
        <p:txBody>
          <a:bodyPr/>
          <a:lstStyle/>
          <a:p>
            <a:fld id="{893DABDA-89F0-4727-B28F-05A90B0069BB}" type="slidenum">
              <a:rPr lang="zh-CN" altLang="en-US" smtClean="0"/>
              <a:t>13</a:t>
            </a:fld>
            <a:endParaRPr lang="zh-CN" altLang="en-US"/>
          </a:p>
        </p:txBody>
      </p:sp>
    </p:spTree>
    <p:extLst>
      <p:ext uri="{BB962C8B-B14F-4D97-AF65-F5344CB8AC3E}">
        <p14:creationId xmlns:p14="http://schemas.microsoft.com/office/powerpoint/2010/main" val="3046938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我设计了一种“</a:t>
            </a:r>
            <a:r>
              <a:rPr lang="en-US" altLang="zh-CN" dirty="0"/>
              <a:t>Java</a:t>
            </a:r>
            <a:r>
              <a:rPr lang="zh-CN" altLang="en-US" dirty="0"/>
              <a:t>业务与</a:t>
            </a:r>
            <a:r>
              <a:rPr lang="en-US" altLang="zh-CN" dirty="0"/>
              <a:t>Python</a:t>
            </a:r>
            <a:r>
              <a:rPr lang="zh-CN" altLang="en-US" dirty="0"/>
              <a:t>算力解耦的轻量级异构协同架构”。整个系统的数据流转分为四个核心步骤：</a:t>
            </a:r>
          </a:p>
          <a:p>
            <a:r>
              <a:rPr lang="zh-CN" altLang="en-US" b="1" dirty="0"/>
              <a:t>在数据采集方面</a:t>
            </a:r>
            <a:r>
              <a:rPr lang="zh-CN" altLang="en-US" dirty="0"/>
              <a:t>： 我在 </a:t>
            </a:r>
            <a:r>
              <a:rPr lang="en-US" altLang="zh-CN" dirty="0"/>
              <a:t>Java Web </a:t>
            </a:r>
            <a:r>
              <a:rPr lang="zh-CN" altLang="en-US" dirty="0"/>
              <a:t>前端部署了探针，不仅采集播放日志，还深度采集搜索关键词、收藏列表等</a:t>
            </a:r>
            <a:r>
              <a:rPr lang="zh-CN" altLang="en-US" b="1" dirty="0"/>
              <a:t>显性反馈数据</a:t>
            </a:r>
            <a:r>
              <a:rPr lang="zh-CN" altLang="en-US" dirty="0"/>
              <a:t>，并将其实时持久化到 </a:t>
            </a:r>
            <a:r>
              <a:rPr lang="en-US" altLang="zh-CN" dirty="0"/>
              <a:t>MySQL </a:t>
            </a:r>
            <a:r>
              <a:rPr lang="zh-CN" altLang="en-US" dirty="0"/>
              <a:t>业务库中，作为画像建模的基础 。</a:t>
            </a:r>
          </a:p>
          <a:p>
            <a:r>
              <a:rPr lang="zh-CN" altLang="en-US" b="1" dirty="0"/>
              <a:t>在分布式预处理上</a:t>
            </a:r>
            <a:r>
              <a:rPr lang="zh-CN" altLang="en-US" dirty="0"/>
              <a:t>： 针对大数据计算瓶颈，我利用 </a:t>
            </a:r>
            <a:r>
              <a:rPr lang="en-US" altLang="zh-CN" b="1" dirty="0" err="1"/>
              <a:t>PySpark</a:t>
            </a:r>
            <a:r>
              <a:rPr lang="zh-CN" altLang="en-US" dirty="0"/>
              <a:t> 构建流水线。针对内存限制，我采用了</a:t>
            </a:r>
            <a:r>
              <a:rPr lang="zh-CN" altLang="en-US" b="1" dirty="0"/>
              <a:t>特征分片</a:t>
            </a:r>
            <a:r>
              <a:rPr lang="zh-CN" altLang="en-US" dirty="0"/>
              <a:t>与</a:t>
            </a:r>
            <a:r>
              <a:rPr lang="zh-CN" altLang="en-US" b="1" dirty="0"/>
              <a:t>数据类型下采样</a:t>
            </a:r>
            <a:r>
              <a:rPr lang="zh-CN" altLang="en-US" dirty="0"/>
              <a:t>技术，对清洗后的千万级日志进行降维处理，对多维度数据灾难进行缓解 。</a:t>
            </a:r>
          </a:p>
          <a:p>
            <a:r>
              <a:rPr lang="zh-CN" altLang="en-US" b="1" dirty="0"/>
              <a:t>在混合推荐计算方面（这是算法核心）</a:t>
            </a:r>
            <a:r>
              <a:rPr lang="zh-CN" altLang="en-US" dirty="0"/>
              <a:t>： 我采用了“漏斗型”的混合策略 。 首先，利用</a:t>
            </a:r>
            <a:r>
              <a:rPr lang="en-US" altLang="zh-CN" b="1" dirty="0"/>
              <a:t>ALS</a:t>
            </a:r>
            <a:r>
              <a:rPr lang="zh-CN" altLang="en-US" b="1" dirty="0"/>
              <a:t>（交替最小二乘法）</a:t>
            </a:r>
            <a:r>
              <a:rPr lang="zh-CN" altLang="en-US" dirty="0"/>
              <a:t> 矩阵分解算法进行粗排召回，从海量曲库中初筛出候选集； 然后，引入 </a:t>
            </a:r>
            <a:r>
              <a:rPr lang="en-US" altLang="zh-CN" b="1" dirty="0" err="1"/>
              <a:t>DeepFM</a:t>
            </a:r>
            <a:r>
              <a:rPr lang="zh-CN" altLang="en-US" b="1" dirty="0"/>
              <a:t>（深度因子分解机）</a:t>
            </a:r>
            <a:r>
              <a:rPr lang="zh-CN" altLang="en-US" dirty="0"/>
              <a:t> 模型进行</a:t>
            </a:r>
            <a:r>
              <a:rPr lang="zh-CN" altLang="en-US" b="1" dirty="0"/>
              <a:t>精排</a:t>
            </a:r>
            <a:r>
              <a:rPr lang="zh-CN" altLang="en-US" dirty="0"/>
              <a:t>。该模型能自动捕捉用户行为与音乐属性之间的高阶非线性关系，输出精准的点击率（</a:t>
            </a:r>
            <a:r>
              <a:rPr lang="en-US" altLang="zh-CN" dirty="0"/>
              <a:t>CTR</a:t>
            </a:r>
            <a:r>
              <a:rPr lang="zh-CN" altLang="en-US" dirty="0"/>
              <a:t>）预测 。</a:t>
            </a:r>
          </a:p>
          <a:p>
            <a:r>
              <a:rPr lang="zh-CN" altLang="en-US" b="1" dirty="0"/>
              <a:t>最后是结果回传与前端展示</a:t>
            </a:r>
            <a:r>
              <a:rPr lang="zh-CN" altLang="en-US" dirty="0"/>
              <a:t>： 为了打通 </a:t>
            </a:r>
            <a:r>
              <a:rPr lang="en-US" altLang="zh-CN" dirty="0"/>
              <a:t>Python </a:t>
            </a:r>
            <a:r>
              <a:rPr lang="zh-CN" altLang="en-US" dirty="0"/>
              <a:t>离线计算与 </a:t>
            </a:r>
            <a:r>
              <a:rPr lang="en-US" altLang="zh-CN" dirty="0"/>
              <a:t>Java </a:t>
            </a:r>
            <a:r>
              <a:rPr lang="zh-CN" altLang="en-US" dirty="0"/>
              <a:t>在线服务，我设计了自动化的数据</a:t>
            </a:r>
            <a:r>
              <a:rPr lang="zh-CN" altLang="en-US" b="1" dirty="0"/>
              <a:t>同步机制</a:t>
            </a:r>
            <a:r>
              <a:rPr lang="zh-CN" altLang="en-US" dirty="0"/>
              <a:t>。算法生成的 </a:t>
            </a:r>
            <a:r>
              <a:rPr lang="en-US" altLang="zh-CN" dirty="0"/>
              <a:t>Top-N </a:t>
            </a:r>
            <a:r>
              <a:rPr lang="zh-CN" altLang="en-US" dirty="0"/>
              <a:t>列表会批量回写至数据库，</a:t>
            </a:r>
            <a:r>
              <a:rPr lang="en-US" altLang="zh-CN" dirty="0"/>
              <a:t>Java </a:t>
            </a:r>
            <a:r>
              <a:rPr lang="zh-CN" altLang="en-US" dirty="0"/>
              <a:t>后端直接读取展示。这实现了计算层与业务层的物理隔离与逻辑打通 。</a:t>
            </a:r>
          </a:p>
          <a:p>
            <a:endParaRPr lang="zh-CN" altLang="en-US" dirty="0"/>
          </a:p>
        </p:txBody>
      </p:sp>
      <p:sp>
        <p:nvSpPr>
          <p:cNvPr id="4" name="灯片编号占位符 3"/>
          <p:cNvSpPr>
            <a:spLocks noGrp="1"/>
          </p:cNvSpPr>
          <p:nvPr>
            <p:ph type="sldNum" sz="quarter" idx="5"/>
          </p:nvPr>
        </p:nvSpPr>
        <p:spPr/>
        <p:txBody>
          <a:bodyPr/>
          <a:lstStyle/>
          <a:p>
            <a:fld id="{893DABDA-89F0-4727-B28F-05A90B0069BB}" type="slidenum">
              <a:rPr lang="zh-CN" altLang="en-US" smtClean="0"/>
              <a:t>14</a:t>
            </a:fld>
            <a:endParaRPr lang="zh-CN" altLang="en-US"/>
          </a:p>
        </p:txBody>
      </p:sp>
    </p:spTree>
    <p:extLst>
      <p:ext uri="{BB962C8B-B14F-4D97-AF65-F5344CB8AC3E}">
        <p14:creationId xmlns:p14="http://schemas.microsoft.com/office/powerpoint/2010/main" val="3064955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除了查阅文献和实证研究外，我将使用</a:t>
            </a:r>
            <a:r>
              <a:rPr lang="en-US" altLang="zh-CN" dirty="0"/>
              <a:t>AUC</a:t>
            </a:r>
            <a:r>
              <a:rPr lang="zh-CN" altLang="en-US" dirty="0"/>
              <a:t>和</a:t>
            </a:r>
            <a:r>
              <a:rPr lang="en-US" altLang="zh-CN" dirty="0" err="1"/>
              <a:t>LogLoss</a:t>
            </a:r>
            <a:r>
              <a:rPr lang="zh-CN" altLang="en-US" dirty="0"/>
              <a:t>等量化指标去评估模型的性能和泛化能力。</a:t>
            </a:r>
          </a:p>
        </p:txBody>
      </p:sp>
      <p:sp>
        <p:nvSpPr>
          <p:cNvPr id="4" name="灯片编号占位符 3"/>
          <p:cNvSpPr>
            <a:spLocks noGrp="1"/>
          </p:cNvSpPr>
          <p:nvPr>
            <p:ph type="sldNum" sz="quarter" idx="5"/>
          </p:nvPr>
        </p:nvSpPr>
        <p:spPr/>
        <p:txBody>
          <a:bodyPr/>
          <a:lstStyle/>
          <a:p>
            <a:fld id="{893DABDA-89F0-4727-B28F-05A90B0069BB}" type="slidenum">
              <a:rPr lang="zh-CN" altLang="en-US" smtClean="0"/>
              <a:t>15</a:t>
            </a:fld>
            <a:endParaRPr lang="zh-CN" altLang="en-US"/>
          </a:p>
        </p:txBody>
      </p:sp>
    </p:spTree>
    <p:extLst>
      <p:ext uri="{BB962C8B-B14F-4D97-AF65-F5344CB8AC3E}">
        <p14:creationId xmlns:p14="http://schemas.microsoft.com/office/powerpoint/2010/main" val="360151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我将分四个主要实现步骤进行，在第一阶段我将对</a:t>
            </a:r>
            <a:r>
              <a:rPr lang="en-US" altLang="zh-CN" dirty="0" err="1"/>
              <a:t>KKBox</a:t>
            </a:r>
            <a:r>
              <a:rPr lang="zh-CN" altLang="en-US" dirty="0"/>
              <a:t>数据集进行预处理，然后在第二阶段进行混合模型的研发和训练；</a:t>
            </a:r>
            <a:endParaRPr lang="en-US" altLang="zh-CN" dirty="0"/>
          </a:p>
          <a:p>
            <a:r>
              <a:rPr lang="zh-CN" altLang="en-US" dirty="0"/>
              <a:t>在第三阶段我将实现前后端的交互逻辑互通，最后是对整个系统进行测试。</a:t>
            </a:r>
          </a:p>
        </p:txBody>
      </p:sp>
      <p:sp>
        <p:nvSpPr>
          <p:cNvPr id="4" name="灯片编号占位符 3"/>
          <p:cNvSpPr>
            <a:spLocks noGrp="1"/>
          </p:cNvSpPr>
          <p:nvPr>
            <p:ph type="sldNum" sz="quarter" idx="5"/>
          </p:nvPr>
        </p:nvSpPr>
        <p:spPr/>
        <p:txBody>
          <a:bodyPr/>
          <a:lstStyle/>
          <a:p>
            <a:fld id="{893DABDA-89F0-4727-B28F-05A90B0069BB}" type="slidenum">
              <a:rPr lang="zh-CN" altLang="en-US" smtClean="0"/>
              <a:t>16</a:t>
            </a:fld>
            <a:endParaRPr lang="zh-CN" altLang="en-US"/>
          </a:p>
        </p:txBody>
      </p:sp>
    </p:spTree>
    <p:extLst>
      <p:ext uri="{BB962C8B-B14F-4D97-AF65-F5344CB8AC3E}">
        <p14:creationId xmlns:p14="http://schemas.microsoft.com/office/powerpoint/2010/main" val="895786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第一是</a:t>
            </a:r>
            <a:r>
              <a:rPr lang="zh-CN" altLang="en-US" b="1" dirty="0"/>
              <a:t>架构创新</a:t>
            </a:r>
            <a:r>
              <a:rPr lang="zh-CN" altLang="en-US" dirty="0"/>
              <a:t>，即轻量级异构协同架构的设计，为中小规模平台提供了低成本的推荐方案 。</a:t>
            </a:r>
            <a:endParaRPr lang="en-US" altLang="zh-CN" dirty="0"/>
          </a:p>
          <a:p>
            <a:r>
              <a:rPr lang="zh-CN" altLang="en-US" dirty="0"/>
              <a:t>第二是策略创新， 为解决冷启动问题提供新的融合策略。</a:t>
            </a:r>
            <a:endParaRPr lang="en-US" altLang="zh-CN" dirty="0"/>
          </a:p>
          <a:p>
            <a:r>
              <a:rPr lang="zh-CN" altLang="en-US" dirty="0"/>
              <a:t>第三是</a:t>
            </a:r>
            <a:r>
              <a:rPr lang="zh-CN" altLang="en-US" b="1" dirty="0"/>
              <a:t>机制创新</a:t>
            </a:r>
            <a:r>
              <a:rPr lang="zh-CN" altLang="en-US" dirty="0"/>
              <a:t>，我引入了</a:t>
            </a:r>
            <a:r>
              <a:rPr lang="zh-CN" altLang="en-US" b="1" dirty="0"/>
              <a:t>实时意图修正机制</a:t>
            </a:r>
            <a:r>
              <a:rPr lang="zh-CN" altLang="en-US" dirty="0"/>
              <a:t>。利用用户的实时搜索关键词作为强反馈信号，构建动态反馈闭环，实现对用户短期兴趣漂移的秒级捕捉 </a:t>
            </a:r>
          </a:p>
        </p:txBody>
      </p:sp>
      <p:sp>
        <p:nvSpPr>
          <p:cNvPr id="4" name="灯片编号占位符 3"/>
          <p:cNvSpPr>
            <a:spLocks noGrp="1"/>
          </p:cNvSpPr>
          <p:nvPr>
            <p:ph type="sldNum" sz="quarter" idx="5"/>
          </p:nvPr>
        </p:nvSpPr>
        <p:spPr/>
        <p:txBody>
          <a:bodyPr/>
          <a:lstStyle/>
          <a:p>
            <a:fld id="{893DABDA-89F0-4727-B28F-05A90B0069BB}" type="slidenum">
              <a:rPr lang="zh-CN" altLang="en-US" smtClean="0"/>
              <a:t>19</a:t>
            </a:fld>
            <a:endParaRPr lang="zh-CN" altLang="en-US"/>
          </a:p>
        </p:txBody>
      </p:sp>
    </p:spTree>
    <p:extLst>
      <p:ext uri="{BB962C8B-B14F-4D97-AF65-F5344CB8AC3E}">
        <p14:creationId xmlns:p14="http://schemas.microsoft.com/office/powerpoint/2010/main" val="3028591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t>目前我已完成选题调研与环境搭建 。 接下来的时间，我将集中精力进行</a:t>
            </a:r>
            <a:r>
              <a:rPr lang="zh-CN" altLang="en-US" b="1" dirty="0">
                <a:solidFill>
                  <a:schemeClr val="tx1"/>
                </a:solidFill>
                <a:latin typeface="Arial" panose="020B0604020202020204" pitchFamily="34" charset="0"/>
                <a:ea typeface="微软雅黑" panose="020B0503020204020204" pitchFamily="34" charset="-122"/>
              </a:rPr>
              <a:t>推荐算法模型设计与训练研究</a:t>
            </a:r>
            <a:endParaRPr dirty="0"/>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a:extLst>
            <a:ext uri="{FF2B5EF4-FFF2-40B4-BE49-F238E27FC236}">
              <a16:creationId xmlns:a16="http://schemas.microsoft.com/office/drawing/2014/main" id="{308C8590-87DC-4BD7-3A6E-3F8B5C3D1415}"/>
            </a:ext>
          </a:extLst>
        </p:cNvPr>
        <p:cNvGrpSpPr/>
        <p:nvPr/>
      </p:nvGrpSpPr>
      <p:grpSpPr>
        <a:xfrm>
          <a:off x="0" y="0"/>
          <a:ext cx="0" cy="0"/>
          <a:chOff x="0" y="0"/>
          <a:chExt cx="0" cy="0"/>
        </a:xfrm>
      </p:grpSpPr>
      <p:sp>
        <p:nvSpPr>
          <p:cNvPr id="469" name="Google Shape;469;p22:notes">
            <a:extLst>
              <a:ext uri="{FF2B5EF4-FFF2-40B4-BE49-F238E27FC236}">
                <a16:creationId xmlns:a16="http://schemas.microsoft.com/office/drawing/2014/main" id="{0B51BFB6-BC6D-6889-FE9F-CBDFB2FD6D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22:notes">
            <a:extLst>
              <a:ext uri="{FF2B5EF4-FFF2-40B4-BE49-F238E27FC236}">
                <a16:creationId xmlns:a16="http://schemas.microsoft.com/office/drawing/2014/main" id="{5F8CBF30-CE7D-E022-71FD-5C6168849B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520072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Q1. </a:t>
            </a:r>
            <a:r>
              <a:rPr lang="zh-CN" altLang="en-US" b="1" dirty="0"/>
              <a:t>关于数据源与冷启动</a:t>
            </a:r>
          </a:p>
          <a:p>
            <a:r>
              <a:rPr lang="zh-CN" altLang="en-US" b="1" dirty="0"/>
              <a:t>导师提问：</a:t>
            </a:r>
            <a:r>
              <a:rPr lang="zh-CN" altLang="en-US" dirty="0"/>
              <a:t> </a:t>
            </a:r>
            <a:r>
              <a:rPr lang="en-US" altLang="zh-CN" dirty="0" err="1"/>
              <a:t>KKBox</a:t>
            </a:r>
            <a:r>
              <a:rPr lang="en-US" altLang="zh-CN" dirty="0"/>
              <a:t> </a:t>
            </a:r>
            <a:r>
              <a:rPr lang="zh-CN" altLang="en-US" dirty="0"/>
              <a:t>数据集怎么和你自己开发的网站用户对应？新用户注册了怎么推荐？</a:t>
            </a:r>
            <a:endParaRPr lang="en-US" altLang="zh-CN" dirty="0"/>
          </a:p>
          <a:p>
            <a:r>
              <a:rPr lang="zh-CN" altLang="en-US" b="1" dirty="0"/>
              <a:t>应答逻辑：</a:t>
            </a:r>
            <a:r>
              <a:rPr lang="zh-CN" altLang="en-US" dirty="0"/>
              <a:t> 承认数据集是离线的，强调“映射策略”和“冷启动方案”。 </a:t>
            </a:r>
            <a:endParaRPr lang="en-US" altLang="zh-CN" dirty="0"/>
          </a:p>
          <a:p>
            <a:r>
              <a:rPr lang="zh-CN" altLang="en-US" b="1" dirty="0"/>
              <a:t>学生回答：</a:t>
            </a:r>
            <a:r>
              <a:rPr lang="zh-CN" altLang="en-US" dirty="0"/>
              <a:t>我的系统采用了‘离线训练</a:t>
            </a:r>
            <a:r>
              <a:rPr lang="en-US" altLang="zh-CN" dirty="0"/>
              <a:t>+</a:t>
            </a:r>
            <a:r>
              <a:rPr lang="zh-CN" altLang="en-US" dirty="0"/>
              <a:t>在线映射’的策略： </a:t>
            </a:r>
            <a:r>
              <a:rPr lang="en-US" altLang="zh-CN" dirty="0"/>
              <a:t>1. </a:t>
            </a:r>
            <a:r>
              <a:rPr lang="zh-CN" altLang="en-US" b="1" dirty="0"/>
              <a:t>对于</a:t>
            </a:r>
            <a:r>
              <a:rPr lang="en-US" altLang="zh-CN" b="1" dirty="0" err="1"/>
              <a:t>KKBox</a:t>
            </a:r>
            <a:r>
              <a:rPr lang="zh-CN" altLang="en-US" b="1" dirty="0"/>
              <a:t>数据：</a:t>
            </a:r>
            <a:r>
              <a:rPr lang="zh-CN" altLang="en-US" dirty="0"/>
              <a:t> 我将其作为‘底层知识库’，训练出一个通用的 </a:t>
            </a:r>
            <a:r>
              <a:rPr lang="en-US" altLang="zh-CN" dirty="0" err="1"/>
              <a:t>DeepFM</a:t>
            </a:r>
            <a:r>
              <a:rPr lang="en-US" altLang="zh-CN" dirty="0"/>
              <a:t> </a:t>
            </a:r>
            <a:r>
              <a:rPr lang="zh-CN" altLang="en-US" dirty="0"/>
              <a:t>模型，这个模型学习的是‘用户特征（如年龄、性别）喜欢什么样的歌曲特征（如流派、风格）’的通用规律 。 </a:t>
            </a:r>
            <a:r>
              <a:rPr lang="en-US" altLang="zh-CN" dirty="0"/>
              <a:t>2. </a:t>
            </a:r>
            <a:r>
              <a:rPr lang="zh-CN" altLang="en-US" b="1" dirty="0"/>
              <a:t>对于新用户（冷启动）：</a:t>
            </a:r>
            <a:r>
              <a:rPr lang="zh-CN" altLang="en-US" dirty="0"/>
              <a:t> 当用户在我开发的网站注册时，我会引导他选择</a:t>
            </a:r>
            <a:r>
              <a:rPr lang="en-US" altLang="zh-CN" dirty="0"/>
              <a:t>3-5</a:t>
            </a:r>
            <a:r>
              <a:rPr lang="zh-CN" altLang="en-US" dirty="0"/>
              <a:t>个感兴趣的标签（歌手或流派之类的）。系统会将这些标签映射为 </a:t>
            </a:r>
            <a:r>
              <a:rPr lang="en-US" altLang="zh-CN" dirty="0" err="1"/>
              <a:t>KKBox</a:t>
            </a:r>
            <a:r>
              <a:rPr lang="en-US" altLang="zh-CN" dirty="0"/>
              <a:t> </a:t>
            </a:r>
            <a:r>
              <a:rPr lang="zh-CN" altLang="en-US" dirty="0"/>
              <a:t>数据空间中的初始 </a:t>
            </a:r>
            <a:r>
              <a:rPr lang="en-US" altLang="zh-CN" dirty="0"/>
              <a:t>Embedding </a:t>
            </a:r>
            <a:r>
              <a:rPr lang="zh-CN" altLang="en-US" dirty="0"/>
              <a:t>向量，从而利用预训练好的模型进行初步推荐。 </a:t>
            </a:r>
            <a:r>
              <a:rPr lang="en-US" altLang="zh-CN" dirty="0"/>
              <a:t>3. </a:t>
            </a:r>
            <a:r>
              <a:rPr lang="zh-CN" altLang="en-US" b="1" dirty="0"/>
              <a:t>后续修正：</a:t>
            </a:r>
            <a:r>
              <a:rPr lang="zh-CN" altLang="en-US" dirty="0"/>
              <a:t> 一旦用户在我的系统中产生了真实的点击或搜索，系统会立即生成该用户的实时行为日志，逐步替换掉初始的模拟特征。”</a:t>
            </a:r>
            <a:endParaRPr lang="en-US" altLang="zh-CN" dirty="0"/>
          </a:p>
          <a:p>
            <a:r>
              <a:rPr lang="en-US" altLang="zh-CN" b="1" dirty="0"/>
              <a:t>Q2. </a:t>
            </a:r>
            <a:r>
              <a:rPr lang="zh-CN" altLang="en-US" b="1" dirty="0"/>
              <a:t>关于“大数据”定义与</a:t>
            </a:r>
            <a:r>
              <a:rPr lang="en-US" altLang="zh-CN" b="1" dirty="0"/>
              <a:t>16GB</a:t>
            </a:r>
            <a:r>
              <a:rPr lang="zh-CN" altLang="en-US" b="1" dirty="0"/>
              <a:t>内存</a:t>
            </a:r>
          </a:p>
          <a:p>
            <a:r>
              <a:rPr lang="zh-CN" altLang="en-US" b="1" dirty="0"/>
              <a:t>导师提问：</a:t>
            </a:r>
            <a:r>
              <a:rPr lang="zh-CN" altLang="en-US" dirty="0"/>
              <a:t> </a:t>
            </a:r>
            <a:r>
              <a:rPr lang="en-US" altLang="zh-CN" dirty="0"/>
              <a:t>16GB</a:t>
            </a:r>
            <a:r>
              <a:rPr lang="zh-CN" altLang="en-US" dirty="0"/>
              <a:t>内存跑</a:t>
            </a:r>
            <a:r>
              <a:rPr lang="en-US" altLang="zh-CN" dirty="0"/>
              <a:t>Spark</a:t>
            </a:r>
            <a:r>
              <a:rPr lang="zh-CN" altLang="en-US" dirty="0"/>
              <a:t>有必要吗？这算大数据吗？</a:t>
            </a:r>
            <a:endParaRPr lang="en-US" altLang="zh-CN" dirty="0"/>
          </a:p>
          <a:p>
            <a:r>
              <a:rPr lang="zh-CN" altLang="en-US" b="1" dirty="0"/>
              <a:t>应答逻辑：</a:t>
            </a:r>
            <a:r>
              <a:rPr lang="zh-CN" altLang="en-US" dirty="0"/>
              <a:t> 强调“架构验证”和“工程优化”，弱化“数据量级”。 </a:t>
            </a:r>
            <a:endParaRPr lang="en-US" altLang="zh-CN" dirty="0"/>
          </a:p>
          <a:p>
            <a:r>
              <a:rPr lang="zh-CN" altLang="en-US" b="1" dirty="0"/>
              <a:t>学生回答：</a:t>
            </a:r>
            <a:r>
              <a:rPr lang="zh-CN" altLang="en-US" dirty="0"/>
              <a:t>确实，单纯从数据量级来看，</a:t>
            </a:r>
            <a:r>
              <a:rPr lang="en-US" altLang="zh-CN" dirty="0"/>
              <a:t>16GB </a:t>
            </a:r>
            <a:r>
              <a:rPr lang="zh-CN" altLang="en-US" dirty="0"/>
              <a:t>内存处理千万级日志是捉襟见肘的。 但我课题的核心在于‘分布式架构的工程验证’。我使用 </a:t>
            </a:r>
            <a:r>
              <a:rPr lang="en-US" altLang="zh-CN" dirty="0"/>
              <a:t>Spark </a:t>
            </a:r>
            <a:r>
              <a:rPr lang="zh-CN" altLang="en-US" dirty="0"/>
              <a:t>不是为了解决这一台电脑算不过来的问题，而是为了验证一套能横向扩展的 </a:t>
            </a:r>
            <a:r>
              <a:rPr lang="en-US" altLang="zh-CN" b="1" dirty="0"/>
              <a:t>ETL </a:t>
            </a:r>
            <a:r>
              <a:rPr lang="zh-CN" altLang="en-US" b="1" dirty="0"/>
              <a:t>流水线模式</a:t>
            </a:r>
            <a:r>
              <a:rPr lang="zh-CN" altLang="en-US" dirty="0"/>
              <a:t>。 此外，正因为硬件受限，我才在课题中加入了针对性的内存优化策略（如数据下采样、特征分片计算），这也构成了我研究中工程实现的一部分难点和创新点。”</a:t>
            </a:r>
            <a:endParaRPr lang="en-US" altLang="zh-CN" dirty="0"/>
          </a:p>
          <a:p>
            <a:r>
              <a:rPr lang="en-US" altLang="zh-CN" b="1" dirty="0"/>
              <a:t>Q3. </a:t>
            </a:r>
            <a:r>
              <a:rPr lang="zh-CN" altLang="en-US" b="1" dirty="0"/>
              <a:t>关于实时性与</a:t>
            </a:r>
            <a:r>
              <a:rPr lang="en-US" altLang="zh-CN" b="1" dirty="0"/>
              <a:t>JDBC</a:t>
            </a:r>
            <a:r>
              <a:rPr lang="zh-CN" altLang="en-US" b="1" dirty="0"/>
              <a:t>通信</a:t>
            </a:r>
          </a:p>
          <a:p>
            <a:r>
              <a:rPr lang="zh-CN" altLang="en-US" b="1" dirty="0"/>
              <a:t>导师提问：</a:t>
            </a:r>
            <a:r>
              <a:rPr lang="zh-CN" altLang="en-US" dirty="0"/>
              <a:t> 为什么要用 </a:t>
            </a:r>
            <a:r>
              <a:rPr lang="en-US" altLang="zh-CN" dirty="0"/>
              <a:t>JDBC </a:t>
            </a:r>
            <a:r>
              <a:rPr lang="zh-CN" altLang="en-US" dirty="0"/>
              <a:t>轮询这种低效方式？怎么保证秒级实时？ </a:t>
            </a:r>
            <a:endParaRPr lang="en-US" altLang="zh-CN" dirty="0"/>
          </a:p>
          <a:p>
            <a:r>
              <a:rPr lang="zh-CN" altLang="en-US" b="1" dirty="0"/>
              <a:t>应答逻辑：</a:t>
            </a:r>
            <a:r>
              <a:rPr lang="zh-CN" altLang="en-US" dirty="0"/>
              <a:t> 强调“轻量级解耦”和“分层实时”。 </a:t>
            </a:r>
            <a:endParaRPr lang="en-US" altLang="zh-CN" dirty="0"/>
          </a:p>
          <a:p>
            <a:r>
              <a:rPr lang="zh-CN" altLang="en-US" b="1" dirty="0"/>
              <a:t>学生回答：</a:t>
            </a:r>
            <a:r>
              <a:rPr lang="zh-CN" altLang="en-US" dirty="0"/>
              <a:t>“选择 </a:t>
            </a:r>
            <a:r>
              <a:rPr lang="en-US" altLang="zh-CN" dirty="0"/>
              <a:t>JDBC </a:t>
            </a:r>
            <a:r>
              <a:rPr lang="zh-CN" altLang="en-US" dirty="0"/>
              <a:t>主要是基于</a:t>
            </a:r>
            <a:r>
              <a:rPr lang="zh-CN" altLang="en-US" b="1" dirty="0"/>
              <a:t>系统的稳定性</a:t>
            </a:r>
            <a:r>
              <a:rPr lang="zh-CN" altLang="en-US" dirty="0"/>
              <a:t>和</a:t>
            </a:r>
            <a:r>
              <a:rPr lang="zh-CN" altLang="en-US" b="1" dirty="0"/>
              <a:t>开发成本</a:t>
            </a:r>
            <a:r>
              <a:rPr lang="zh-CN" altLang="en-US" dirty="0"/>
              <a:t>考虑。作为一个单人完成的全栈项目，</a:t>
            </a:r>
            <a:r>
              <a:rPr lang="en-US" altLang="zh-CN" dirty="0"/>
              <a:t>JDBC </a:t>
            </a:r>
            <a:r>
              <a:rPr lang="zh-CN" altLang="en-US" dirty="0"/>
              <a:t>能最稳定地实现 </a:t>
            </a:r>
            <a:r>
              <a:rPr lang="en-US" altLang="zh-CN" dirty="0"/>
              <a:t>Java </a:t>
            </a:r>
            <a:r>
              <a:rPr lang="zh-CN" altLang="en-US" dirty="0"/>
              <a:t>业务层与 </a:t>
            </a:r>
            <a:r>
              <a:rPr lang="en-US" altLang="zh-CN" dirty="0"/>
              <a:t>Python </a:t>
            </a:r>
            <a:r>
              <a:rPr lang="zh-CN" altLang="en-US" dirty="0"/>
              <a:t>算法层的物理隔离与解耦 。 关于实时性，我将其分为两层：一是</a:t>
            </a:r>
            <a:r>
              <a:rPr lang="zh-CN" altLang="en-US" b="1" dirty="0"/>
              <a:t>推荐列表更新：</a:t>
            </a:r>
            <a:r>
              <a:rPr lang="zh-CN" altLang="en-US" dirty="0"/>
              <a:t> 确实依赖数据库回写，会有一定延迟，主要用于‘推荐歌曲’等非强实时场景。 二是</a:t>
            </a:r>
            <a:r>
              <a:rPr lang="zh-CN" altLang="en-US" b="1" dirty="0"/>
              <a:t>即时反馈：</a:t>
            </a:r>
            <a:r>
              <a:rPr lang="zh-CN" altLang="en-US" dirty="0"/>
              <a:t> 针对用户的</a:t>
            </a:r>
            <a:r>
              <a:rPr lang="zh-CN" altLang="en-US" b="1" dirty="0"/>
              <a:t>搜索行为</a:t>
            </a:r>
            <a:r>
              <a:rPr lang="zh-CN" altLang="en-US" dirty="0"/>
              <a:t>，我采用了轻量级的规则加权。当用户搜索关键词时，系统会直接在前端渲染层结合 </a:t>
            </a:r>
            <a:r>
              <a:rPr lang="en-US" altLang="zh-CN" dirty="0" err="1"/>
              <a:t>DeepFM</a:t>
            </a:r>
            <a:r>
              <a:rPr lang="en-US" altLang="zh-CN" dirty="0"/>
              <a:t> </a:t>
            </a:r>
            <a:r>
              <a:rPr lang="zh-CN" altLang="en-US" dirty="0"/>
              <a:t>的排序权重进行重排，这部分是不经过数据库轮询的，从而实现用户感知的‘秒级’响应 。”</a:t>
            </a:r>
            <a:endParaRPr lang="en-US" altLang="zh-CN" dirty="0"/>
          </a:p>
          <a:p>
            <a:r>
              <a:rPr lang="en-US" altLang="zh-CN" b="1" dirty="0"/>
              <a:t>Q4. </a:t>
            </a:r>
            <a:r>
              <a:rPr lang="zh-CN" altLang="en-US" b="1" dirty="0"/>
              <a:t>关于 </a:t>
            </a:r>
            <a:r>
              <a:rPr lang="en-US" altLang="zh-CN" b="1" dirty="0" err="1"/>
              <a:t>DeepFM</a:t>
            </a:r>
            <a:r>
              <a:rPr lang="en-US" altLang="zh-CN" b="1" dirty="0"/>
              <a:t> </a:t>
            </a:r>
            <a:r>
              <a:rPr lang="zh-CN" altLang="en-US" b="1" dirty="0"/>
              <a:t>与 </a:t>
            </a:r>
            <a:r>
              <a:rPr lang="en-US" altLang="zh-CN" b="1" dirty="0"/>
              <a:t>ALS </a:t>
            </a:r>
            <a:r>
              <a:rPr lang="zh-CN" altLang="en-US" b="1" dirty="0"/>
              <a:t>的优势对比</a:t>
            </a:r>
          </a:p>
          <a:p>
            <a:r>
              <a:rPr lang="zh-CN" altLang="en-US" b="1" dirty="0"/>
              <a:t>导师提问：</a:t>
            </a:r>
            <a:r>
              <a:rPr lang="zh-CN" altLang="en-US" dirty="0"/>
              <a:t> </a:t>
            </a:r>
            <a:r>
              <a:rPr lang="en-US" altLang="zh-CN" dirty="0" err="1"/>
              <a:t>DeepFM</a:t>
            </a:r>
            <a:r>
              <a:rPr lang="en-US" altLang="zh-CN" dirty="0"/>
              <a:t> </a:t>
            </a:r>
            <a:r>
              <a:rPr lang="zh-CN" altLang="en-US" dirty="0"/>
              <a:t>相比 </a:t>
            </a:r>
            <a:r>
              <a:rPr lang="en-US" altLang="zh-CN" dirty="0"/>
              <a:t>ALS </a:t>
            </a:r>
            <a:r>
              <a:rPr lang="zh-CN" altLang="en-US" dirty="0"/>
              <a:t>好在哪里？融合了什么特征？ </a:t>
            </a:r>
            <a:endParaRPr lang="en-US" altLang="zh-CN" dirty="0"/>
          </a:p>
          <a:p>
            <a:r>
              <a:rPr lang="zh-CN" altLang="en-US" b="1" dirty="0"/>
              <a:t>应答逻辑：</a:t>
            </a:r>
            <a:r>
              <a:rPr lang="zh-CN" altLang="en-US" dirty="0"/>
              <a:t> 区分“召回”与“排序”，强调“特征交叉”。 </a:t>
            </a:r>
            <a:endParaRPr lang="en-US" altLang="zh-CN" dirty="0"/>
          </a:p>
          <a:p>
            <a:r>
              <a:rPr lang="zh-CN" altLang="en-US" b="1" dirty="0"/>
              <a:t>学生回答：</a:t>
            </a:r>
            <a:r>
              <a:rPr lang="zh-CN" altLang="en-US" dirty="0"/>
              <a:t>“在本系统中，</a:t>
            </a:r>
            <a:r>
              <a:rPr lang="en-US" altLang="zh-CN" dirty="0"/>
              <a:t>ALS </a:t>
            </a:r>
            <a:r>
              <a:rPr lang="zh-CN" altLang="en-US" dirty="0"/>
              <a:t>和 </a:t>
            </a:r>
            <a:r>
              <a:rPr lang="en-US" altLang="zh-CN" dirty="0" err="1"/>
              <a:t>DeepFM</a:t>
            </a:r>
            <a:r>
              <a:rPr lang="en-US" altLang="zh-CN" dirty="0"/>
              <a:t> </a:t>
            </a:r>
            <a:r>
              <a:rPr lang="zh-CN" altLang="en-US" dirty="0"/>
              <a:t>其实是</a:t>
            </a:r>
            <a:r>
              <a:rPr lang="zh-CN" altLang="en-US" b="1" dirty="0"/>
              <a:t>互补</a:t>
            </a:r>
            <a:r>
              <a:rPr lang="zh-CN" altLang="en-US" dirty="0"/>
              <a:t>关系，而不是单纯的竞争。 </a:t>
            </a:r>
            <a:r>
              <a:rPr lang="en-US" altLang="zh-CN" dirty="0"/>
              <a:t>1. </a:t>
            </a:r>
            <a:r>
              <a:rPr lang="en-US" altLang="zh-CN" b="1" dirty="0"/>
              <a:t>ALS (</a:t>
            </a:r>
            <a:r>
              <a:rPr lang="zh-CN" altLang="en-US" b="1" dirty="0"/>
              <a:t>协同过滤</a:t>
            </a:r>
            <a:r>
              <a:rPr lang="en-US" altLang="zh-CN" b="1" dirty="0"/>
              <a:t>)</a:t>
            </a:r>
            <a:r>
              <a:rPr lang="zh-CN" altLang="en-US" dirty="0"/>
              <a:t> 主要用于</a:t>
            </a:r>
            <a:r>
              <a:rPr lang="zh-CN" altLang="en-US" b="1" dirty="0"/>
              <a:t>召回阶段</a:t>
            </a:r>
            <a:r>
              <a:rPr lang="zh-CN" altLang="en-US" dirty="0"/>
              <a:t> ，它的优势是计算快，能基于历史行为快速筛选出候选集，但它难以利用用户画像等外部特征，它将用于粗排阶段。 </a:t>
            </a:r>
            <a:r>
              <a:rPr lang="en-US" altLang="zh-CN" dirty="0"/>
              <a:t>2. </a:t>
            </a:r>
            <a:r>
              <a:rPr lang="en-US" altLang="zh-CN" b="1" dirty="0" err="1"/>
              <a:t>DeepFM</a:t>
            </a:r>
            <a:r>
              <a:rPr lang="zh-CN" altLang="en-US" dirty="0"/>
              <a:t> 用于</a:t>
            </a:r>
            <a:r>
              <a:rPr lang="zh-CN" altLang="en-US" b="1" dirty="0"/>
              <a:t>精排阶段</a:t>
            </a:r>
            <a:r>
              <a:rPr lang="zh-CN" altLang="en-US" dirty="0"/>
              <a:t>。它的核心优势在于能自动进行</a:t>
            </a:r>
            <a:r>
              <a:rPr lang="zh-CN" altLang="en-US" b="1" dirty="0"/>
              <a:t>特征交叉</a:t>
            </a:r>
            <a:r>
              <a:rPr lang="zh-CN" altLang="en-US" dirty="0"/>
              <a:t>。比如，</a:t>
            </a:r>
            <a:r>
              <a:rPr lang="en-US" altLang="zh-CN" dirty="0"/>
              <a:t>ALS </a:t>
            </a:r>
            <a:r>
              <a:rPr lang="zh-CN" altLang="en-US" dirty="0"/>
              <a:t>只能知道‘这人听过周杰伦’，但 </a:t>
            </a:r>
            <a:r>
              <a:rPr lang="en-US" altLang="zh-CN" dirty="0" err="1"/>
              <a:t>DeepFM</a:t>
            </a:r>
            <a:r>
              <a:rPr lang="en-US" altLang="zh-CN" dirty="0"/>
              <a:t> </a:t>
            </a:r>
            <a:r>
              <a:rPr lang="zh-CN" altLang="en-US" dirty="0"/>
              <a:t>能学习到用户在‘深夜</a:t>
            </a:r>
            <a:r>
              <a:rPr lang="en-US" altLang="zh-CN" dirty="0"/>
              <a:t>(</a:t>
            </a:r>
            <a:r>
              <a:rPr lang="zh-CN" altLang="en-US" dirty="0"/>
              <a:t>时间特征</a:t>
            </a:r>
            <a:r>
              <a:rPr lang="en-US" altLang="zh-CN" dirty="0"/>
              <a:t>) + </a:t>
            </a:r>
            <a:r>
              <a:rPr lang="zh-CN" altLang="en-US" dirty="0"/>
              <a:t>男性</a:t>
            </a:r>
            <a:r>
              <a:rPr lang="en-US" altLang="zh-CN" dirty="0"/>
              <a:t>(</a:t>
            </a:r>
            <a:r>
              <a:rPr lang="zh-CN" altLang="en-US" dirty="0"/>
              <a:t>用户特征</a:t>
            </a:r>
            <a:r>
              <a:rPr lang="en-US" altLang="zh-CN" dirty="0"/>
              <a:t>) + </a:t>
            </a:r>
            <a:r>
              <a:rPr lang="zh-CN" altLang="en-US" dirty="0"/>
              <a:t>伤感</a:t>
            </a:r>
            <a:r>
              <a:rPr lang="en-US" altLang="zh-CN" dirty="0"/>
              <a:t>(</a:t>
            </a:r>
            <a:r>
              <a:rPr lang="zh-CN" altLang="en-US" dirty="0"/>
              <a:t>歌曲标签</a:t>
            </a:r>
            <a:r>
              <a:rPr lang="en-US" altLang="zh-CN" dirty="0"/>
              <a:t>)’</a:t>
            </a:r>
            <a:r>
              <a:rPr lang="zh-CN" altLang="en-US" dirty="0"/>
              <a:t>这种高阶组合规律，从而显著提升推荐的精准度 。”</a:t>
            </a:r>
          </a:p>
          <a:p>
            <a:r>
              <a:rPr lang="en-US" altLang="zh-CN" b="1" dirty="0"/>
              <a:t>Q5. </a:t>
            </a:r>
            <a:r>
              <a:rPr lang="zh-CN" altLang="en-US" b="1" dirty="0"/>
              <a:t>关于动态画像与实时修正</a:t>
            </a:r>
          </a:p>
          <a:p>
            <a:r>
              <a:rPr lang="zh-CN" altLang="en-US" b="1" dirty="0"/>
              <a:t>导师提问：</a:t>
            </a:r>
            <a:r>
              <a:rPr lang="zh-CN" altLang="en-US" dirty="0"/>
              <a:t> 兴趣漂移修正机制是规则引擎还是在线学习？ </a:t>
            </a:r>
            <a:endParaRPr lang="en-US" altLang="zh-CN" dirty="0"/>
          </a:p>
          <a:p>
            <a:r>
              <a:rPr lang="zh-CN" altLang="en-US" b="1" dirty="0"/>
              <a:t>应答逻辑：</a:t>
            </a:r>
            <a:r>
              <a:rPr lang="zh-CN" altLang="en-US" dirty="0"/>
              <a:t> 实话实说，是“特征更新”而非“模型重训”。 </a:t>
            </a:r>
            <a:endParaRPr lang="en-US" altLang="zh-CN" dirty="0"/>
          </a:p>
          <a:p>
            <a:r>
              <a:rPr lang="zh-CN" altLang="en-US" b="1" dirty="0"/>
              <a:t>学生回答：</a:t>
            </a:r>
            <a:r>
              <a:rPr lang="zh-CN" altLang="en-US" dirty="0"/>
              <a:t>“这部分机制并非全量的模型在线重训（</a:t>
            </a:r>
            <a:r>
              <a:rPr lang="en-US" altLang="zh-CN" dirty="0"/>
              <a:t>Online Learning</a:t>
            </a:r>
            <a:r>
              <a:rPr lang="zh-CN" altLang="en-US" dirty="0"/>
              <a:t>），因为那对算力要求太高。 我实现的是‘基于特征的实时推断’</a:t>
            </a:r>
            <a:r>
              <a:rPr lang="zh-CN" altLang="en-US" b="1" dirty="0"/>
              <a:t>。模型权重是离线训练固定的，但输入的</a:t>
            </a:r>
            <a:r>
              <a:rPr lang="zh-CN" altLang="en-US" dirty="0"/>
              <a:t>用户特征向量（</a:t>
            </a:r>
            <a:r>
              <a:rPr lang="en-US" altLang="zh-CN" dirty="0"/>
              <a:t>User </a:t>
            </a:r>
            <a:r>
              <a:rPr lang="en-US" altLang="zh-CN"/>
              <a:t>Embedding</a:t>
            </a:r>
            <a:r>
              <a:rPr lang="zh-CN" altLang="en-US"/>
              <a:t>）** </a:t>
            </a:r>
            <a:r>
              <a:rPr lang="zh-CN" altLang="en-US" dirty="0"/>
              <a:t>是动态变化的。 当用户进行搜索或收藏时，我会实时更新输入到 </a:t>
            </a:r>
            <a:r>
              <a:rPr lang="en-US" altLang="zh-CN" dirty="0" err="1"/>
              <a:t>DeepFM</a:t>
            </a:r>
            <a:r>
              <a:rPr lang="en-US" altLang="zh-CN" dirty="0"/>
              <a:t> </a:t>
            </a:r>
            <a:r>
              <a:rPr lang="zh-CN" altLang="en-US" dirty="0"/>
              <a:t>中的‘短期兴趣特征向量’ ，从而让模型输出的排序结果发生变化。这既避免了实时训练的高成本，又捕捉到了用户的即时意图。”</a:t>
            </a:r>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93DABDA-89F0-4727-B28F-05A90B0069BB}" type="slidenum">
              <a:rPr lang="zh-CN" altLang="en-US" smtClean="0"/>
              <a:t>26</a:t>
            </a:fld>
            <a:endParaRPr lang="zh-CN" altLang="en-US"/>
          </a:p>
        </p:txBody>
      </p:sp>
    </p:spTree>
    <p:extLst>
      <p:ext uri="{BB962C8B-B14F-4D97-AF65-F5344CB8AC3E}">
        <p14:creationId xmlns:p14="http://schemas.microsoft.com/office/powerpoint/2010/main" val="8625812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34000">
              <a:schemeClr val="accent1"/>
            </a:gs>
            <a:gs pos="100000">
              <a:schemeClr val="accent1">
                <a:lumMod val="60000"/>
                <a:lumOff val="40000"/>
              </a:schemeClr>
            </a:gs>
          </a:gsLst>
          <a:lin ang="10800000" scaled="0"/>
          <a:tileRect/>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8101CC3-0D4F-976C-701D-AA35F0B99D7F}"/>
              </a:ext>
            </a:extLst>
          </p:cNvPr>
          <p:cNvGrpSpPr/>
          <p:nvPr/>
        </p:nvGrpSpPr>
        <p:grpSpPr>
          <a:xfrm>
            <a:off x="-6348" y="0"/>
            <a:ext cx="12198348" cy="6858001"/>
            <a:chOff x="-6348" y="0"/>
            <a:chExt cx="12198348" cy="6858001"/>
          </a:xfrm>
        </p:grpSpPr>
        <p:sp>
          <p:nvSpPr>
            <p:cNvPr id="25" name="Freeform: Shape 24">
              <a:extLst>
                <a:ext uri="{FF2B5EF4-FFF2-40B4-BE49-F238E27FC236}">
                  <a16:creationId xmlns:a16="http://schemas.microsoft.com/office/drawing/2014/main" id="{F78137E6-F0FE-1B6D-F401-8FAED33BABFB}"/>
                </a:ext>
              </a:extLst>
            </p:cNvPr>
            <p:cNvSpPr/>
            <p:nvPr/>
          </p:nvSpPr>
          <p:spPr>
            <a:xfrm>
              <a:off x="0" y="361954"/>
              <a:ext cx="6546928" cy="6496047"/>
            </a:xfrm>
            <a:custGeom>
              <a:avLst/>
              <a:gdLst>
                <a:gd name="connsiteX0" fmla="*/ 3358310 w 6546928"/>
                <a:gd name="connsiteY0" fmla="*/ 1034 h 6496047"/>
                <a:gd name="connsiteX1" fmla="*/ 3564821 w 6546928"/>
                <a:gd name="connsiteY1" fmla="*/ 2568 h 6496047"/>
                <a:gd name="connsiteX2" fmla="*/ 5030454 w 6546928"/>
                <a:gd name="connsiteY2" fmla="*/ 440425 h 6496047"/>
                <a:gd name="connsiteX3" fmla="*/ 6106504 w 6546928"/>
                <a:gd name="connsiteY3" fmla="*/ 4706284 h 6496047"/>
                <a:gd name="connsiteX4" fmla="*/ 5037785 w 6546928"/>
                <a:gd name="connsiteY4" fmla="*/ 6496047 h 6496047"/>
                <a:gd name="connsiteX5" fmla="*/ 0 w 6546928"/>
                <a:gd name="connsiteY5" fmla="*/ 6496047 h 6496047"/>
                <a:gd name="connsiteX6" fmla="*/ 0 w 6546928"/>
                <a:gd name="connsiteY6" fmla="*/ 2796923 h 6496047"/>
                <a:gd name="connsiteX7" fmla="*/ 764593 w 6546928"/>
                <a:gd name="connsiteY7" fmla="*/ 1516475 h 6496047"/>
                <a:gd name="connsiteX8" fmla="*/ 3358310 w 6546928"/>
                <a:gd name="connsiteY8" fmla="*/ 1034 h 649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6928" h="6496047">
                  <a:moveTo>
                    <a:pt x="3358310" y="1034"/>
                  </a:moveTo>
                  <a:cubicBezTo>
                    <a:pt x="3427028" y="-738"/>
                    <a:pt x="3495903" y="-236"/>
                    <a:pt x="3564821" y="2568"/>
                  </a:cubicBezTo>
                  <a:cubicBezTo>
                    <a:pt x="4066042" y="22966"/>
                    <a:pt x="4569476" y="165162"/>
                    <a:pt x="5030454" y="440425"/>
                  </a:cubicBezTo>
                  <a:cubicBezTo>
                    <a:pt x="6505581" y="1321266"/>
                    <a:pt x="6987345" y="3231157"/>
                    <a:pt x="6106504" y="4706284"/>
                  </a:cubicBezTo>
                  <a:lnTo>
                    <a:pt x="5037785" y="6496047"/>
                  </a:lnTo>
                  <a:lnTo>
                    <a:pt x="0" y="6496047"/>
                  </a:lnTo>
                  <a:lnTo>
                    <a:pt x="0" y="2796923"/>
                  </a:lnTo>
                  <a:lnTo>
                    <a:pt x="764593" y="1516475"/>
                  </a:lnTo>
                  <a:cubicBezTo>
                    <a:pt x="1332323" y="565709"/>
                    <a:pt x="2327541" y="27607"/>
                    <a:pt x="3358310" y="1034"/>
                  </a:cubicBezTo>
                  <a:close/>
                </a:path>
              </a:pathLst>
            </a:custGeom>
            <a:gradFill flip="none" rotWithShape="1">
              <a:gsLst>
                <a:gs pos="0">
                  <a:schemeClr val="accent1"/>
                </a:gs>
                <a:gs pos="100000">
                  <a:schemeClr val="accent1">
                    <a:alpha val="0"/>
                  </a:schemeClr>
                </a:gs>
              </a:gsLst>
              <a:lin ang="27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latin typeface="Arial" panose="020B0604020202020204" pitchFamily="34" charset="0"/>
                <a:ea typeface="微软雅黑" panose="020B0503020204020204" pitchFamily="34" charset="-122"/>
              </a:endParaRPr>
            </a:p>
          </p:txBody>
        </p:sp>
        <p:sp>
          <p:nvSpPr>
            <p:cNvPr id="20" name="Freeform: Shape 19">
              <a:extLst>
                <a:ext uri="{FF2B5EF4-FFF2-40B4-BE49-F238E27FC236}">
                  <a16:creationId xmlns:a16="http://schemas.microsoft.com/office/drawing/2014/main" id="{C99E273E-471B-DB46-6E86-02467F6181BA}"/>
                </a:ext>
              </a:extLst>
            </p:cNvPr>
            <p:cNvSpPr/>
            <p:nvPr/>
          </p:nvSpPr>
          <p:spPr>
            <a:xfrm flipH="1">
              <a:off x="10899919" y="0"/>
              <a:ext cx="1292081" cy="3321508"/>
            </a:xfrm>
            <a:custGeom>
              <a:avLst/>
              <a:gdLst>
                <a:gd name="connsiteX0" fmla="*/ 2256 w 1292081"/>
                <a:gd name="connsiteY0" fmla="*/ 0 h 3321508"/>
                <a:gd name="connsiteX1" fmla="*/ 0 w 1292081"/>
                <a:gd name="connsiteY1" fmla="*/ 0 h 3321508"/>
                <a:gd name="connsiteX2" fmla="*/ 0 w 1292081"/>
                <a:gd name="connsiteY2" fmla="*/ 3196522 h 3321508"/>
                <a:gd name="connsiteX3" fmla="*/ 61952 w 1292081"/>
                <a:gd name="connsiteY3" fmla="*/ 3234571 h 3321508"/>
                <a:gd name="connsiteX4" fmla="*/ 864027 w 1292081"/>
                <a:gd name="connsiteY4" fmla="*/ 3207246 h 3321508"/>
                <a:gd name="connsiteX5" fmla="*/ 1177816 w 1292081"/>
                <a:gd name="connsiteY5" fmla="*/ 2040178 h 332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2081" h="3321508">
                  <a:moveTo>
                    <a:pt x="2256" y="0"/>
                  </a:moveTo>
                  <a:lnTo>
                    <a:pt x="0" y="0"/>
                  </a:lnTo>
                  <a:lnTo>
                    <a:pt x="0" y="3196522"/>
                  </a:lnTo>
                  <a:lnTo>
                    <a:pt x="61952" y="3234571"/>
                  </a:lnTo>
                  <a:cubicBezTo>
                    <a:pt x="308499" y="3354857"/>
                    <a:pt x="608448" y="3354511"/>
                    <a:pt x="864027" y="3207246"/>
                  </a:cubicBezTo>
                  <a:cubicBezTo>
                    <a:pt x="1272954" y="2971617"/>
                    <a:pt x="1413444" y="2449103"/>
                    <a:pt x="1177816" y="2040178"/>
                  </a:cubicBezTo>
                  <a:close/>
                </a:path>
              </a:pathLst>
            </a:custGeom>
            <a:gradFill>
              <a:gsLst>
                <a:gs pos="0">
                  <a:schemeClr val="accent1">
                    <a:lumMod val="60000"/>
                    <a:lumOff val="40000"/>
                    <a:alpha val="0"/>
                  </a:schemeClr>
                </a:gs>
                <a:gs pos="100000">
                  <a:schemeClr val="accent1">
                    <a:lumMod val="60000"/>
                    <a:lumOff val="40000"/>
                    <a:alpha val="5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4">
              <a:extLst>
                <a:ext uri="{FF2B5EF4-FFF2-40B4-BE49-F238E27FC236}">
                  <a16:creationId xmlns:a16="http://schemas.microsoft.com/office/drawing/2014/main" id="{B426902E-DB77-9A2F-1ABD-50AC79212BA8}"/>
                </a:ext>
              </a:extLst>
            </p:cNvPr>
            <p:cNvSpPr/>
            <p:nvPr/>
          </p:nvSpPr>
          <p:spPr>
            <a:xfrm>
              <a:off x="-6348" y="734852"/>
              <a:ext cx="6409743" cy="6123146"/>
            </a:xfrm>
            <a:custGeom>
              <a:avLst/>
              <a:gdLst>
                <a:gd name="connsiteX0" fmla="*/ 3647426 w 6409743"/>
                <a:gd name="connsiteY0" fmla="*/ 2380 h 6123146"/>
                <a:gd name="connsiteX1" fmla="*/ 5005037 w 6409743"/>
                <a:gd name="connsiteY1" fmla="*/ 407965 h 6123146"/>
                <a:gd name="connsiteX2" fmla="*/ 6001779 w 6409743"/>
                <a:gd name="connsiteY2" fmla="*/ 4359418 h 6123146"/>
                <a:gd name="connsiteX3" fmla="*/ 4948606 w 6409743"/>
                <a:gd name="connsiteY3" fmla="*/ 6123146 h 6123146"/>
                <a:gd name="connsiteX4" fmla="*/ 0 w 6409743"/>
                <a:gd name="connsiteY4" fmla="*/ 6123146 h 6123146"/>
                <a:gd name="connsiteX5" fmla="*/ 0 w 6409743"/>
                <a:gd name="connsiteY5" fmla="*/ 3169122 h 6123146"/>
                <a:gd name="connsiteX6" fmla="*/ 1053583 w 6409743"/>
                <a:gd name="connsiteY6" fmla="*/ 1404707 h 6123146"/>
                <a:gd name="connsiteX7" fmla="*/ 3647426 w 6409743"/>
                <a:gd name="connsiteY7" fmla="*/ 2380 h 61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9743" h="6123146">
                  <a:moveTo>
                    <a:pt x="3647426" y="2380"/>
                  </a:moveTo>
                  <a:cubicBezTo>
                    <a:pt x="4111705" y="21274"/>
                    <a:pt x="4578035" y="152990"/>
                    <a:pt x="5005037" y="407965"/>
                  </a:cubicBezTo>
                  <a:cubicBezTo>
                    <a:pt x="6371443" y="1223886"/>
                    <a:pt x="6817700" y="2993012"/>
                    <a:pt x="6001779" y="4359418"/>
                  </a:cubicBezTo>
                  <a:lnTo>
                    <a:pt x="4948606" y="6123146"/>
                  </a:lnTo>
                  <a:lnTo>
                    <a:pt x="0" y="6123146"/>
                  </a:lnTo>
                  <a:lnTo>
                    <a:pt x="0" y="3169122"/>
                  </a:lnTo>
                  <a:lnTo>
                    <a:pt x="1053583" y="1404707"/>
                  </a:lnTo>
                  <a:cubicBezTo>
                    <a:pt x="1614529" y="465303"/>
                    <a:pt x="2626013" y="-39187"/>
                    <a:pt x="3647426" y="2380"/>
                  </a:cubicBezTo>
                  <a:close/>
                </a:path>
              </a:pathLst>
            </a:custGeom>
            <a:blipFill rotWithShape="0">
              <a:blip r:embed="rId2"/>
              <a:srcRect/>
              <a:stretch>
                <a:fillRect l="-7760" r="-62700"/>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p>
          </p:txBody>
        </p:sp>
        <p:sp>
          <p:nvSpPr>
            <p:cNvPr id="8" name="Freeform: Shape 7">
              <a:extLst>
                <a:ext uri="{FF2B5EF4-FFF2-40B4-BE49-F238E27FC236}">
                  <a16:creationId xmlns:a16="http://schemas.microsoft.com/office/drawing/2014/main" id="{594DB486-DFA9-129E-625C-9956A92B550F}"/>
                </a:ext>
              </a:extLst>
            </p:cNvPr>
            <p:cNvSpPr/>
            <p:nvPr/>
          </p:nvSpPr>
          <p:spPr>
            <a:xfrm flipV="1">
              <a:off x="4474671" y="4940986"/>
              <a:ext cx="1821961" cy="1917014"/>
            </a:xfrm>
            <a:custGeom>
              <a:avLst/>
              <a:gdLst>
                <a:gd name="connsiteX0" fmla="*/ 0 w 1821961"/>
                <a:gd name="connsiteY0" fmla="*/ 0 h 1917014"/>
                <a:gd name="connsiteX1" fmla="*/ 1049351 w 1821961"/>
                <a:gd name="connsiteY1" fmla="*/ 0 h 1917014"/>
                <a:gd name="connsiteX2" fmla="*/ 1761174 w 1821961"/>
                <a:gd name="connsiteY2" fmla="*/ 1235365 h 1917014"/>
                <a:gd name="connsiteX3" fmla="*/ 1594243 w 1821961"/>
                <a:gd name="connsiteY3" fmla="*/ 1856228 h 1917014"/>
                <a:gd name="connsiteX4" fmla="*/ 973380 w 1821961"/>
                <a:gd name="connsiteY4" fmla="*/ 1689296 h 1917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1961" h="1917014">
                  <a:moveTo>
                    <a:pt x="0" y="0"/>
                  </a:moveTo>
                  <a:lnTo>
                    <a:pt x="1049351" y="0"/>
                  </a:lnTo>
                  <a:lnTo>
                    <a:pt x="1761174" y="1235365"/>
                  </a:lnTo>
                  <a:cubicBezTo>
                    <a:pt x="1886525" y="1452907"/>
                    <a:pt x="1811786" y="1730877"/>
                    <a:pt x="1594243" y="1856228"/>
                  </a:cubicBezTo>
                  <a:cubicBezTo>
                    <a:pt x="1376700" y="1981577"/>
                    <a:pt x="1098731" y="1906838"/>
                    <a:pt x="973380" y="1689296"/>
                  </a:cubicBezTo>
                  <a:close/>
                </a:path>
              </a:pathLst>
            </a:custGeom>
            <a:gradFill>
              <a:gsLst>
                <a:gs pos="0">
                  <a:schemeClr val="accent1">
                    <a:lumMod val="60000"/>
                    <a:lumOff val="40000"/>
                  </a:schemeClr>
                </a:gs>
                <a:gs pos="100000">
                  <a:schemeClr val="accent1">
                    <a:lumMod val="60000"/>
                    <a:lumOff val="40000"/>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Freeform: Shape 21">
              <a:extLst>
                <a:ext uri="{FF2B5EF4-FFF2-40B4-BE49-F238E27FC236}">
                  <a16:creationId xmlns:a16="http://schemas.microsoft.com/office/drawing/2014/main" id="{AAB00EF2-5CDB-5F9D-1396-5A1C00277820}"/>
                </a:ext>
              </a:extLst>
            </p:cNvPr>
            <p:cNvSpPr/>
            <p:nvPr/>
          </p:nvSpPr>
          <p:spPr>
            <a:xfrm flipH="1">
              <a:off x="11070394" y="0"/>
              <a:ext cx="1121606" cy="1638251"/>
            </a:xfrm>
            <a:custGeom>
              <a:avLst/>
              <a:gdLst>
                <a:gd name="connsiteX0" fmla="*/ 461345 w 1121606"/>
                <a:gd name="connsiteY0" fmla="*/ 0 h 1638251"/>
                <a:gd name="connsiteX1" fmla="*/ 0 w 1121606"/>
                <a:gd name="connsiteY1" fmla="*/ 0 h 1638251"/>
                <a:gd name="connsiteX2" fmla="*/ 0 w 1121606"/>
                <a:gd name="connsiteY2" fmla="*/ 755659 h 1638251"/>
                <a:gd name="connsiteX3" fmla="*/ 396422 w 1121606"/>
                <a:gd name="connsiteY3" fmla="*/ 1443647 h 1638251"/>
                <a:gd name="connsiteX4" fmla="*/ 927002 w 1121606"/>
                <a:gd name="connsiteY4" fmla="*/ 1586304 h 1638251"/>
                <a:gd name="connsiteX5" fmla="*/ 1069658 w 1121606"/>
                <a:gd name="connsiteY5" fmla="*/ 1055724 h 163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606" h="1638251">
                  <a:moveTo>
                    <a:pt x="461345" y="0"/>
                  </a:moveTo>
                  <a:lnTo>
                    <a:pt x="0" y="0"/>
                  </a:lnTo>
                  <a:lnTo>
                    <a:pt x="0" y="755659"/>
                  </a:lnTo>
                  <a:lnTo>
                    <a:pt x="396422" y="1443647"/>
                  </a:lnTo>
                  <a:cubicBezTo>
                    <a:pt x="503545" y="1629555"/>
                    <a:pt x="741093" y="1693426"/>
                    <a:pt x="927002" y="1586304"/>
                  </a:cubicBezTo>
                  <a:cubicBezTo>
                    <a:pt x="1112911" y="1479181"/>
                    <a:pt x="1176781" y="1241632"/>
                    <a:pt x="1069658" y="1055724"/>
                  </a:cubicBezTo>
                  <a:close/>
                </a:path>
              </a:pathLst>
            </a:custGeom>
            <a:gradFill>
              <a:gsLst>
                <a:gs pos="0">
                  <a:schemeClr val="accent1">
                    <a:lumMod val="60000"/>
                    <a:lumOff val="40000"/>
                  </a:schemeClr>
                </a:gs>
                <a:gs pos="74000">
                  <a:schemeClr val="accent1">
                    <a:lumMod val="60000"/>
                    <a:lumOff val="40000"/>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Freeform: Shape 9">
              <a:extLst>
                <a:ext uri="{FF2B5EF4-FFF2-40B4-BE49-F238E27FC236}">
                  <a16:creationId xmlns:a16="http://schemas.microsoft.com/office/drawing/2014/main" id="{09A89E36-5C4B-F464-0413-9BF7751DD60C}"/>
                </a:ext>
              </a:extLst>
            </p:cNvPr>
            <p:cNvSpPr/>
            <p:nvPr/>
          </p:nvSpPr>
          <p:spPr>
            <a:xfrm flipV="1">
              <a:off x="11006208" y="901596"/>
              <a:ext cx="499600" cy="123970"/>
            </a:xfrm>
            <a:custGeom>
              <a:avLst/>
              <a:gdLst>
                <a:gd name="connsiteX0" fmla="*/ 1024709 w 1169852"/>
                <a:gd name="connsiteY0" fmla="*/ 0 h 290286"/>
                <a:gd name="connsiteX1" fmla="*/ 1169852 w 1169852"/>
                <a:gd name="connsiteY1" fmla="*/ 145143 h 290286"/>
                <a:gd name="connsiteX2" fmla="*/ 1024709 w 1169852"/>
                <a:gd name="connsiteY2" fmla="*/ 290286 h 290286"/>
                <a:gd name="connsiteX3" fmla="*/ 879566 w 1169852"/>
                <a:gd name="connsiteY3" fmla="*/ 145143 h 290286"/>
                <a:gd name="connsiteX4" fmla="*/ 1024709 w 1169852"/>
                <a:gd name="connsiteY4" fmla="*/ 0 h 290286"/>
                <a:gd name="connsiteX5" fmla="*/ 584926 w 1169852"/>
                <a:gd name="connsiteY5" fmla="*/ 0 h 290286"/>
                <a:gd name="connsiteX6" fmla="*/ 730069 w 1169852"/>
                <a:gd name="connsiteY6" fmla="*/ 145143 h 290286"/>
                <a:gd name="connsiteX7" fmla="*/ 584926 w 1169852"/>
                <a:gd name="connsiteY7" fmla="*/ 290286 h 290286"/>
                <a:gd name="connsiteX8" fmla="*/ 439783 w 1169852"/>
                <a:gd name="connsiteY8" fmla="*/ 145143 h 290286"/>
                <a:gd name="connsiteX9" fmla="*/ 584926 w 1169852"/>
                <a:gd name="connsiteY9" fmla="*/ 0 h 290286"/>
                <a:gd name="connsiteX10" fmla="*/ 145143 w 1169852"/>
                <a:gd name="connsiteY10" fmla="*/ 0 h 290286"/>
                <a:gd name="connsiteX11" fmla="*/ 290286 w 1169852"/>
                <a:gd name="connsiteY11" fmla="*/ 145143 h 290286"/>
                <a:gd name="connsiteX12" fmla="*/ 145143 w 1169852"/>
                <a:gd name="connsiteY12" fmla="*/ 290286 h 290286"/>
                <a:gd name="connsiteX13" fmla="*/ 0 w 1169852"/>
                <a:gd name="connsiteY13" fmla="*/ 145143 h 290286"/>
                <a:gd name="connsiteX14" fmla="*/ 145143 w 1169852"/>
                <a:gd name="connsiteY14" fmla="*/ 0 h 29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9852" h="290286">
                  <a:moveTo>
                    <a:pt x="1024709" y="0"/>
                  </a:moveTo>
                  <a:cubicBezTo>
                    <a:pt x="1104869" y="0"/>
                    <a:pt x="1169852" y="64983"/>
                    <a:pt x="1169852" y="145143"/>
                  </a:cubicBezTo>
                  <a:cubicBezTo>
                    <a:pt x="1169852" y="225303"/>
                    <a:pt x="1104869" y="290286"/>
                    <a:pt x="1024709" y="290286"/>
                  </a:cubicBezTo>
                  <a:cubicBezTo>
                    <a:pt x="944549" y="290286"/>
                    <a:pt x="879566" y="225303"/>
                    <a:pt x="879566" y="145143"/>
                  </a:cubicBezTo>
                  <a:cubicBezTo>
                    <a:pt x="879566" y="64983"/>
                    <a:pt x="944549" y="0"/>
                    <a:pt x="1024709" y="0"/>
                  </a:cubicBezTo>
                  <a:close/>
                  <a:moveTo>
                    <a:pt x="584926" y="0"/>
                  </a:moveTo>
                  <a:cubicBezTo>
                    <a:pt x="665086" y="0"/>
                    <a:pt x="730069" y="64983"/>
                    <a:pt x="730069" y="145143"/>
                  </a:cubicBezTo>
                  <a:cubicBezTo>
                    <a:pt x="730069" y="225303"/>
                    <a:pt x="665086" y="290286"/>
                    <a:pt x="584926" y="290286"/>
                  </a:cubicBezTo>
                  <a:cubicBezTo>
                    <a:pt x="504766" y="290286"/>
                    <a:pt x="439783" y="225303"/>
                    <a:pt x="439783" y="145143"/>
                  </a:cubicBezTo>
                  <a:cubicBezTo>
                    <a:pt x="439783" y="64983"/>
                    <a:pt x="504766" y="0"/>
                    <a:pt x="584926" y="0"/>
                  </a:cubicBezTo>
                  <a:close/>
                  <a:moveTo>
                    <a:pt x="145143" y="0"/>
                  </a:moveTo>
                  <a:cubicBezTo>
                    <a:pt x="225303" y="0"/>
                    <a:pt x="290286" y="64983"/>
                    <a:pt x="290286" y="145143"/>
                  </a:cubicBezTo>
                  <a:cubicBezTo>
                    <a:pt x="290286" y="225303"/>
                    <a:pt x="225303" y="290286"/>
                    <a:pt x="145143" y="290286"/>
                  </a:cubicBezTo>
                  <a:cubicBezTo>
                    <a:pt x="64983" y="290286"/>
                    <a:pt x="0" y="225303"/>
                    <a:pt x="0" y="145143"/>
                  </a:cubicBezTo>
                  <a:cubicBezTo>
                    <a:pt x="0" y="64983"/>
                    <a:pt x="64983" y="0"/>
                    <a:pt x="145143" y="0"/>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Title 4"/>
          <p:cNvSpPr>
            <a:spLocks noGrp="1"/>
          </p:cNvSpPr>
          <p:nvPr>
            <p:ph type="ctrTitle" hasCustomPrompt="1"/>
          </p:nvPr>
        </p:nvSpPr>
        <p:spPr>
          <a:xfrm>
            <a:off x="6633029" y="1089025"/>
            <a:ext cx="4885871" cy="2644870"/>
          </a:xfrm>
          <a:prstGeom prst="rect">
            <a:avLst/>
          </a:prstGeom>
        </p:spPr>
        <p:txBody>
          <a:bodyPr wrap="square" anchor="b">
            <a:normAutofit/>
          </a:bodyPr>
          <a:lstStyle>
            <a:lvl1pPr algn="l">
              <a:lnSpc>
                <a:spcPct val="100000"/>
              </a:lnSpc>
              <a:defRPr sz="4400">
                <a:ln w="19050">
                  <a:noFill/>
                </a:ln>
                <a:solidFill>
                  <a:schemeClr val="tx1"/>
                </a:solidFill>
              </a:defRPr>
            </a:lvl1pPr>
          </a:lstStyle>
          <a:p>
            <a:pPr lvl="0"/>
            <a:r>
              <a:rPr lang="en-US" dirty="0"/>
              <a:t>Click to add title</a:t>
            </a:r>
          </a:p>
        </p:txBody>
      </p:sp>
      <p:sp>
        <p:nvSpPr>
          <p:cNvPr id="9" name="Subtitle 8"/>
          <p:cNvSpPr>
            <a:spLocks noGrp="1"/>
          </p:cNvSpPr>
          <p:nvPr>
            <p:ph type="subTitle" sz="quarter" idx="1" hasCustomPrompt="1"/>
          </p:nvPr>
        </p:nvSpPr>
        <p:spPr>
          <a:xfrm>
            <a:off x="6639113" y="3946258"/>
            <a:ext cx="4873436" cy="994727"/>
          </a:xfrm>
          <a:prstGeom prst="roundRect">
            <a:avLst>
              <a:gd name="adj" fmla="val 0"/>
            </a:avLst>
          </a:prstGeom>
          <a:noFill/>
          <a:ln>
            <a:noFill/>
          </a:ln>
        </p:spPr>
        <p:txBody>
          <a:bodyPr vert="horz" wrap="square" lIns="91440" tIns="45720" rIns="91440" bIns="45720" rtlCol="0" anchor="t" anchorCtr="0">
            <a:normAutofit/>
          </a:bodyPr>
          <a:lstStyle>
            <a:lvl1pPr marL="0" indent="0" algn="l">
              <a:lnSpc>
                <a:spcPct val="100000"/>
              </a:lnSpc>
              <a:buNone/>
              <a:defRPr lang="en-US" sz="2000" dirty="0">
                <a:solidFill>
                  <a:schemeClr val="tx1"/>
                </a:solidFill>
                <a:latin typeface="+mj-lt"/>
              </a:defRPr>
            </a:lvl1pPr>
          </a:lstStyle>
          <a:p>
            <a:pPr lvl="0"/>
            <a:r>
              <a:rPr lang="en-US" dirty="0"/>
              <a:t>Click to add subtitle</a:t>
            </a:r>
          </a:p>
        </p:txBody>
      </p:sp>
      <p:sp>
        <p:nvSpPr>
          <p:cNvPr id="4" name="Text Placeholder 3"/>
          <p:cNvSpPr>
            <a:spLocks noGrp="1"/>
          </p:cNvSpPr>
          <p:nvPr>
            <p:ph type="body" sz="quarter" idx="13" hasCustomPrompt="1"/>
          </p:nvPr>
        </p:nvSpPr>
        <p:spPr>
          <a:xfrm>
            <a:off x="6632372" y="5857101"/>
            <a:ext cx="4873436" cy="276999"/>
          </a:xfrm>
          <a:prstGeom prst="rect">
            <a:avLst/>
          </a:prstGeom>
        </p:spPr>
        <p:txBody>
          <a:bodyPr wrap="square" lIns="90000">
            <a:normAutofit/>
          </a:bodyPr>
          <a:lstStyle>
            <a:lvl1pPr marL="0" indent="0" algn="l">
              <a:lnSpc>
                <a:spcPct val="100000"/>
              </a:lnSpc>
              <a:buNone/>
              <a:defRPr sz="1200">
                <a:solidFill>
                  <a:schemeClr val="tx1"/>
                </a:solidFill>
              </a:defRPr>
            </a:lvl1pPr>
          </a:lstStyle>
          <a:p>
            <a:pPr lvl="0"/>
            <a:r>
              <a:rPr lang="en-US" dirty="0"/>
              <a:t>Presenter name</a:t>
            </a:r>
          </a:p>
        </p:txBody>
      </p:sp>
      <p:sp>
        <p:nvSpPr>
          <p:cNvPr id="7" name="Text Placeholder 6"/>
          <p:cNvSpPr>
            <a:spLocks noGrp="1"/>
          </p:cNvSpPr>
          <p:nvPr>
            <p:ph type="body" sz="quarter" idx="14" hasCustomPrompt="1"/>
          </p:nvPr>
        </p:nvSpPr>
        <p:spPr>
          <a:xfrm>
            <a:off x="6632726" y="5588772"/>
            <a:ext cx="4880141" cy="276999"/>
          </a:xfrm>
          <a:prstGeom prst="rect">
            <a:avLst/>
          </a:prstGeom>
        </p:spPr>
        <p:txBody>
          <a:bodyPr wrap="none">
            <a:normAutofit/>
          </a:bodyPr>
          <a:lstStyle>
            <a:lvl1pPr marL="0" indent="0" algn="l">
              <a:lnSpc>
                <a:spcPct val="100000"/>
              </a:lnSpc>
              <a:buNone/>
              <a:defRPr sz="1200">
                <a:solidFill>
                  <a:schemeClr val="tx1"/>
                </a:solidFill>
              </a:defRPr>
            </a:lvl1pPr>
          </a:lstStyle>
          <a:p>
            <a:pPr lvl="0"/>
            <a:r>
              <a:rPr lang="en-US" dirty="0"/>
              <a:t>www.officeplus.cn</a:t>
            </a:r>
          </a:p>
        </p:txBody>
      </p:sp>
    </p:spTree>
    <p:extLst>
      <p:ext uri="{BB962C8B-B14F-4D97-AF65-F5344CB8AC3E}">
        <p14:creationId xmlns:p14="http://schemas.microsoft.com/office/powerpoint/2010/main" val="376836071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D10539A-C1C4-6938-E08F-ABBF8809B51F}"/>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827E2AD-3652-ED88-F70A-AB4CB38FE0AE}"/>
                </a:ext>
              </a:extLst>
            </p:cNvPr>
            <p:cNvSpPr/>
            <p:nvPr/>
          </p:nvSpPr>
          <p:spPr>
            <a:xfrm>
              <a:off x="0" y="0"/>
              <a:ext cx="12192000" cy="6858000"/>
            </a:xfrm>
            <a:prstGeom prst="rect">
              <a:avLst/>
            </a:prstGeom>
            <a:blipFill rotWithShape="0">
              <a:blip r:embed="rId2"/>
              <a:srcRect/>
              <a:stretch>
                <a:fillRect r="-36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sp>
          <p:nvSpPr>
            <p:cNvPr id="11" name="Rectangle 10">
              <a:extLst>
                <a:ext uri="{FF2B5EF4-FFF2-40B4-BE49-F238E27FC236}">
                  <a16:creationId xmlns:a16="http://schemas.microsoft.com/office/drawing/2014/main" id="{AC21FF61-D406-0CC5-1220-B0D3CCB8BCFE}"/>
                </a:ext>
              </a:extLst>
            </p:cNvPr>
            <p:cNvSpPr/>
            <p:nvPr/>
          </p:nvSpPr>
          <p:spPr>
            <a:xfrm>
              <a:off x="0" y="0"/>
              <a:ext cx="12192000" cy="6858000"/>
            </a:xfrm>
            <a:prstGeom prst="rect">
              <a:avLst/>
            </a:pr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Title 8"/>
          <p:cNvSpPr>
            <a:spLocks noGrp="1"/>
          </p:cNvSpPr>
          <p:nvPr>
            <p:ph type="title" hasCustomPrompt="1"/>
          </p:nvPr>
        </p:nvSpPr>
        <p:spPr>
          <a:xfrm>
            <a:off x="660400" y="0"/>
            <a:ext cx="10858500" cy="1028700"/>
          </a:xfrm>
          <a:prstGeom prst="rect">
            <a:avLst/>
          </a:prstGeom>
        </p:spPr>
        <p:txBody>
          <a:bodyPr anchor="b">
            <a:normAutofit/>
          </a:bodyPr>
          <a:lstStyle>
            <a:lvl1pPr>
              <a:lnSpc>
                <a:spcPct val="100000"/>
              </a:lnSpc>
              <a:defRPr>
                <a:solidFill>
                  <a:schemeClr val="tx1"/>
                </a:solidFill>
              </a:defRPr>
            </a:lvl1pPr>
          </a:lstStyle>
          <a:p>
            <a:pPr lvl="0"/>
            <a:r>
              <a:rPr lang="en-US" dirty="0"/>
              <a:t>Click to add title</a:t>
            </a:r>
          </a:p>
        </p:txBody>
      </p:sp>
      <p:sp>
        <p:nvSpPr>
          <p:cNvPr id="8" name="Content Placeholder 7"/>
          <p:cNvSpPr>
            <a:spLocks noGrp="1"/>
          </p:cNvSpPr>
          <p:nvPr>
            <p:ph idx="1"/>
          </p:nvPr>
        </p:nvSpPr>
        <p:spPr>
          <a:xfrm>
            <a:off x="660400" y="1092200"/>
            <a:ext cx="10858500" cy="5041900"/>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fld id="{E2982A54-1ED4-49C6-8154-FC2019FF8FB3}" type="datetime1">
              <a:rPr lang="zh-CN" altLang="en-US" smtClean="0"/>
              <a:t>2026/1/10</a:t>
            </a:fld>
            <a:endParaRPr lang="zh-CN" altLang="en-US"/>
          </a:p>
        </p:txBody>
      </p:sp>
      <p:sp>
        <p:nvSpPr>
          <p:cNvPr id="3" name="Footer Placeholder 2"/>
          <p:cNvSpPr>
            <a:spLocks noGrp="1"/>
          </p:cNvSpPr>
          <p:nvPr>
            <p:ph type="ftr" sz="quarter" idx="11"/>
          </p:nvPr>
        </p:nvSpPr>
        <p:spPr/>
        <p:txBody>
          <a:bodyPr/>
          <a:lstStyle/>
          <a:p>
            <a:r>
              <a:rPr lang="af-ZA"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368049638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gradFill>
          <a:gsLst>
            <a:gs pos="0">
              <a:schemeClr val="accent1">
                <a:lumMod val="75000"/>
              </a:schemeClr>
            </a:gs>
            <a:gs pos="100000">
              <a:schemeClr val="accent1">
                <a:alpha val="90000"/>
              </a:schemeClr>
            </a:gs>
          </a:gsLst>
          <a:lin ang="2700000" scaled="1"/>
        </a:gradFill>
        <a:effectLst/>
      </p:bgPr>
    </p:bg>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60400" y="1500188"/>
            <a:ext cx="2836800" cy="914400"/>
          </a:xfrm>
          <a:prstGeom prst="rect">
            <a:avLst/>
          </a:prstGeom>
        </p:spPr>
        <p:txBody>
          <a:bodyPr wrap="none" anchor="t">
            <a:normAutofit/>
          </a:bodyPr>
          <a:lstStyle>
            <a:lvl1pPr algn="r">
              <a:lnSpc>
                <a:spcPct val="100000"/>
              </a:lnSpc>
              <a:defRPr sz="2800"/>
            </a:lvl1pPr>
          </a:lstStyle>
          <a:p>
            <a:pPr lvl="0"/>
            <a:r>
              <a:rPr lang="en-US"/>
              <a:t>Agenda</a:t>
            </a:r>
          </a:p>
        </p:txBody>
      </p:sp>
      <p:sp>
        <p:nvSpPr>
          <p:cNvPr id="11" name="Content Placeholder 10"/>
          <p:cNvSpPr>
            <a:spLocks noGrp="1"/>
          </p:cNvSpPr>
          <p:nvPr>
            <p:ph sz="quarter" idx="1" hasCustomPrompt="1"/>
          </p:nvPr>
        </p:nvSpPr>
        <p:spPr>
          <a:xfrm>
            <a:off x="3746500" y="1500187"/>
            <a:ext cx="7772400" cy="4633200"/>
          </a:xfrm>
          <a:prstGeom prst="rect">
            <a:avLst/>
          </a:prstGeom>
        </p:spPr>
        <p:txBody>
          <a:bodyPr wrap="square">
            <a:normAutofit/>
          </a:bodyPr>
          <a:lstStyle>
            <a:lvl1pPr marL="457200" indent="-457200">
              <a:lnSpc>
                <a:spcPct val="130000"/>
              </a:lnSpc>
              <a:buFont typeface="+mj-lt"/>
              <a:buAutoNum type="arabicPeriod"/>
              <a:defRPr sz="2400" b="0">
                <a:solidFill>
                  <a:schemeClr val="tx1"/>
                </a:solidFill>
                <a:latin typeface="+mn-lt"/>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2A27A813-B2FD-42E1-9222-83B574E99074}" type="datetime1">
              <a:rPr lang="zh-CN" altLang="en-US" smtClean="0"/>
              <a:t>2026/1/10</a:t>
            </a:fld>
            <a:endParaRPr lang="en-US" altLang="zh-CN"/>
          </a:p>
        </p:txBody>
      </p:sp>
      <p:sp>
        <p:nvSpPr>
          <p:cNvPr id="3" name="Footer Placeholder 2"/>
          <p:cNvSpPr>
            <a:spLocks noGrp="1"/>
          </p:cNvSpPr>
          <p:nvPr>
            <p:ph type="ftr" sz="quarter" idx="11"/>
          </p:nvPr>
        </p:nvSpPr>
        <p:spPr/>
        <p:txBody>
          <a:bodyPr/>
          <a:lstStyle/>
          <a:p>
            <a:r>
              <a:rPr lang="af-ZA"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en-US" altLang="zh-CN" smtClean="0"/>
              <a:pPr/>
              <a:t>‹#›</a:t>
            </a:fld>
            <a:endParaRPr lang="en-US" altLang="zh-CN"/>
          </a:p>
        </p:txBody>
      </p:sp>
      <p:grpSp>
        <p:nvGrpSpPr>
          <p:cNvPr id="9" name="Group 8"/>
          <p:cNvGrpSpPr/>
          <p:nvPr/>
        </p:nvGrpSpPr>
        <p:grpSpPr>
          <a:xfrm>
            <a:off x="2626456" y="1500188"/>
            <a:ext cx="994563" cy="4634686"/>
            <a:chOff x="2626456" y="1500188"/>
            <a:chExt cx="994563" cy="4634686"/>
          </a:xfrm>
        </p:grpSpPr>
        <p:cxnSp>
          <p:nvCxnSpPr>
            <p:cNvPr id="10" name="Straight Connector 9"/>
            <p:cNvCxnSpPr>
              <a:cxnSpLocks/>
            </p:cNvCxnSpPr>
            <p:nvPr/>
          </p:nvCxnSpPr>
          <p:spPr>
            <a:xfrm>
              <a:off x="3621019" y="1500188"/>
              <a:ext cx="0" cy="4633913"/>
            </a:xfrm>
            <a:prstGeom prst="line">
              <a:avLst/>
            </a:prstGeom>
            <a:solidFill>
              <a:srgbClr val="FFCC00"/>
            </a:solidFill>
            <a:ln w="3175" cap="flat" cmpd="sng" algn="ctr">
              <a:solidFill>
                <a:schemeClr val="tx1">
                  <a:alpha val="50000"/>
                </a:schemeClr>
              </a:solidFill>
              <a:prstDash val="solid"/>
              <a:round/>
              <a:headEnd type="none" w="med" len="med"/>
              <a:tailEnd type="none" w="med" len="med"/>
            </a:ln>
            <a:effectLst/>
          </p:spPr>
        </p:cxnSp>
        <p:sp>
          <p:nvSpPr>
            <p:cNvPr id="12" name="Freeform: Shape 11"/>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1">
                <a:alpha val="15000"/>
              </a:schemeClr>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45026468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64000">
              <a:schemeClr val="accent1"/>
            </a:gs>
            <a:gs pos="0">
              <a:schemeClr val="accent1">
                <a:lumMod val="60000"/>
                <a:lumOff val="40000"/>
              </a:schemeClr>
            </a:gs>
          </a:gsLst>
          <a:lin ang="10800000" scaled="0"/>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376E7F1-F8E4-9777-FED2-F46D29D04F44}"/>
              </a:ext>
            </a:extLst>
          </p:cNvPr>
          <p:cNvGrpSpPr/>
          <p:nvPr/>
        </p:nvGrpSpPr>
        <p:grpSpPr>
          <a:xfrm flipH="1">
            <a:off x="-6348" y="0"/>
            <a:ext cx="12198348" cy="6858001"/>
            <a:chOff x="-6348" y="0"/>
            <a:chExt cx="12198348" cy="6858001"/>
          </a:xfrm>
        </p:grpSpPr>
        <p:sp>
          <p:nvSpPr>
            <p:cNvPr id="12" name="Freeform: Shape 11">
              <a:extLst>
                <a:ext uri="{FF2B5EF4-FFF2-40B4-BE49-F238E27FC236}">
                  <a16:creationId xmlns:a16="http://schemas.microsoft.com/office/drawing/2014/main" id="{D8A8987F-38E5-7440-09D3-AACF6BA43956}"/>
                </a:ext>
              </a:extLst>
            </p:cNvPr>
            <p:cNvSpPr/>
            <p:nvPr/>
          </p:nvSpPr>
          <p:spPr>
            <a:xfrm>
              <a:off x="0" y="361954"/>
              <a:ext cx="6546928" cy="6496047"/>
            </a:xfrm>
            <a:custGeom>
              <a:avLst/>
              <a:gdLst>
                <a:gd name="connsiteX0" fmla="*/ 3358310 w 6546928"/>
                <a:gd name="connsiteY0" fmla="*/ 1034 h 6496047"/>
                <a:gd name="connsiteX1" fmla="*/ 3564821 w 6546928"/>
                <a:gd name="connsiteY1" fmla="*/ 2568 h 6496047"/>
                <a:gd name="connsiteX2" fmla="*/ 5030454 w 6546928"/>
                <a:gd name="connsiteY2" fmla="*/ 440425 h 6496047"/>
                <a:gd name="connsiteX3" fmla="*/ 6106504 w 6546928"/>
                <a:gd name="connsiteY3" fmla="*/ 4706284 h 6496047"/>
                <a:gd name="connsiteX4" fmla="*/ 5037785 w 6546928"/>
                <a:gd name="connsiteY4" fmla="*/ 6496047 h 6496047"/>
                <a:gd name="connsiteX5" fmla="*/ 0 w 6546928"/>
                <a:gd name="connsiteY5" fmla="*/ 6496047 h 6496047"/>
                <a:gd name="connsiteX6" fmla="*/ 0 w 6546928"/>
                <a:gd name="connsiteY6" fmla="*/ 2796923 h 6496047"/>
                <a:gd name="connsiteX7" fmla="*/ 764593 w 6546928"/>
                <a:gd name="connsiteY7" fmla="*/ 1516475 h 6496047"/>
                <a:gd name="connsiteX8" fmla="*/ 3358310 w 6546928"/>
                <a:gd name="connsiteY8" fmla="*/ 1034 h 649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6928" h="6496047">
                  <a:moveTo>
                    <a:pt x="3358310" y="1034"/>
                  </a:moveTo>
                  <a:cubicBezTo>
                    <a:pt x="3427028" y="-738"/>
                    <a:pt x="3495903" y="-236"/>
                    <a:pt x="3564821" y="2568"/>
                  </a:cubicBezTo>
                  <a:cubicBezTo>
                    <a:pt x="4066042" y="22966"/>
                    <a:pt x="4569476" y="165162"/>
                    <a:pt x="5030454" y="440425"/>
                  </a:cubicBezTo>
                  <a:cubicBezTo>
                    <a:pt x="6505581" y="1321266"/>
                    <a:pt x="6987345" y="3231157"/>
                    <a:pt x="6106504" y="4706284"/>
                  </a:cubicBezTo>
                  <a:lnTo>
                    <a:pt x="5037785" y="6496047"/>
                  </a:lnTo>
                  <a:lnTo>
                    <a:pt x="0" y="6496047"/>
                  </a:lnTo>
                  <a:lnTo>
                    <a:pt x="0" y="2796923"/>
                  </a:lnTo>
                  <a:lnTo>
                    <a:pt x="764593" y="1516475"/>
                  </a:lnTo>
                  <a:cubicBezTo>
                    <a:pt x="1332323" y="565709"/>
                    <a:pt x="2327541" y="27607"/>
                    <a:pt x="3358310" y="1034"/>
                  </a:cubicBezTo>
                  <a:close/>
                </a:path>
              </a:pathLst>
            </a:custGeom>
            <a:gradFill flip="none" rotWithShape="1">
              <a:gsLst>
                <a:gs pos="0">
                  <a:schemeClr val="accent1"/>
                </a:gs>
                <a:gs pos="100000">
                  <a:schemeClr val="accent1">
                    <a:alpha val="0"/>
                  </a:schemeClr>
                </a:gs>
              </a:gsLst>
              <a:lin ang="27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latin typeface="Arial" panose="020B0604020202020204" pitchFamily="34" charset="0"/>
                <a:ea typeface="微软雅黑" panose="020B0503020204020204" pitchFamily="34" charset="-122"/>
              </a:endParaRPr>
            </a:p>
          </p:txBody>
        </p:sp>
        <p:sp>
          <p:nvSpPr>
            <p:cNvPr id="13" name="Freeform: Shape 12">
              <a:extLst>
                <a:ext uri="{FF2B5EF4-FFF2-40B4-BE49-F238E27FC236}">
                  <a16:creationId xmlns:a16="http://schemas.microsoft.com/office/drawing/2014/main" id="{5CC2521F-D57D-148B-687E-E347B5510B8A}"/>
                </a:ext>
              </a:extLst>
            </p:cNvPr>
            <p:cNvSpPr/>
            <p:nvPr/>
          </p:nvSpPr>
          <p:spPr>
            <a:xfrm flipH="1">
              <a:off x="10899919" y="0"/>
              <a:ext cx="1292081" cy="3321508"/>
            </a:xfrm>
            <a:custGeom>
              <a:avLst/>
              <a:gdLst>
                <a:gd name="connsiteX0" fmla="*/ 2256 w 1292081"/>
                <a:gd name="connsiteY0" fmla="*/ 0 h 3321508"/>
                <a:gd name="connsiteX1" fmla="*/ 0 w 1292081"/>
                <a:gd name="connsiteY1" fmla="*/ 0 h 3321508"/>
                <a:gd name="connsiteX2" fmla="*/ 0 w 1292081"/>
                <a:gd name="connsiteY2" fmla="*/ 3196522 h 3321508"/>
                <a:gd name="connsiteX3" fmla="*/ 61952 w 1292081"/>
                <a:gd name="connsiteY3" fmla="*/ 3234571 h 3321508"/>
                <a:gd name="connsiteX4" fmla="*/ 864027 w 1292081"/>
                <a:gd name="connsiteY4" fmla="*/ 3207246 h 3321508"/>
                <a:gd name="connsiteX5" fmla="*/ 1177816 w 1292081"/>
                <a:gd name="connsiteY5" fmla="*/ 2040178 h 332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2081" h="3321508">
                  <a:moveTo>
                    <a:pt x="2256" y="0"/>
                  </a:moveTo>
                  <a:lnTo>
                    <a:pt x="0" y="0"/>
                  </a:lnTo>
                  <a:lnTo>
                    <a:pt x="0" y="3196522"/>
                  </a:lnTo>
                  <a:lnTo>
                    <a:pt x="61952" y="3234571"/>
                  </a:lnTo>
                  <a:cubicBezTo>
                    <a:pt x="308499" y="3354857"/>
                    <a:pt x="608448" y="3354511"/>
                    <a:pt x="864027" y="3207246"/>
                  </a:cubicBezTo>
                  <a:cubicBezTo>
                    <a:pt x="1272954" y="2971617"/>
                    <a:pt x="1413444" y="2449103"/>
                    <a:pt x="1177816" y="2040178"/>
                  </a:cubicBezTo>
                  <a:close/>
                </a:path>
              </a:pathLst>
            </a:custGeom>
            <a:gradFill>
              <a:gsLst>
                <a:gs pos="0">
                  <a:schemeClr val="accent1">
                    <a:lumMod val="60000"/>
                    <a:lumOff val="40000"/>
                    <a:alpha val="0"/>
                  </a:schemeClr>
                </a:gs>
                <a:gs pos="100000">
                  <a:schemeClr val="accent1">
                    <a:lumMod val="60000"/>
                    <a:lumOff val="40000"/>
                    <a:alpha val="5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3">
              <a:extLst>
                <a:ext uri="{FF2B5EF4-FFF2-40B4-BE49-F238E27FC236}">
                  <a16:creationId xmlns:a16="http://schemas.microsoft.com/office/drawing/2014/main" id="{16FE22B1-2E47-921D-53D9-845BFC9590E2}"/>
                </a:ext>
              </a:extLst>
            </p:cNvPr>
            <p:cNvSpPr/>
            <p:nvPr/>
          </p:nvSpPr>
          <p:spPr>
            <a:xfrm>
              <a:off x="-6348" y="734852"/>
              <a:ext cx="6409743" cy="6123146"/>
            </a:xfrm>
            <a:custGeom>
              <a:avLst/>
              <a:gdLst>
                <a:gd name="connsiteX0" fmla="*/ 3647426 w 6409743"/>
                <a:gd name="connsiteY0" fmla="*/ 2380 h 6123146"/>
                <a:gd name="connsiteX1" fmla="*/ 5005037 w 6409743"/>
                <a:gd name="connsiteY1" fmla="*/ 407965 h 6123146"/>
                <a:gd name="connsiteX2" fmla="*/ 6001779 w 6409743"/>
                <a:gd name="connsiteY2" fmla="*/ 4359418 h 6123146"/>
                <a:gd name="connsiteX3" fmla="*/ 4948606 w 6409743"/>
                <a:gd name="connsiteY3" fmla="*/ 6123146 h 6123146"/>
                <a:gd name="connsiteX4" fmla="*/ 0 w 6409743"/>
                <a:gd name="connsiteY4" fmla="*/ 6123146 h 6123146"/>
                <a:gd name="connsiteX5" fmla="*/ 0 w 6409743"/>
                <a:gd name="connsiteY5" fmla="*/ 3169122 h 6123146"/>
                <a:gd name="connsiteX6" fmla="*/ 1053583 w 6409743"/>
                <a:gd name="connsiteY6" fmla="*/ 1404707 h 6123146"/>
                <a:gd name="connsiteX7" fmla="*/ 3647426 w 6409743"/>
                <a:gd name="connsiteY7" fmla="*/ 2380 h 61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9743" h="6123146">
                  <a:moveTo>
                    <a:pt x="3647426" y="2380"/>
                  </a:moveTo>
                  <a:cubicBezTo>
                    <a:pt x="4111705" y="21274"/>
                    <a:pt x="4578035" y="152990"/>
                    <a:pt x="5005037" y="407965"/>
                  </a:cubicBezTo>
                  <a:cubicBezTo>
                    <a:pt x="6371443" y="1223886"/>
                    <a:pt x="6817700" y="2993012"/>
                    <a:pt x="6001779" y="4359418"/>
                  </a:cubicBezTo>
                  <a:lnTo>
                    <a:pt x="4948606" y="6123146"/>
                  </a:lnTo>
                  <a:lnTo>
                    <a:pt x="0" y="6123146"/>
                  </a:lnTo>
                  <a:lnTo>
                    <a:pt x="0" y="3169122"/>
                  </a:lnTo>
                  <a:lnTo>
                    <a:pt x="1053583" y="1404707"/>
                  </a:lnTo>
                  <a:cubicBezTo>
                    <a:pt x="1614529" y="465303"/>
                    <a:pt x="2626013" y="-39187"/>
                    <a:pt x="3647426" y="2380"/>
                  </a:cubicBezTo>
                  <a:close/>
                </a:path>
              </a:pathLst>
            </a:custGeom>
            <a:blipFill rotWithShape="0">
              <a:blip r:embed="rId2"/>
              <a:srcRect/>
              <a:stretch>
                <a:fillRect l="-7760" r="-62700"/>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p>
          </p:txBody>
        </p:sp>
        <p:sp>
          <p:nvSpPr>
            <p:cNvPr id="16" name="Freeform: Shape 15">
              <a:extLst>
                <a:ext uri="{FF2B5EF4-FFF2-40B4-BE49-F238E27FC236}">
                  <a16:creationId xmlns:a16="http://schemas.microsoft.com/office/drawing/2014/main" id="{FC59B346-1492-B051-8012-9CFF880FB9CC}"/>
                </a:ext>
              </a:extLst>
            </p:cNvPr>
            <p:cNvSpPr/>
            <p:nvPr/>
          </p:nvSpPr>
          <p:spPr>
            <a:xfrm flipV="1">
              <a:off x="4474671" y="4940986"/>
              <a:ext cx="1821961" cy="1917014"/>
            </a:xfrm>
            <a:custGeom>
              <a:avLst/>
              <a:gdLst>
                <a:gd name="connsiteX0" fmla="*/ 0 w 1821961"/>
                <a:gd name="connsiteY0" fmla="*/ 0 h 1917014"/>
                <a:gd name="connsiteX1" fmla="*/ 1049351 w 1821961"/>
                <a:gd name="connsiteY1" fmla="*/ 0 h 1917014"/>
                <a:gd name="connsiteX2" fmla="*/ 1761174 w 1821961"/>
                <a:gd name="connsiteY2" fmla="*/ 1235365 h 1917014"/>
                <a:gd name="connsiteX3" fmla="*/ 1594243 w 1821961"/>
                <a:gd name="connsiteY3" fmla="*/ 1856228 h 1917014"/>
                <a:gd name="connsiteX4" fmla="*/ 973380 w 1821961"/>
                <a:gd name="connsiteY4" fmla="*/ 1689296 h 1917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1961" h="1917014">
                  <a:moveTo>
                    <a:pt x="0" y="0"/>
                  </a:moveTo>
                  <a:lnTo>
                    <a:pt x="1049351" y="0"/>
                  </a:lnTo>
                  <a:lnTo>
                    <a:pt x="1761174" y="1235365"/>
                  </a:lnTo>
                  <a:cubicBezTo>
                    <a:pt x="1886525" y="1452907"/>
                    <a:pt x="1811786" y="1730877"/>
                    <a:pt x="1594243" y="1856228"/>
                  </a:cubicBezTo>
                  <a:cubicBezTo>
                    <a:pt x="1376700" y="1981577"/>
                    <a:pt x="1098731" y="1906838"/>
                    <a:pt x="973380" y="1689296"/>
                  </a:cubicBezTo>
                  <a:close/>
                </a:path>
              </a:pathLst>
            </a:custGeom>
            <a:gradFill>
              <a:gsLst>
                <a:gs pos="0">
                  <a:schemeClr val="accent1">
                    <a:lumMod val="60000"/>
                    <a:lumOff val="40000"/>
                  </a:schemeClr>
                </a:gs>
                <a:gs pos="100000">
                  <a:schemeClr val="accent1">
                    <a:lumMod val="60000"/>
                    <a:lumOff val="40000"/>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Freeform: Shape 16">
              <a:extLst>
                <a:ext uri="{FF2B5EF4-FFF2-40B4-BE49-F238E27FC236}">
                  <a16:creationId xmlns:a16="http://schemas.microsoft.com/office/drawing/2014/main" id="{F0B6EC5F-8A30-1250-8168-F63E116F4278}"/>
                </a:ext>
              </a:extLst>
            </p:cNvPr>
            <p:cNvSpPr/>
            <p:nvPr/>
          </p:nvSpPr>
          <p:spPr>
            <a:xfrm flipH="1">
              <a:off x="11070394" y="0"/>
              <a:ext cx="1121606" cy="1638251"/>
            </a:xfrm>
            <a:custGeom>
              <a:avLst/>
              <a:gdLst>
                <a:gd name="connsiteX0" fmla="*/ 461345 w 1121606"/>
                <a:gd name="connsiteY0" fmla="*/ 0 h 1638251"/>
                <a:gd name="connsiteX1" fmla="*/ 0 w 1121606"/>
                <a:gd name="connsiteY1" fmla="*/ 0 h 1638251"/>
                <a:gd name="connsiteX2" fmla="*/ 0 w 1121606"/>
                <a:gd name="connsiteY2" fmla="*/ 755659 h 1638251"/>
                <a:gd name="connsiteX3" fmla="*/ 396422 w 1121606"/>
                <a:gd name="connsiteY3" fmla="*/ 1443647 h 1638251"/>
                <a:gd name="connsiteX4" fmla="*/ 927002 w 1121606"/>
                <a:gd name="connsiteY4" fmla="*/ 1586304 h 1638251"/>
                <a:gd name="connsiteX5" fmla="*/ 1069658 w 1121606"/>
                <a:gd name="connsiteY5" fmla="*/ 1055724 h 163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606" h="1638251">
                  <a:moveTo>
                    <a:pt x="461345" y="0"/>
                  </a:moveTo>
                  <a:lnTo>
                    <a:pt x="0" y="0"/>
                  </a:lnTo>
                  <a:lnTo>
                    <a:pt x="0" y="755659"/>
                  </a:lnTo>
                  <a:lnTo>
                    <a:pt x="396422" y="1443647"/>
                  </a:lnTo>
                  <a:cubicBezTo>
                    <a:pt x="503545" y="1629555"/>
                    <a:pt x="741093" y="1693426"/>
                    <a:pt x="927002" y="1586304"/>
                  </a:cubicBezTo>
                  <a:cubicBezTo>
                    <a:pt x="1112911" y="1479181"/>
                    <a:pt x="1176781" y="1241632"/>
                    <a:pt x="1069658" y="1055724"/>
                  </a:cubicBezTo>
                  <a:close/>
                </a:path>
              </a:pathLst>
            </a:custGeom>
            <a:gradFill>
              <a:gsLst>
                <a:gs pos="0">
                  <a:schemeClr val="accent1">
                    <a:lumMod val="60000"/>
                    <a:lumOff val="40000"/>
                  </a:schemeClr>
                </a:gs>
                <a:gs pos="74000">
                  <a:schemeClr val="accent1">
                    <a:lumMod val="60000"/>
                    <a:lumOff val="40000"/>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Freeform: Shape 17">
              <a:extLst>
                <a:ext uri="{FF2B5EF4-FFF2-40B4-BE49-F238E27FC236}">
                  <a16:creationId xmlns:a16="http://schemas.microsoft.com/office/drawing/2014/main" id="{99F5CFFF-7F04-51FE-24B2-C89B0549FD13}"/>
                </a:ext>
              </a:extLst>
            </p:cNvPr>
            <p:cNvSpPr/>
            <p:nvPr/>
          </p:nvSpPr>
          <p:spPr>
            <a:xfrm flipV="1">
              <a:off x="11006208" y="901596"/>
              <a:ext cx="499600" cy="123970"/>
            </a:xfrm>
            <a:custGeom>
              <a:avLst/>
              <a:gdLst>
                <a:gd name="connsiteX0" fmla="*/ 1024709 w 1169852"/>
                <a:gd name="connsiteY0" fmla="*/ 0 h 290286"/>
                <a:gd name="connsiteX1" fmla="*/ 1169852 w 1169852"/>
                <a:gd name="connsiteY1" fmla="*/ 145143 h 290286"/>
                <a:gd name="connsiteX2" fmla="*/ 1024709 w 1169852"/>
                <a:gd name="connsiteY2" fmla="*/ 290286 h 290286"/>
                <a:gd name="connsiteX3" fmla="*/ 879566 w 1169852"/>
                <a:gd name="connsiteY3" fmla="*/ 145143 h 290286"/>
                <a:gd name="connsiteX4" fmla="*/ 1024709 w 1169852"/>
                <a:gd name="connsiteY4" fmla="*/ 0 h 290286"/>
                <a:gd name="connsiteX5" fmla="*/ 584926 w 1169852"/>
                <a:gd name="connsiteY5" fmla="*/ 0 h 290286"/>
                <a:gd name="connsiteX6" fmla="*/ 730069 w 1169852"/>
                <a:gd name="connsiteY6" fmla="*/ 145143 h 290286"/>
                <a:gd name="connsiteX7" fmla="*/ 584926 w 1169852"/>
                <a:gd name="connsiteY7" fmla="*/ 290286 h 290286"/>
                <a:gd name="connsiteX8" fmla="*/ 439783 w 1169852"/>
                <a:gd name="connsiteY8" fmla="*/ 145143 h 290286"/>
                <a:gd name="connsiteX9" fmla="*/ 584926 w 1169852"/>
                <a:gd name="connsiteY9" fmla="*/ 0 h 290286"/>
                <a:gd name="connsiteX10" fmla="*/ 145143 w 1169852"/>
                <a:gd name="connsiteY10" fmla="*/ 0 h 290286"/>
                <a:gd name="connsiteX11" fmla="*/ 290286 w 1169852"/>
                <a:gd name="connsiteY11" fmla="*/ 145143 h 290286"/>
                <a:gd name="connsiteX12" fmla="*/ 145143 w 1169852"/>
                <a:gd name="connsiteY12" fmla="*/ 290286 h 290286"/>
                <a:gd name="connsiteX13" fmla="*/ 0 w 1169852"/>
                <a:gd name="connsiteY13" fmla="*/ 145143 h 290286"/>
                <a:gd name="connsiteX14" fmla="*/ 145143 w 1169852"/>
                <a:gd name="connsiteY14" fmla="*/ 0 h 29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9852" h="290286">
                  <a:moveTo>
                    <a:pt x="1024709" y="0"/>
                  </a:moveTo>
                  <a:cubicBezTo>
                    <a:pt x="1104869" y="0"/>
                    <a:pt x="1169852" y="64983"/>
                    <a:pt x="1169852" y="145143"/>
                  </a:cubicBezTo>
                  <a:cubicBezTo>
                    <a:pt x="1169852" y="225303"/>
                    <a:pt x="1104869" y="290286"/>
                    <a:pt x="1024709" y="290286"/>
                  </a:cubicBezTo>
                  <a:cubicBezTo>
                    <a:pt x="944549" y="290286"/>
                    <a:pt x="879566" y="225303"/>
                    <a:pt x="879566" y="145143"/>
                  </a:cubicBezTo>
                  <a:cubicBezTo>
                    <a:pt x="879566" y="64983"/>
                    <a:pt x="944549" y="0"/>
                    <a:pt x="1024709" y="0"/>
                  </a:cubicBezTo>
                  <a:close/>
                  <a:moveTo>
                    <a:pt x="584926" y="0"/>
                  </a:moveTo>
                  <a:cubicBezTo>
                    <a:pt x="665086" y="0"/>
                    <a:pt x="730069" y="64983"/>
                    <a:pt x="730069" y="145143"/>
                  </a:cubicBezTo>
                  <a:cubicBezTo>
                    <a:pt x="730069" y="225303"/>
                    <a:pt x="665086" y="290286"/>
                    <a:pt x="584926" y="290286"/>
                  </a:cubicBezTo>
                  <a:cubicBezTo>
                    <a:pt x="504766" y="290286"/>
                    <a:pt x="439783" y="225303"/>
                    <a:pt x="439783" y="145143"/>
                  </a:cubicBezTo>
                  <a:cubicBezTo>
                    <a:pt x="439783" y="64983"/>
                    <a:pt x="504766" y="0"/>
                    <a:pt x="584926" y="0"/>
                  </a:cubicBezTo>
                  <a:close/>
                  <a:moveTo>
                    <a:pt x="145143" y="0"/>
                  </a:moveTo>
                  <a:cubicBezTo>
                    <a:pt x="225303" y="0"/>
                    <a:pt x="290286" y="64983"/>
                    <a:pt x="290286" y="145143"/>
                  </a:cubicBezTo>
                  <a:cubicBezTo>
                    <a:pt x="290286" y="225303"/>
                    <a:pt x="225303" y="290286"/>
                    <a:pt x="145143" y="290286"/>
                  </a:cubicBezTo>
                  <a:cubicBezTo>
                    <a:pt x="64983" y="290286"/>
                    <a:pt x="0" y="225303"/>
                    <a:pt x="0" y="145143"/>
                  </a:cubicBezTo>
                  <a:cubicBezTo>
                    <a:pt x="0" y="64983"/>
                    <a:pt x="64983" y="0"/>
                    <a:pt x="145143" y="0"/>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Title 4"/>
          <p:cNvSpPr>
            <a:spLocks noGrp="1"/>
          </p:cNvSpPr>
          <p:nvPr>
            <p:ph type="title" hasCustomPrompt="1"/>
          </p:nvPr>
        </p:nvSpPr>
        <p:spPr>
          <a:xfrm>
            <a:off x="660399" y="2646299"/>
            <a:ext cx="5228621" cy="1251174"/>
          </a:xfrm>
          <a:prstGeom prst="rect">
            <a:avLst/>
          </a:prstGeom>
        </p:spPr>
        <p:txBody>
          <a:bodyPr>
            <a:normAutofit/>
          </a:bodyPr>
          <a:lstStyle>
            <a:lvl1pPr algn="l">
              <a:lnSpc>
                <a:spcPct val="100000"/>
              </a:lnSpc>
              <a:defRPr sz="4400"/>
            </a:lvl1pPr>
          </a:lstStyle>
          <a:p>
            <a:pPr lvl="0"/>
            <a:r>
              <a:rPr lang="en-US" dirty="0"/>
              <a:t>Click to add title</a:t>
            </a:r>
          </a:p>
        </p:txBody>
      </p:sp>
      <p:sp>
        <p:nvSpPr>
          <p:cNvPr id="25" name="Text Placeholder 24"/>
          <p:cNvSpPr>
            <a:spLocks noGrp="1"/>
          </p:cNvSpPr>
          <p:nvPr>
            <p:ph type="body" sz="quarter" idx="1" hasCustomPrompt="1"/>
          </p:nvPr>
        </p:nvSpPr>
        <p:spPr>
          <a:xfrm>
            <a:off x="660399" y="3909325"/>
            <a:ext cx="5228621" cy="1031661"/>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en-US" dirty="0"/>
              <a:t>Click to add text</a:t>
            </a:r>
          </a:p>
        </p:txBody>
      </p:sp>
      <p:sp>
        <p:nvSpPr>
          <p:cNvPr id="4" name="Date Placeholder 3"/>
          <p:cNvSpPr>
            <a:spLocks noGrp="1"/>
          </p:cNvSpPr>
          <p:nvPr>
            <p:ph type="dt" sz="half" idx="10"/>
          </p:nvPr>
        </p:nvSpPr>
        <p:spPr/>
        <p:txBody>
          <a:bodyPr/>
          <a:lstStyle/>
          <a:p>
            <a:fld id="{2A27A813-B2FD-42E1-9222-83B574E99074}" type="datetime1">
              <a:rPr lang="zh-CN" altLang="en-US" smtClean="0"/>
              <a:t>2026/1/10</a:t>
            </a:fld>
            <a:endParaRPr lang="en-US" altLang="zh-CN"/>
          </a:p>
        </p:txBody>
      </p:sp>
      <p:sp>
        <p:nvSpPr>
          <p:cNvPr id="6" name="Footer Placeholder 5"/>
          <p:cNvSpPr>
            <a:spLocks noGrp="1"/>
          </p:cNvSpPr>
          <p:nvPr>
            <p:ph type="ftr" sz="quarter" idx="11"/>
          </p:nvPr>
        </p:nvSpPr>
        <p:spPr/>
        <p:txBody>
          <a:bodyPr/>
          <a:lstStyle/>
          <a:p>
            <a:r>
              <a:rPr lang="af-ZA" altLang="zh-CN" dirty="0"/>
              <a:t>OfficePLUS</a:t>
            </a:r>
            <a:endParaRPr lang="zh-CN" altLang="en-US" dirty="0"/>
          </a:p>
        </p:txBody>
      </p:sp>
      <p:sp>
        <p:nvSpPr>
          <p:cNvPr id="8" name="Slide Number Placeholder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284360471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10539A-C1C4-6938-E08F-ABBF8809B51F}"/>
              </a:ext>
            </a:extLst>
          </p:cNvPr>
          <p:cNvGrpSpPr/>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6827E2AD-3652-ED88-F70A-AB4CB38FE0AE}"/>
                </a:ext>
              </a:extLst>
            </p:cNvPr>
            <p:cNvSpPr/>
            <p:nvPr/>
          </p:nvSpPr>
          <p:spPr>
            <a:xfrm>
              <a:off x="0" y="0"/>
              <a:ext cx="12192000" cy="6858000"/>
            </a:xfrm>
            <a:prstGeom prst="rect">
              <a:avLst/>
            </a:prstGeom>
            <a:blipFill rotWithShape="0">
              <a:blip r:embed="rId2"/>
              <a:srcRect/>
              <a:stretch>
                <a:fillRect r="-36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11" name="Rectangle 10">
              <a:extLst>
                <a:ext uri="{FF2B5EF4-FFF2-40B4-BE49-F238E27FC236}">
                  <a16:creationId xmlns:a16="http://schemas.microsoft.com/office/drawing/2014/main" id="{AC21FF61-D406-0CC5-1220-B0D3CCB8BCFE}"/>
                </a:ext>
              </a:extLst>
            </p:cNvPr>
            <p:cNvSpPr/>
            <p:nvPr/>
          </p:nvSpPr>
          <p:spPr>
            <a:xfrm>
              <a:off x="0" y="0"/>
              <a:ext cx="12192000" cy="68580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9" name="Title 8"/>
          <p:cNvSpPr>
            <a:spLocks noGrp="1"/>
          </p:cNvSpPr>
          <p:nvPr>
            <p:ph type="title" hasCustomPrompt="1"/>
          </p:nvPr>
        </p:nvSpPr>
        <p:spPr>
          <a:xfrm>
            <a:off x="660400" y="0"/>
            <a:ext cx="10858500" cy="1028700"/>
          </a:xfrm>
          <a:prstGeom prst="rect">
            <a:avLst/>
          </a:prstGeom>
        </p:spPr>
        <p:txBody>
          <a:bodyPr anchor="b">
            <a:normAutofit/>
          </a:bodyPr>
          <a:lstStyle>
            <a:lvl1pPr>
              <a:lnSpc>
                <a:spcPct val="100000"/>
              </a:lnSpc>
              <a:defRPr>
                <a:solidFill>
                  <a:schemeClr val="tx1"/>
                </a:solidFill>
              </a:defRPr>
            </a:lvl1pPr>
          </a:lstStyle>
          <a:p>
            <a:pPr lvl="0"/>
            <a:r>
              <a:rPr lang="en-US" dirty="0"/>
              <a:t>Click to add title</a:t>
            </a:r>
          </a:p>
        </p:txBody>
      </p:sp>
      <p:sp>
        <p:nvSpPr>
          <p:cNvPr id="2" name="Date Placeholder 1"/>
          <p:cNvSpPr>
            <a:spLocks noGrp="1"/>
          </p:cNvSpPr>
          <p:nvPr>
            <p:ph type="dt" sz="half" idx="10"/>
          </p:nvPr>
        </p:nvSpPr>
        <p:spPr/>
        <p:txBody>
          <a:bodyPr/>
          <a:lstStyle/>
          <a:p>
            <a:fld id="{E2982A54-1ED4-49C6-8154-FC2019FF8FB3}" type="datetime1">
              <a:rPr lang="zh-CN" altLang="en-US" smtClean="0"/>
              <a:t>2026/1/10</a:t>
            </a:fld>
            <a:endParaRPr lang="zh-CN" altLang="en-US"/>
          </a:p>
        </p:txBody>
      </p:sp>
      <p:sp>
        <p:nvSpPr>
          <p:cNvPr id="3" name="Footer Placeholder 2"/>
          <p:cNvSpPr>
            <a:spLocks noGrp="1"/>
          </p:cNvSpPr>
          <p:nvPr>
            <p:ph type="ftr" sz="quarter" idx="11"/>
          </p:nvPr>
        </p:nvSpPr>
        <p:spPr/>
        <p:txBody>
          <a:bodyPr/>
          <a:lstStyle/>
          <a:p>
            <a:r>
              <a:rPr lang="af-ZA"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33329663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3D36A-0885-4071-9EF1-0FE4286E17CF}" type="datetime1">
              <a:rPr lang="zh-CN" altLang="en-US" smtClean="0"/>
              <a:t>2026/1/10</a:t>
            </a:fld>
            <a:endParaRPr lang="en-US"/>
          </a:p>
        </p:txBody>
      </p:sp>
      <p:sp>
        <p:nvSpPr>
          <p:cNvPr id="3" name="Footer Placeholder 2"/>
          <p:cNvSpPr>
            <a:spLocks noGrp="1"/>
          </p:cNvSpPr>
          <p:nvPr>
            <p:ph type="ftr" sz="quarter" idx="11"/>
          </p:nvPr>
        </p:nvSpPr>
        <p:spPr/>
        <p:txBody>
          <a:bodyPr/>
          <a:lstStyle/>
          <a:p>
            <a:r>
              <a:rPr lang="en-US"/>
              <a:t>OfficePLUS</a:t>
            </a:r>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extLst>
      <p:ext uri="{BB962C8B-B14F-4D97-AF65-F5344CB8AC3E}">
        <p14:creationId xmlns:p14="http://schemas.microsoft.com/office/powerpoint/2010/main" val="347964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p:bg>
      <p:bgPr>
        <a:gradFill flip="none" rotWithShape="1">
          <a:gsLst>
            <a:gs pos="34000">
              <a:schemeClr val="accent1"/>
            </a:gs>
            <a:gs pos="100000">
              <a:schemeClr val="accent1">
                <a:lumMod val="60000"/>
                <a:lumOff val="40000"/>
              </a:schemeClr>
            </a:gs>
          </a:gsLst>
          <a:lin ang="10800000" scaled="0"/>
          <a:tileRect/>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8101CC3-0D4F-976C-701D-AA35F0B99D7F}"/>
              </a:ext>
            </a:extLst>
          </p:cNvPr>
          <p:cNvGrpSpPr/>
          <p:nvPr/>
        </p:nvGrpSpPr>
        <p:grpSpPr>
          <a:xfrm>
            <a:off x="-6348" y="0"/>
            <a:ext cx="12198348" cy="6858001"/>
            <a:chOff x="-6348" y="0"/>
            <a:chExt cx="12198348" cy="6858001"/>
          </a:xfrm>
        </p:grpSpPr>
        <p:sp>
          <p:nvSpPr>
            <p:cNvPr id="25" name="Freeform: Shape 24">
              <a:extLst>
                <a:ext uri="{FF2B5EF4-FFF2-40B4-BE49-F238E27FC236}">
                  <a16:creationId xmlns:a16="http://schemas.microsoft.com/office/drawing/2014/main" id="{F78137E6-F0FE-1B6D-F401-8FAED33BABFB}"/>
                </a:ext>
              </a:extLst>
            </p:cNvPr>
            <p:cNvSpPr/>
            <p:nvPr/>
          </p:nvSpPr>
          <p:spPr>
            <a:xfrm>
              <a:off x="0" y="361954"/>
              <a:ext cx="6546928" cy="6496047"/>
            </a:xfrm>
            <a:custGeom>
              <a:avLst/>
              <a:gdLst>
                <a:gd name="connsiteX0" fmla="*/ 3358310 w 6546928"/>
                <a:gd name="connsiteY0" fmla="*/ 1034 h 6496047"/>
                <a:gd name="connsiteX1" fmla="*/ 3564821 w 6546928"/>
                <a:gd name="connsiteY1" fmla="*/ 2568 h 6496047"/>
                <a:gd name="connsiteX2" fmla="*/ 5030454 w 6546928"/>
                <a:gd name="connsiteY2" fmla="*/ 440425 h 6496047"/>
                <a:gd name="connsiteX3" fmla="*/ 6106504 w 6546928"/>
                <a:gd name="connsiteY3" fmla="*/ 4706284 h 6496047"/>
                <a:gd name="connsiteX4" fmla="*/ 5037785 w 6546928"/>
                <a:gd name="connsiteY4" fmla="*/ 6496047 h 6496047"/>
                <a:gd name="connsiteX5" fmla="*/ 0 w 6546928"/>
                <a:gd name="connsiteY5" fmla="*/ 6496047 h 6496047"/>
                <a:gd name="connsiteX6" fmla="*/ 0 w 6546928"/>
                <a:gd name="connsiteY6" fmla="*/ 2796923 h 6496047"/>
                <a:gd name="connsiteX7" fmla="*/ 764593 w 6546928"/>
                <a:gd name="connsiteY7" fmla="*/ 1516475 h 6496047"/>
                <a:gd name="connsiteX8" fmla="*/ 3358310 w 6546928"/>
                <a:gd name="connsiteY8" fmla="*/ 1034 h 649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6928" h="6496047">
                  <a:moveTo>
                    <a:pt x="3358310" y="1034"/>
                  </a:moveTo>
                  <a:cubicBezTo>
                    <a:pt x="3427028" y="-738"/>
                    <a:pt x="3495903" y="-236"/>
                    <a:pt x="3564821" y="2568"/>
                  </a:cubicBezTo>
                  <a:cubicBezTo>
                    <a:pt x="4066042" y="22966"/>
                    <a:pt x="4569476" y="165162"/>
                    <a:pt x="5030454" y="440425"/>
                  </a:cubicBezTo>
                  <a:cubicBezTo>
                    <a:pt x="6505581" y="1321266"/>
                    <a:pt x="6987345" y="3231157"/>
                    <a:pt x="6106504" y="4706284"/>
                  </a:cubicBezTo>
                  <a:lnTo>
                    <a:pt x="5037785" y="6496047"/>
                  </a:lnTo>
                  <a:lnTo>
                    <a:pt x="0" y="6496047"/>
                  </a:lnTo>
                  <a:lnTo>
                    <a:pt x="0" y="2796923"/>
                  </a:lnTo>
                  <a:lnTo>
                    <a:pt x="764593" y="1516475"/>
                  </a:lnTo>
                  <a:cubicBezTo>
                    <a:pt x="1332323" y="565709"/>
                    <a:pt x="2327541" y="27607"/>
                    <a:pt x="3358310" y="1034"/>
                  </a:cubicBezTo>
                  <a:close/>
                </a:path>
              </a:pathLst>
            </a:custGeom>
            <a:gradFill flip="none" rotWithShape="1">
              <a:gsLst>
                <a:gs pos="0">
                  <a:schemeClr val="accent1"/>
                </a:gs>
                <a:gs pos="100000">
                  <a:schemeClr val="accent1">
                    <a:alpha val="0"/>
                  </a:schemeClr>
                </a:gs>
              </a:gsLst>
              <a:lin ang="27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latin typeface="Arial" panose="020B0604020202020204" pitchFamily="34" charset="0"/>
                <a:ea typeface="微软雅黑" panose="020B0503020204020204" pitchFamily="34" charset="-122"/>
              </a:endParaRPr>
            </a:p>
          </p:txBody>
        </p:sp>
        <p:sp>
          <p:nvSpPr>
            <p:cNvPr id="20" name="Freeform: Shape 19">
              <a:extLst>
                <a:ext uri="{FF2B5EF4-FFF2-40B4-BE49-F238E27FC236}">
                  <a16:creationId xmlns:a16="http://schemas.microsoft.com/office/drawing/2014/main" id="{C99E273E-471B-DB46-6E86-02467F6181BA}"/>
                </a:ext>
              </a:extLst>
            </p:cNvPr>
            <p:cNvSpPr/>
            <p:nvPr/>
          </p:nvSpPr>
          <p:spPr>
            <a:xfrm flipH="1">
              <a:off x="10899919" y="0"/>
              <a:ext cx="1292081" cy="3321508"/>
            </a:xfrm>
            <a:custGeom>
              <a:avLst/>
              <a:gdLst>
                <a:gd name="connsiteX0" fmla="*/ 2256 w 1292081"/>
                <a:gd name="connsiteY0" fmla="*/ 0 h 3321508"/>
                <a:gd name="connsiteX1" fmla="*/ 0 w 1292081"/>
                <a:gd name="connsiteY1" fmla="*/ 0 h 3321508"/>
                <a:gd name="connsiteX2" fmla="*/ 0 w 1292081"/>
                <a:gd name="connsiteY2" fmla="*/ 3196522 h 3321508"/>
                <a:gd name="connsiteX3" fmla="*/ 61952 w 1292081"/>
                <a:gd name="connsiteY3" fmla="*/ 3234571 h 3321508"/>
                <a:gd name="connsiteX4" fmla="*/ 864027 w 1292081"/>
                <a:gd name="connsiteY4" fmla="*/ 3207246 h 3321508"/>
                <a:gd name="connsiteX5" fmla="*/ 1177816 w 1292081"/>
                <a:gd name="connsiteY5" fmla="*/ 2040178 h 332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2081" h="3321508">
                  <a:moveTo>
                    <a:pt x="2256" y="0"/>
                  </a:moveTo>
                  <a:lnTo>
                    <a:pt x="0" y="0"/>
                  </a:lnTo>
                  <a:lnTo>
                    <a:pt x="0" y="3196522"/>
                  </a:lnTo>
                  <a:lnTo>
                    <a:pt x="61952" y="3234571"/>
                  </a:lnTo>
                  <a:cubicBezTo>
                    <a:pt x="308499" y="3354857"/>
                    <a:pt x="608448" y="3354511"/>
                    <a:pt x="864027" y="3207246"/>
                  </a:cubicBezTo>
                  <a:cubicBezTo>
                    <a:pt x="1272954" y="2971617"/>
                    <a:pt x="1413444" y="2449103"/>
                    <a:pt x="1177816" y="2040178"/>
                  </a:cubicBezTo>
                  <a:close/>
                </a:path>
              </a:pathLst>
            </a:custGeom>
            <a:gradFill>
              <a:gsLst>
                <a:gs pos="0">
                  <a:schemeClr val="accent1">
                    <a:lumMod val="60000"/>
                    <a:lumOff val="40000"/>
                    <a:alpha val="0"/>
                  </a:schemeClr>
                </a:gs>
                <a:gs pos="100000">
                  <a:schemeClr val="accent1">
                    <a:lumMod val="60000"/>
                    <a:lumOff val="40000"/>
                    <a:alpha val="5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4">
              <a:extLst>
                <a:ext uri="{FF2B5EF4-FFF2-40B4-BE49-F238E27FC236}">
                  <a16:creationId xmlns:a16="http://schemas.microsoft.com/office/drawing/2014/main" id="{B426902E-DB77-9A2F-1ABD-50AC79212BA8}"/>
                </a:ext>
              </a:extLst>
            </p:cNvPr>
            <p:cNvSpPr/>
            <p:nvPr/>
          </p:nvSpPr>
          <p:spPr>
            <a:xfrm>
              <a:off x="-6348" y="734852"/>
              <a:ext cx="6409743" cy="6123146"/>
            </a:xfrm>
            <a:custGeom>
              <a:avLst/>
              <a:gdLst>
                <a:gd name="connsiteX0" fmla="*/ 3647426 w 6409743"/>
                <a:gd name="connsiteY0" fmla="*/ 2380 h 6123146"/>
                <a:gd name="connsiteX1" fmla="*/ 5005037 w 6409743"/>
                <a:gd name="connsiteY1" fmla="*/ 407965 h 6123146"/>
                <a:gd name="connsiteX2" fmla="*/ 6001779 w 6409743"/>
                <a:gd name="connsiteY2" fmla="*/ 4359418 h 6123146"/>
                <a:gd name="connsiteX3" fmla="*/ 4948606 w 6409743"/>
                <a:gd name="connsiteY3" fmla="*/ 6123146 h 6123146"/>
                <a:gd name="connsiteX4" fmla="*/ 0 w 6409743"/>
                <a:gd name="connsiteY4" fmla="*/ 6123146 h 6123146"/>
                <a:gd name="connsiteX5" fmla="*/ 0 w 6409743"/>
                <a:gd name="connsiteY5" fmla="*/ 3169122 h 6123146"/>
                <a:gd name="connsiteX6" fmla="*/ 1053583 w 6409743"/>
                <a:gd name="connsiteY6" fmla="*/ 1404707 h 6123146"/>
                <a:gd name="connsiteX7" fmla="*/ 3647426 w 6409743"/>
                <a:gd name="connsiteY7" fmla="*/ 2380 h 61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9743" h="6123146">
                  <a:moveTo>
                    <a:pt x="3647426" y="2380"/>
                  </a:moveTo>
                  <a:cubicBezTo>
                    <a:pt x="4111705" y="21274"/>
                    <a:pt x="4578035" y="152990"/>
                    <a:pt x="5005037" y="407965"/>
                  </a:cubicBezTo>
                  <a:cubicBezTo>
                    <a:pt x="6371443" y="1223886"/>
                    <a:pt x="6817700" y="2993012"/>
                    <a:pt x="6001779" y="4359418"/>
                  </a:cubicBezTo>
                  <a:lnTo>
                    <a:pt x="4948606" y="6123146"/>
                  </a:lnTo>
                  <a:lnTo>
                    <a:pt x="0" y="6123146"/>
                  </a:lnTo>
                  <a:lnTo>
                    <a:pt x="0" y="3169122"/>
                  </a:lnTo>
                  <a:lnTo>
                    <a:pt x="1053583" y="1404707"/>
                  </a:lnTo>
                  <a:cubicBezTo>
                    <a:pt x="1614529" y="465303"/>
                    <a:pt x="2626013" y="-39187"/>
                    <a:pt x="3647426" y="2380"/>
                  </a:cubicBezTo>
                  <a:close/>
                </a:path>
              </a:pathLst>
            </a:custGeom>
            <a:blipFill rotWithShape="0">
              <a:blip r:embed="rId2"/>
              <a:srcRect/>
              <a:stretch>
                <a:fillRect l="-7760" r="-62700"/>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p>
          </p:txBody>
        </p:sp>
        <p:sp>
          <p:nvSpPr>
            <p:cNvPr id="8" name="Freeform: Shape 7">
              <a:extLst>
                <a:ext uri="{FF2B5EF4-FFF2-40B4-BE49-F238E27FC236}">
                  <a16:creationId xmlns:a16="http://schemas.microsoft.com/office/drawing/2014/main" id="{594DB486-DFA9-129E-625C-9956A92B550F}"/>
                </a:ext>
              </a:extLst>
            </p:cNvPr>
            <p:cNvSpPr/>
            <p:nvPr/>
          </p:nvSpPr>
          <p:spPr>
            <a:xfrm flipV="1">
              <a:off x="4474671" y="4940986"/>
              <a:ext cx="1821961" cy="1917014"/>
            </a:xfrm>
            <a:custGeom>
              <a:avLst/>
              <a:gdLst>
                <a:gd name="connsiteX0" fmla="*/ 0 w 1821961"/>
                <a:gd name="connsiteY0" fmla="*/ 0 h 1917014"/>
                <a:gd name="connsiteX1" fmla="*/ 1049351 w 1821961"/>
                <a:gd name="connsiteY1" fmla="*/ 0 h 1917014"/>
                <a:gd name="connsiteX2" fmla="*/ 1761174 w 1821961"/>
                <a:gd name="connsiteY2" fmla="*/ 1235365 h 1917014"/>
                <a:gd name="connsiteX3" fmla="*/ 1594243 w 1821961"/>
                <a:gd name="connsiteY3" fmla="*/ 1856228 h 1917014"/>
                <a:gd name="connsiteX4" fmla="*/ 973380 w 1821961"/>
                <a:gd name="connsiteY4" fmla="*/ 1689296 h 1917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1961" h="1917014">
                  <a:moveTo>
                    <a:pt x="0" y="0"/>
                  </a:moveTo>
                  <a:lnTo>
                    <a:pt x="1049351" y="0"/>
                  </a:lnTo>
                  <a:lnTo>
                    <a:pt x="1761174" y="1235365"/>
                  </a:lnTo>
                  <a:cubicBezTo>
                    <a:pt x="1886525" y="1452907"/>
                    <a:pt x="1811786" y="1730877"/>
                    <a:pt x="1594243" y="1856228"/>
                  </a:cubicBezTo>
                  <a:cubicBezTo>
                    <a:pt x="1376700" y="1981577"/>
                    <a:pt x="1098731" y="1906838"/>
                    <a:pt x="973380" y="1689296"/>
                  </a:cubicBezTo>
                  <a:close/>
                </a:path>
              </a:pathLst>
            </a:custGeom>
            <a:gradFill>
              <a:gsLst>
                <a:gs pos="0">
                  <a:schemeClr val="accent1">
                    <a:lumMod val="60000"/>
                    <a:lumOff val="40000"/>
                  </a:schemeClr>
                </a:gs>
                <a:gs pos="100000">
                  <a:schemeClr val="accent1">
                    <a:lumMod val="60000"/>
                    <a:lumOff val="40000"/>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Freeform: Shape 21">
              <a:extLst>
                <a:ext uri="{FF2B5EF4-FFF2-40B4-BE49-F238E27FC236}">
                  <a16:creationId xmlns:a16="http://schemas.microsoft.com/office/drawing/2014/main" id="{AAB00EF2-5CDB-5F9D-1396-5A1C00277820}"/>
                </a:ext>
              </a:extLst>
            </p:cNvPr>
            <p:cNvSpPr/>
            <p:nvPr/>
          </p:nvSpPr>
          <p:spPr>
            <a:xfrm flipH="1">
              <a:off x="11070394" y="0"/>
              <a:ext cx="1121606" cy="1638251"/>
            </a:xfrm>
            <a:custGeom>
              <a:avLst/>
              <a:gdLst>
                <a:gd name="connsiteX0" fmla="*/ 461345 w 1121606"/>
                <a:gd name="connsiteY0" fmla="*/ 0 h 1638251"/>
                <a:gd name="connsiteX1" fmla="*/ 0 w 1121606"/>
                <a:gd name="connsiteY1" fmla="*/ 0 h 1638251"/>
                <a:gd name="connsiteX2" fmla="*/ 0 w 1121606"/>
                <a:gd name="connsiteY2" fmla="*/ 755659 h 1638251"/>
                <a:gd name="connsiteX3" fmla="*/ 396422 w 1121606"/>
                <a:gd name="connsiteY3" fmla="*/ 1443647 h 1638251"/>
                <a:gd name="connsiteX4" fmla="*/ 927002 w 1121606"/>
                <a:gd name="connsiteY4" fmla="*/ 1586304 h 1638251"/>
                <a:gd name="connsiteX5" fmla="*/ 1069658 w 1121606"/>
                <a:gd name="connsiteY5" fmla="*/ 1055724 h 163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606" h="1638251">
                  <a:moveTo>
                    <a:pt x="461345" y="0"/>
                  </a:moveTo>
                  <a:lnTo>
                    <a:pt x="0" y="0"/>
                  </a:lnTo>
                  <a:lnTo>
                    <a:pt x="0" y="755659"/>
                  </a:lnTo>
                  <a:lnTo>
                    <a:pt x="396422" y="1443647"/>
                  </a:lnTo>
                  <a:cubicBezTo>
                    <a:pt x="503545" y="1629555"/>
                    <a:pt x="741093" y="1693426"/>
                    <a:pt x="927002" y="1586304"/>
                  </a:cubicBezTo>
                  <a:cubicBezTo>
                    <a:pt x="1112911" y="1479181"/>
                    <a:pt x="1176781" y="1241632"/>
                    <a:pt x="1069658" y="1055724"/>
                  </a:cubicBezTo>
                  <a:close/>
                </a:path>
              </a:pathLst>
            </a:custGeom>
            <a:gradFill>
              <a:gsLst>
                <a:gs pos="0">
                  <a:schemeClr val="accent1">
                    <a:lumMod val="60000"/>
                    <a:lumOff val="40000"/>
                  </a:schemeClr>
                </a:gs>
                <a:gs pos="74000">
                  <a:schemeClr val="accent1">
                    <a:lumMod val="60000"/>
                    <a:lumOff val="40000"/>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Freeform: Shape 9">
              <a:extLst>
                <a:ext uri="{FF2B5EF4-FFF2-40B4-BE49-F238E27FC236}">
                  <a16:creationId xmlns:a16="http://schemas.microsoft.com/office/drawing/2014/main" id="{09A89E36-5C4B-F464-0413-9BF7751DD60C}"/>
                </a:ext>
              </a:extLst>
            </p:cNvPr>
            <p:cNvSpPr/>
            <p:nvPr/>
          </p:nvSpPr>
          <p:spPr>
            <a:xfrm flipV="1">
              <a:off x="11006208" y="901596"/>
              <a:ext cx="499600" cy="123970"/>
            </a:xfrm>
            <a:custGeom>
              <a:avLst/>
              <a:gdLst>
                <a:gd name="connsiteX0" fmla="*/ 1024709 w 1169852"/>
                <a:gd name="connsiteY0" fmla="*/ 0 h 290286"/>
                <a:gd name="connsiteX1" fmla="*/ 1169852 w 1169852"/>
                <a:gd name="connsiteY1" fmla="*/ 145143 h 290286"/>
                <a:gd name="connsiteX2" fmla="*/ 1024709 w 1169852"/>
                <a:gd name="connsiteY2" fmla="*/ 290286 h 290286"/>
                <a:gd name="connsiteX3" fmla="*/ 879566 w 1169852"/>
                <a:gd name="connsiteY3" fmla="*/ 145143 h 290286"/>
                <a:gd name="connsiteX4" fmla="*/ 1024709 w 1169852"/>
                <a:gd name="connsiteY4" fmla="*/ 0 h 290286"/>
                <a:gd name="connsiteX5" fmla="*/ 584926 w 1169852"/>
                <a:gd name="connsiteY5" fmla="*/ 0 h 290286"/>
                <a:gd name="connsiteX6" fmla="*/ 730069 w 1169852"/>
                <a:gd name="connsiteY6" fmla="*/ 145143 h 290286"/>
                <a:gd name="connsiteX7" fmla="*/ 584926 w 1169852"/>
                <a:gd name="connsiteY7" fmla="*/ 290286 h 290286"/>
                <a:gd name="connsiteX8" fmla="*/ 439783 w 1169852"/>
                <a:gd name="connsiteY8" fmla="*/ 145143 h 290286"/>
                <a:gd name="connsiteX9" fmla="*/ 584926 w 1169852"/>
                <a:gd name="connsiteY9" fmla="*/ 0 h 290286"/>
                <a:gd name="connsiteX10" fmla="*/ 145143 w 1169852"/>
                <a:gd name="connsiteY10" fmla="*/ 0 h 290286"/>
                <a:gd name="connsiteX11" fmla="*/ 290286 w 1169852"/>
                <a:gd name="connsiteY11" fmla="*/ 145143 h 290286"/>
                <a:gd name="connsiteX12" fmla="*/ 145143 w 1169852"/>
                <a:gd name="connsiteY12" fmla="*/ 290286 h 290286"/>
                <a:gd name="connsiteX13" fmla="*/ 0 w 1169852"/>
                <a:gd name="connsiteY13" fmla="*/ 145143 h 290286"/>
                <a:gd name="connsiteX14" fmla="*/ 145143 w 1169852"/>
                <a:gd name="connsiteY14" fmla="*/ 0 h 29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9852" h="290286">
                  <a:moveTo>
                    <a:pt x="1024709" y="0"/>
                  </a:moveTo>
                  <a:cubicBezTo>
                    <a:pt x="1104869" y="0"/>
                    <a:pt x="1169852" y="64983"/>
                    <a:pt x="1169852" y="145143"/>
                  </a:cubicBezTo>
                  <a:cubicBezTo>
                    <a:pt x="1169852" y="225303"/>
                    <a:pt x="1104869" y="290286"/>
                    <a:pt x="1024709" y="290286"/>
                  </a:cubicBezTo>
                  <a:cubicBezTo>
                    <a:pt x="944549" y="290286"/>
                    <a:pt x="879566" y="225303"/>
                    <a:pt x="879566" y="145143"/>
                  </a:cubicBezTo>
                  <a:cubicBezTo>
                    <a:pt x="879566" y="64983"/>
                    <a:pt x="944549" y="0"/>
                    <a:pt x="1024709" y="0"/>
                  </a:cubicBezTo>
                  <a:close/>
                  <a:moveTo>
                    <a:pt x="584926" y="0"/>
                  </a:moveTo>
                  <a:cubicBezTo>
                    <a:pt x="665086" y="0"/>
                    <a:pt x="730069" y="64983"/>
                    <a:pt x="730069" y="145143"/>
                  </a:cubicBezTo>
                  <a:cubicBezTo>
                    <a:pt x="730069" y="225303"/>
                    <a:pt x="665086" y="290286"/>
                    <a:pt x="584926" y="290286"/>
                  </a:cubicBezTo>
                  <a:cubicBezTo>
                    <a:pt x="504766" y="290286"/>
                    <a:pt x="439783" y="225303"/>
                    <a:pt x="439783" y="145143"/>
                  </a:cubicBezTo>
                  <a:cubicBezTo>
                    <a:pt x="439783" y="64983"/>
                    <a:pt x="504766" y="0"/>
                    <a:pt x="584926" y="0"/>
                  </a:cubicBezTo>
                  <a:close/>
                  <a:moveTo>
                    <a:pt x="145143" y="0"/>
                  </a:moveTo>
                  <a:cubicBezTo>
                    <a:pt x="225303" y="0"/>
                    <a:pt x="290286" y="64983"/>
                    <a:pt x="290286" y="145143"/>
                  </a:cubicBezTo>
                  <a:cubicBezTo>
                    <a:pt x="290286" y="225303"/>
                    <a:pt x="225303" y="290286"/>
                    <a:pt x="145143" y="290286"/>
                  </a:cubicBezTo>
                  <a:cubicBezTo>
                    <a:pt x="64983" y="290286"/>
                    <a:pt x="0" y="225303"/>
                    <a:pt x="0" y="145143"/>
                  </a:cubicBezTo>
                  <a:cubicBezTo>
                    <a:pt x="0" y="64983"/>
                    <a:pt x="64983" y="0"/>
                    <a:pt x="145143" y="0"/>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Title 4"/>
          <p:cNvSpPr>
            <a:spLocks noGrp="1"/>
          </p:cNvSpPr>
          <p:nvPr>
            <p:ph type="ctrTitle" hasCustomPrompt="1"/>
          </p:nvPr>
        </p:nvSpPr>
        <p:spPr>
          <a:xfrm>
            <a:off x="6633029" y="1089025"/>
            <a:ext cx="4885871" cy="2644870"/>
          </a:xfrm>
          <a:prstGeom prst="rect">
            <a:avLst/>
          </a:prstGeom>
        </p:spPr>
        <p:txBody>
          <a:bodyPr wrap="square" anchor="b">
            <a:normAutofit/>
          </a:bodyPr>
          <a:lstStyle>
            <a:lvl1pPr algn="l">
              <a:lnSpc>
                <a:spcPct val="100000"/>
              </a:lnSpc>
              <a:defRPr sz="4400">
                <a:ln w="19050">
                  <a:noFill/>
                </a:ln>
                <a:solidFill>
                  <a:schemeClr val="tx1"/>
                </a:solidFill>
              </a:defRPr>
            </a:lvl1pPr>
          </a:lstStyle>
          <a:p>
            <a:pPr lvl="0"/>
            <a:r>
              <a:rPr lang="en-US" dirty="0"/>
              <a:t>Click to add title</a:t>
            </a:r>
          </a:p>
        </p:txBody>
      </p:sp>
      <p:sp>
        <p:nvSpPr>
          <p:cNvPr id="4" name="Text Placeholder 3"/>
          <p:cNvSpPr>
            <a:spLocks noGrp="1"/>
          </p:cNvSpPr>
          <p:nvPr>
            <p:ph type="body" sz="quarter" idx="13" hasCustomPrompt="1"/>
          </p:nvPr>
        </p:nvSpPr>
        <p:spPr>
          <a:xfrm>
            <a:off x="6632372" y="5857101"/>
            <a:ext cx="4873436" cy="276999"/>
          </a:xfrm>
          <a:prstGeom prst="rect">
            <a:avLst/>
          </a:prstGeom>
        </p:spPr>
        <p:txBody>
          <a:bodyPr wrap="square" lIns="90000">
            <a:normAutofit/>
          </a:bodyPr>
          <a:lstStyle>
            <a:lvl1pPr marL="0" indent="0" algn="l">
              <a:lnSpc>
                <a:spcPct val="100000"/>
              </a:lnSpc>
              <a:buNone/>
              <a:defRPr sz="1200">
                <a:solidFill>
                  <a:schemeClr val="tx1"/>
                </a:solidFill>
              </a:defRPr>
            </a:lvl1pPr>
          </a:lstStyle>
          <a:p>
            <a:pPr lvl="0"/>
            <a:r>
              <a:rPr lang="en-US" dirty="0"/>
              <a:t>Presenter name</a:t>
            </a:r>
          </a:p>
        </p:txBody>
      </p:sp>
      <p:sp>
        <p:nvSpPr>
          <p:cNvPr id="7" name="Text Placeholder 6"/>
          <p:cNvSpPr>
            <a:spLocks noGrp="1"/>
          </p:cNvSpPr>
          <p:nvPr>
            <p:ph type="body" sz="quarter" idx="14" hasCustomPrompt="1"/>
          </p:nvPr>
        </p:nvSpPr>
        <p:spPr>
          <a:xfrm>
            <a:off x="6632726" y="5588772"/>
            <a:ext cx="4880141" cy="276999"/>
          </a:xfrm>
          <a:prstGeom prst="rect">
            <a:avLst/>
          </a:prstGeom>
        </p:spPr>
        <p:txBody>
          <a:bodyPr wrap="none">
            <a:normAutofit/>
          </a:bodyPr>
          <a:lstStyle>
            <a:lvl1pPr marL="0" indent="0" algn="l">
              <a:lnSpc>
                <a:spcPct val="100000"/>
              </a:lnSpc>
              <a:buNone/>
              <a:defRPr sz="1200">
                <a:solidFill>
                  <a:schemeClr val="tx1"/>
                </a:solidFill>
              </a:defRPr>
            </a:lvl1pPr>
          </a:lstStyle>
          <a:p>
            <a:pPr lvl="0"/>
            <a:r>
              <a:rPr lang="en-US" dirty="0"/>
              <a:t>www.officeplus.cn</a:t>
            </a:r>
          </a:p>
        </p:txBody>
      </p:sp>
    </p:spTree>
    <p:extLst>
      <p:ext uri="{BB962C8B-B14F-4D97-AF65-F5344CB8AC3E}">
        <p14:creationId xmlns:p14="http://schemas.microsoft.com/office/powerpoint/2010/main" val="14881865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dirty="0"/>
              <a:t>Click to </a:t>
            </a:r>
            <a:r>
              <a:rPr lang="en-US" altLang="zh-CN" dirty="0"/>
              <a:t>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fld id="{E68AEBC5-1D0D-411D-9EE3-C6F41EFD080C}" type="datetime1">
              <a:rPr lang="zh-CN" altLang="en-US" smtClean="0"/>
              <a:t>2026/1/10</a:t>
            </a:fld>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OfficePLUS</a:t>
            </a:r>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Lst>
  <p:hf sldNum="0"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5.xml"/><Relationship Id="rId3" Type="http://schemas.openxmlformats.org/officeDocument/2006/relationships/tags" Target="../tags/tag8.xml"/><Relationship Id="rId7" Type="http://schemas.openxmlformats.org/officeDocument/2006/relationships/tags" Target="../tags/tag1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6.png"/><Relationship Id="rId4"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24.png"/><Relationship Id="rId2" Type="http://schemas.openxmlformats.org/officeDocument/2006/relationships/slideLayout" Target="../slideLayouts/slideLayout5.xml"/><Relationship Id="rId1" Type="http://schemas.openxmlformats.org/officeDocument/2006/relationships/tags" Target="../tags/tag2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11.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slideLayout" Target="../slideLayouts/slideLayout5.xml"/><Relationship Id="rId1" Type="http://schemas.openxmlformats.org/officeDocument/2006/relationships/tags" Target="../tags/tag2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12.xml"/><Relationship Id="rId7" Type="http://schemas.openxmlformats.org/officeDocument/2006/relationships/image" Target="../media/image37.png"/><Relationship Id="rId2" Type="http://schemas.openxmlformats.org/officeDocument/2006/relationships/slideLayout" Target="../slideLayouts/slideLayout5.xml"/><Relationship Id="rId1" Type="http://schemas.openxmlformats.org/officeDocument/2006/relationships/tags" Target="../tags/tag2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26" Type="http://schemas.openxmlformats.org/officeDocument/2006/relationships/image" Target="../media/image62.svg"/><Relationship Id="rId3" Type="http://schemas.openxmlformats.org/officeDocument/2006/relationships/notesSlide" Target="../notesSlides/notesSlide13.xml"/><Relationship Id="rId21" Type="http://schemas.openxmlformats.org/officeDocument/2006/relationships/image" Target="../media/image57.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5" Type="http://schemas.openxmlformats.org/officeDocument/2006/relationships/image" Target="../media/image61.png"/><Relationship Id="rId2" Type="http://schemas.openxmlformats.org/officeDocument/2006/relationships/slideLayout" Target="../slideLayouts/slideLayout6.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tags" Target="../tags/tag24.xml"/><Relationship Id="rId6" Type="http://schemas.openxmlformats.org/officeDocument/2006/relationships/image" Target="../media/image42.png"/><Relationship Id="rId11" Type="http://schemas.openxmlformats.org/officeDocument/2006/relationships/image" Target="../media/image47.png"/><Relationship Id="rId24" Type="http://schemas.openxmlformats.org/officeDocument/2006/relationships/image" Target="../media/image60.png"/><Relationship Id="rId5" Type="http://schemas.openxmlformats.org/officeDocument/2006/relationships/image" Target="../media/image41.png"/><Relationship Id="rId15" Type="http://schemas.openxmlformats.org/officeDocument/2006/relationships/image" Target="../media/image51.png"/><Relationship Id="rId23" Type="http://schemas.openxmlformats.org/officeDocument/2006/relationships/image" Target="../media/image59.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5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19.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notesSlide" Target="../notesSlides/notesSlide14.xml"/><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slideLayout" Target="../slideLayouts/slideLayout5.xml"/><Relationship Id="rId1" Type="http://schemas.openxmlformats.org/officeDocument/2006/relationships/tags" Target="../tags/tag26.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2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slideLayout" Target="../slideLayouts/slideLayout5.xml"/><Relationship Id="rId1" Type="http://schemas.openxmlformats.org/officeDocument/2006/relationships/tags" Target="../tags/tag27.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2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17" Type="http://schemas.openxmlformats.org/officeDocument/2006/relationships/image" Target="../media/image98.png"/><Relationship Id="rId2" Type="http://schemas.openxmlformats.org/officeDocument/2006/relationships/notesSlide" Target="../notesSlides/notesSlide15.xml"/><Relationship Id="rId16" Type="http://schemas.openxmlformats.org/officeDocument/2006/relationships/image" Target="../media/image97.png"/><Relationship Id="rId1" Type="http://schemas.openxmlformats.org/officeDocument/2006/relationships/slideLayout" Target="../slideLayouts/slideLayout6.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5" Type="http://schemas.openxmlformats.org/officeDocument/2006/relationships/image" Target="../media/image9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0.png"/></Relationships>
</file>

<file path=ppt/slides/_rels/slide2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0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5376671" y="1133856"/>
            <a:ext cx="7050533" cy="1540142"/>
          </a:xfrm>
        </p:spPr>
        <p:txBody>
          <a:bodyPr wrap="square">
            <a:normAutofit/>
          </a:bodyPr>
          <a:lstStyle/>
          <a:p>
            <a:pPr lvl="0" algn="ctr">
              <a:lnSpc>
                <a:spcPct val="119975"/>
              </a:lnSpc>
              <a:spcBef>
                <a:spcPts val="0"/>
              </a:spcBef>
            </a:pPr>
            <a:r>
              <a:rPr lang="zh-CN" altLang="en-US" sz="4000" b="0" dirty="0">
                <a:solidFill>
                  <a:srgbClr val="FFFFFF"/>
                </a:solidFill>
                <a:latin typeface="Arial" panose="020B0604020202020204" pitchFamily="34" charset="0"/>
                <a:ea typeface="微软雅黑" panose="020B0503020204020204" pitchFamily="34" charset="-122"/>
                <a:cs typeface="Inter ExtraBold"/>
                <a:sym typeface="Inter ExtraBold"/>
              </a:rPr>
              <a:t>基于大数据技术的个化</a:t>
            </a:r>
            <a:br>
              <a:rPr lang="zh-CN" altLang="en-US" sz="4000" b="0" dirty="0">
                <a:solidFill>
                  <a:schemeClr val="dk1"/>
                </a:solidFill>
                <a:latin typeface="Arial" panose="020B0604020202020204" pitchFamily="34" charset="0"/>
                <a:ea typeface="微软雅黑" panose="020B0503020204020204" pitchFamily="34" charset="-122"/>
                <a:cs typeface="Calibri"/>
                <a:sym typeface="Calibri"/>
              </a:rPr>
            </a:br>
            <a:r>
              <a:rPr lang="zh-CN" altLang="en-US" sz="4000" b="0" dirty="0">
                <a:solidFill>
                  <a:srgbClr val="FFFFFF"/>
                </a:solidFill>
                <a:latin typeface="Arial" panose="020B0604020202020204" pitchFamily="34" charset="0"/>
                <a:ea typeface="微软雅黑" panose="020B0503020204020204" pitchFamily="34" charset="-122"/>
                <a:cs typeface="Inter ExtraBold"/>
                <a:sym typeface="Inter ExtraBold"/>
              </a:rPr>
              <a:t>音乐推荐系统设计与实现</a:t>
            </a:r>
            <a:endParaRPr lang="zh-CN" altLang="en-US" sz="4000" dirty="0">
              <a:latin typeface="Arial" panose="020B0604020202020204" pitchFamily="34" charset="0"/>
              <a:ea typeface="微软雅黑" panose="020B0503020204020204" pitchFamily="34" charset="-122"/>
            </a:endParaRPr>
          </a:p>
        </p:txBody>
      </p:sp>
      <p:sp>
        <p:nvSpPr>
          <p:cNvPr id="9" name="Subtitle 8"/>
          <p:cNvSpPr>
            <a:spLocks noGrp="1"/>
          </p:cNvSpPr>
          <p:nvPr>
            <p:ph type="subTitle" sz="quarter" idx="1"/>
          </p:nvPr>
        </p:nvSpPr>
        <p:spPr>
          <a:xfrm>
            <a:off x="6430107" y="3070409"/>
            <a:ext cx="2753081" cy="416736"/>
          </a:xfrm>
        </p:spPr>
        <p:txBody>
          <a:bodyPr wrap="square">
            <a:normAutofit/>
          </a:bodyPr>
          <a:lstStyle/>
          <a:p>
            <a:pPr lvl="0"/>
            <a:r>
              <a:rPr lang="zh-CN" altLang="en-US" sz="1600" dirty="0"/>
              <a:t>汇报人（</a:t>
            </a:r>
            <a:r>
              <a:rPr lang="en-US" altLang="zh-CN" sz="1600" dirty="0">
                <a:latin typeface="+mn-ea"/>
              </a:rPr>
              <a:t>PRESENTER</a:t>
            </a:r>
            <a:r>
              <a:rPr lang="zh-CN" altLang="en-US" sz="1600" dirty="0"/>
              <a:t>）</a:t>
            </a:r>
          </a:p>
        </p:txBody>
      </p:sp>
      <p:sp>
        <p:nvSpPr>
          <p:cNvPr id="12" name="Subtitle 8">
            <a:extLst>
              <a:ext uri="{FF2B5EF4-FFF2-40B4-BE49-F238E27FC236}">
                <a16:creationId xmlns:a16="http://schemas.microsoft.com/office/drawing/2014/main" id="{C47C8992-CD07-791A-2BDC-CF5C95F8EC71}"/>
              </a:ext>
            </a:extLst>
          </p:cNvPr>
          <p:cNvSpPr txBox="1">
            <a:spLocks/>
          </p:cNvSpPr>
          <p:nvPr/>
        </p:nvSpPr>
        <p:spPr>
          <a:xfrm>
            <a:off x="9183188" y="3070409"/>
            <a:ext cx="2753081" cy="416736"/>
          </a:xfrm>
          <a:prstGeom prst="roundRect">
            <a:avLst>
              <a:gd name="adj" fmla="val 0"/>
            </a:avLst>
          </a:prstGeom>
          <a:noFill/>
          <a:ln>
            <a:noFill/>
          </a:ln>
        </p:spPr>
        <p:txBody>
          <a:bodyPr vert="horz" wrap="square" lIns="91440" tIns="45720" rIns="91440" bIns="45720" rtlCol="0" anchor="t" anchorCtr="0">
            <a:normAutofit/>
          </a:bodyPr>
          <a:lstStyle>
            <a:lvl1pPr marL="0" indent="0" algn="l" defTabSz="914400" rtl="0" eaLnBrk="1" latinLnBrk="0" hangingPunct="1">
              <a:lnSpc>
                <a:spcPct val="100000"/>
              </a:lnSpc>
              <a:spcBef>
                <a:spcPts val="1000"/>
              </a:spcBef>
              <a:buFont typeface="Arial" panose="020B0604020202020204" pitchFamily="34" charset="0"/>
              <a:buNone/>
              <a:defRPr lang="en-US" sz="2000" kern="1200" dirty="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a:latin typeface="+mn-ea"/>
              </a:rPr>
              <a:t>指导老师（</a:t>
            </a:r>
            <a:r>
              <a:rPr lang="en-US" altLang="zh-CN" sz="1600" dirty="0">
                <a:latin typeface="+mn-ea"/>
              </a:rPr>
              <a:t>SUPERVISOR</a:t>
            </a:r>
            <a:r>
              <a:rPr lang="zh-CN" altLang="en-US" sz="1600" dirty="0">
                <a:latin typeface="+mn-ea"/>
              </a:rPr>
              <a:t>）</a:t>
            </a:r>
            <a:endParaRPr lang="en-US" altLang="zh-CN" sz="1600" dirty="0">
              <a:latin typeface="+mn-ea"/>
            </a:endParaRPr>
          </a:p>
        </p:txBody>
      </p:sp>
      <p:cxnSp>
        <p:nvCxnSpPr>
          <p:cNvPr id="14" name="直接连接符 13">
            <a:extLst>
              <a:ext uri="{FF2B5EF4-FFF2-40B4-BE49-F238E27FC236}">
                <a16:creationId xmlns:a16="http://schemas.microsoft.com/office/drawing/2014/main" id="{0483AA01-B41E-E8E5-F1F4-929C25F49BC3}"/>
              </a:ext>
            </a:extLst>
          </p:cNvPr>
          <p:cNvCxnSpPr>
            <a:cxnSpLocks/>
          </p:cNvCxnSpPr>
          <p:nvPr/>
        </p:nvCxnSpPr>
        <p:spPr>
          <a:xfrm>
            <a:off x="8888874" y="3070409"/>
            <a:ext cx="0" cy="35859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C6873FC3-6711-8491-0241-BA6202E8BB7A}"/>
              </a:ext>
            </a:extLst>
          </p:cNvPr>
          <p:cNvCxnSpPr>
            <a:cxnSpLocks/>
          </p:cNvCxnSpPr>
          <p:nvPr/>
        </p:nvCxnSpPr>
        <p:spPr>
          <a:xfrm>
            <a:off x="6163241" y="2804797"/>
            <a:ext cx="5593330" cy="0"/>
          </a:xfrm>
          <a:prstGeom prst="line">
            <a:avLst/>
          </a:prstGeom>
          <a:ln>
            <a:solidFill>
              <a:schemeClr val="tx1">
                <a:alpha val="50000"/>
              </a:schemeClr>
            </a:solidFill>
          </a:ln>
        </p:spPr>
        <p:style>
          <a:lnRef idx="1">
            <a:schemeClr val="dk1"/>
          </a:lnRef>
          <a:fillRef idx="0">
            <a:schemeClr val="dk1"/>
          </a:fillRef>
          <a:effectRef idx="0">
            <a:schemeClr val="dk1"/>
          </a:effectRef>
          <a:fontRef idx="minor">
            <a:schemeClr val="tx1"/>
          </a:fontRef>
        </p:style>
      </p:cxnSp>
      <p:sp>
        <p:nvSpPr>
          <p:cNvPr id="21" name="Subtitle 8">
            <a:extLst>
              <a:ext uri="{FF2B5EF4-FFF2-40B4-BE49-F238E27FC236}">
                <a16:creationId xmlns:a16="http://schemas.microsoft.com/office/drawing/2014/main" id="{93B41D23-F207-CE23-298F-B99AC4527B75}"/>
              </a:ext>
            </a:extLst>
          </p:cNvPr>
          <p:cNvSpPr txBox="1">
            <a:spLocks/>
          </p:cNvSpPr>
          <p:nvPr/>
        </p:nvSpPr>
        <p:spPr>
          <a:xfrm>
            <a:off x="6808930" y="3752756"/>
            <a:ext cx="1224727" cy="416736"/>
          </a:xfrm>
          <a:prstGeom prst="roundRect">
            <a:avLst>
              <a:gd name="adj" fmla="val 0"/>
            </a:avLst>
          </a:prstGeom>
          <a:noFill/>
          <a:ln>
            <a:noFill/>
          </a:ln>
        </p:spPr>
        <p:txBody>
          <a:bodyPr vert="horz" wrap="square" lIns="91440" tIns="45720" rIns="91440" bIns="45720" rtlCol="0" anchor="t" anchorCtr="0">
            <a:normAutofit/>
          </a:bodyPr>
          <a:lstStyle>
            <a:lvl1pPr marL="0" indent="0" algn="l" defTabSz="914400" rtl="0" eaLnBrk="1" latinLnBrk="0" hangingPunct="1">
              <a:lnSpc>
                <a:spcPct val="100000"/>
              </a:lnSpc>
              <a:spcBef>
                <a:spcPts val="1000"/>
              </a:spcBef>
              <a:buFont typeface="Arial" panose="020B0604020202020204" pitchFamily="34" charset="0"/>
              <a:buNone/>
              <a:defRPr lang="en-US" sz="2000" kern="1200" dirty="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卢伟军</a:t>
            </a:r>
            <a:endParaRPr lang="en-US" altLang="zh-CN" dirty="0"/>
          </a:p>
        </p:txBody>
      </p:sp>
      <p:sp>
        <p:nvSpPr>
          <p:cNvPr id="22" name="Subtitle 8">
            <a:extLst>
              <a:ext uri="{FF2B5EF4-FFF2-40B4-BE49-F238E27FC236}">
                <a16:creationId xmlns:a16="http://schemas.microsoft.com/office/drawing/2014/main" id="{13E5681F-9FAA-C43A-6C4C-BED31268EEBF}"/>
              </a:ext>
            </a:extLst>
          </p:cNvPr>
          <p:cNvSpPr txBox="1">
            <a:spLocks/>
          </p:cNvSpPr>
          <p:nvPr/>
        </p:nvSpPr>
        <p:spPr>
          <a:xfrm>
            <a:off x="9952724" y="3752756"/>
            <a:ext cx="1224727" cy="416736"/>
          </a:xfrm>
          <a:prstGeom prst="roundRect">
            <a:avLst>
              <a:gd name="adj" fmla="val 0"/>
            </a:avLst>
          </a:prstGeom>
          <a:noFill/>
          <a:ln>
            <a:noFill/>
          </a:ln>
        </p:spPr>
        <p:txBody>
          <a:bodyPr vert="horz" wrap="square" lIns="91440" tIns="45720" rIns="91440" bIns="45720" rtlCol="0" anchor="t" anchorCtr="0">
            <a:normAutofit/>
          </a:bodyPr>
          <a:lstStyle>
            <a:lvl1pPr marL="0" indent="0" algn="l" defTabSz="914400" rtl="0" eaLnBrk="1" latinLnBrk="0" hangingPunct="1">
              <a:lnSpc>
                <a:spcPct val="100000"/>
              </a:lnSpc>
              <a:spcBef>
                <a:spcPts val="1000"/>
              </a:spcBef>
              <a:buFont typeface="Arial" panose="020B0604020202020204" pitchFamily="34" charset="0"/>
              <a:buNone/>
              <a:defRPr lang="en-US" sz="2000" kern="1200" dirty="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王波</a:t>
            </a:r>
            <a:endParaRPr lang="en-US" altLang="zh-CN" dirty="0"/>
          </a:p>
        </p:txBody>
      </p:sp>
    </p:spTree>
    <p:custDataLst>
      <p:tags r:id="rId1"/>
    </p:custDataLst>
    <p:extLst>
      <p:ext uri="{BB962C8B-B14F-4D97-AF65-F5344CB8AC3E}">
        <p14:creationId xmlns:p14="http://schemas.microsoft.com/office/powerpoint/2010/main" val="1551984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12" name="图片 11">
            <a:extLst>
              <a:ext uri="{FF2B5EF4-FFF2-40B4-BE49-F238E27FC236}">
                <a16:creationId xmlns:a16="http://schemas.microsoft.com/office/drawing/2014/main" id="{90989E73-2FA3-FF8D-35F0-DA450878ADEB}"/>
              </a:ext>
            </a:extLst>
          </p:cNvPr>
          <p:cNvPicPr>
            <a:picLocks/>
          </p:cNvPicPr>
          <p:nvPr/>
        </p:nvPicPr>
        <p:blipFill>
          <a:blip r:embed="rId3">
            <a:alphaModFix amt="16000"/>
          </a:blip>
          <a:stretch>
            <a:fillRect/>
          </a:stretch>
        </p:blipFill>
        <p:spPr>
          <a:xfrm>
            <a:off x="0" y="1062317"/>
            <a:ext cx="12192000" cy="4860000"/>
          </a:xfrm>
          <a:prstGeom prst="rect">
            <a:avLst/>
          </a:prstGeom>
        </p:spPr>
      </p:pic>
      <p:sp>
        <p:nvSpPr>
          <p:cNvPr id="106" name="标题"/>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err="1">
                <a:latin typeface="微软雅黑" panose="020B0503020204020204" pitchFamily="34" charset="-122"/>
                <a:ea typeface="微软雅黑" panose="020B0503020204020204" pitchFamily="34" charset="-122"/>
                <a:cs typeface="Inter"/>
                <a:sym typeface="Inter"/>
              </a:rPr>
              <a:t>目录导航</a:t>
            </a:r>
            <a:endParaRPr dirty="0">
              <a:latin typeface="微软雅黑" panose="020B0503020204020204" pitchFamily="34" charset="-122"/>
              <a:ea typeface="微软雅黑" panose="020B0503020204020204" pitchFamily="34" charset="-122"/>
            </a:endParaRPr>
          </a:p>
        </p:txBody>
      </p:sp>
      <p:sp>
        <p:nvSpPr>
          <p:cNvPr id="107" name="细线"/>
          <p:cNvSpPr/>
          <p:nvPr/>
        </p:nvSpPr>
        <p:spPr>
          <a:xfrm>
            <a:off x="571500" y="1357609"/>
            <a:ext cx="11088000" cy="10800"/>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Calibri"/>
              <a:ea typeface="Calibri"/>
              <a:cs typeface="Calibri"/>
              <a:sym typeface="Calibri"/>
            </a:endParaRPr>
          </a:p>
        </p:txBody>
      </p:sp>
      <p:sp>
        <p:nvSpPr>
          <p:cNvPr id="108" name="Google Shape;108;p14"/>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矩形: 圆角 50">
            <a:extLst>
              <a:ext uri="{FF2B5EF4-FFF2-40B4-BE49-F238E27FC236}">
                <a16:creationId xmlns:a16="http://schemas.microsoft.com/office/drawing/2014/main" id="{A2D11988-6499-03C9-E76D-E3F5C5806C7A}"/>
              </a:ext>
            </a:extLst>
          </p:cNvPr>
          <p:cNvSpPr/>
          <p:nvPr/>
        </p:nvSpPr>
        <p:spPr>
          <a:xfrm>
            <a:off x="571500" y="191958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01  </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选题背景与意义</a:t>
            </a:r>
          </a:p>
        </p:txBody>
      </p:sp>
      <p:sp>
        <p:nvSpPr>
          <p:cNvPr id="3" name="矩形: 圆角 50">
            <a:extLst>
              <a:ext uri="{FF2B5EF4-FFF2-40B4-BE49-F238E27FC236}">
                <a16:creationId xmlns:a16="http://schemas.microsoft.com/office/drawing/2014/main" id="{664EB61B-AC60-04BE-B914-8C34EBDB2C28}"/>
              </a:ext>
            </a:extLst>
          </p:cNvPr>
          <p:cNvSpPr/>
          <p:nvPr/>
        </p:nvSpPr>
        <p:spPr>
          <a:xfrm>
            <a:off x="571499" y="304493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02  </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国内外研究现状</a:t>
            </a:r>
          </a:p>
        </p:txBody>
      </p:sp>
      <p:sp>
        <p:nvSpPr>
          <p:cNvPr id="4" name="矩形: 圆角 50">
            <a:extLst>
              <a:ext uri="{FF2B5EF4-FFF2-40B4-BE49-F238E27FC236}">
                <a16:creationId xmlns:a16="http://schemas.microsoft.com/office/drawing/2014/main" id="{72488401-3E91-B2DA-E773-7CD5B6A9FEB9}"/>
              </a:ext>
            </a:extLst>
          </p:cNvPr>
          <p:cNvSpPr/>
          <p:nvPr/>
        </p:nvSpPr>
        <p:spPr>
          <a:xfrm>
            <a:off x="571498" y="417027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03  </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研究目标与问题</a:t>
            </a:r>
          </a:p>
        </p:txBody>
      </p:sp>
      <p:sp>
        <p:nvSpPr>
          <p:cNvPr id="5" name="矩形: 圆角 50">
            <a:extLst>
              <a:ext uri="{FF2B5EF4-FFF2-40B4-BE49-F238E27FC236}">
                <a16:creationId xmlns:a16="http://schemas.microsoft.com/office/drawing/2014/main" id="{B72F8D58-B2D1-6972-69B3-17380E51292A}"/>
              </a:ext>
            </a:extLst>
          </p:cNvPr>
          <p:cNvSpPr/>
          <p:nvPr/>
        </p:nvSpPr>
        <p:spPr>
          <a:xfrm>
            <a:off x="571497" y="529562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04  </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技术路线与系统架构</a:t>
            </a:r>
          </a:p>
        </p:txBody>
      </p:sp>
      <p:sp>
        <p:nvSpPr>
          <p:cNvPr id="6" name="矩形: 圆角 50">
            <a:extLst>
              <a:ext uri="{FF2B5EF4-FFF2-40B4-BE49-F238E27FC236}">
                <a16:creationId xmlns:a16="http://schemas.microsoft.com/office/drawing/2014/main" id="{2CE7FCAC-70F4-DD3C-BF31-26112085B3C1}"/>
              </a:ext>
            </a:extLst>
          </p:cNvPr>
          <p:cNvSpPr/>
          <p:nvPr/>
        </p:nvSpPr>
        <p:spPr>
          <a:xfrm>
            <a:off x="6381750" y="191958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05  </a:t>
            </a:r>
            <a:r>
              <a:rPr lang="zh-CN" altLang="en-US" sz="2000" dirty="0">
                <a:solidFill>
                  <a:schemeClr val="bg1"/>
                </a:solidFill>
                <a:latin typeface="微软雅黑" panose="020B0503020204020204" pitchFamily="34" charset="-122"/>
                <a:ea typeface="微软雅黑" panose="020B0503020204020204" pitchFamily="34" charset="-122"/>
              </a:rPr>
              <a:t>预期成果与创新点</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圆角 50">
            <a:extLst>
              <a:ext uri="{FF2B5EF4-FFF2-40B4-BE49-F238E27FC236}">
                <a16:creationId xmlns:a16="http://schemas.microsoft.com/office/drawing/2014/main" id="{68CB2246-E0EE-E3B0-F0A9-AB558B3635E0}"/>
              </a:ext>
            </a:extLst>
          </p:cNvPr>
          <p:cNvSpPr/>
          <p:nvPr/>
        </p:nvSpPr>
        <p:spPr>
          <a:xfrm>
            <a:off x="6381750" y="304493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06  </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工作进度计划</a:t>
            </a:r>
          </a:p>
        </p:txBody>
      </p:sp>
      <p:sp>
        <p:nvSpPr>
          <p:cNvPr id="10" name="矩形: 圆角 50">
            <a:extLst>
              <a:ext uri="{FF2B5EF4-FFF2-40B4-BE49-F238E27FC236}">
                <a16:creationId xmlns:a16="http://schemas.microsoft.com/office/drawing/2014/main" id="{93EE86B9-9121-3A5A-6CBB-943CB49C566B}"/>
              </a:ext>
            </a:extLst>
          </p:cNvPr>
          <p:cNvSpPr/>
          <p:nvPr/>
        </p:nvSpPr>
        <p:spPr>
          <a:xfrm>
            <a:off x="6381750" y="418332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07  </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参考文献</a:t>
            </a:r>
          </a:p>
        </p:txBody>
      </p:sp>
      <p:sp>
        <p:nvSpPr>
          <p:cNvPr id="11" name="矩形: 圆角 50">
            <a:extLst>
              <a:ext uri="{FF2B5EF4-FFF2-40B4-BE49-F238E27FC236}">
                <a16:creationId xmlns:a16="http://schemas.microsoft.com/office/drawing/2014/main" id="{03D27900-9AEC-DF4D-71DC-CD86E0283209}"/>
              </a:ext>
            </a:extLst>
          </p:cNvPr>
          <p:cNvSpPr/>
          <p:nvPr/>
        </p:nvSpPr>
        <p:spPr>
          <a:xfrm>
            <a:off x="6372225" y="529562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08  </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致谢</a:t>
            </a:r>
            <a:r>
              <a:rPr lang="en-US" altLang="zh-CN"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&amp;</a:t>
            </a:r>
            <a:r>
              <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问答</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fontScale="90000"/>
          </a:bodyPr>
          <a:lstStyle/>
          <a:p>
            <a:pPr lvl="0"/>
            <a:r>
              <a:rPr lang="en-US" dirty="0">
                <a:latin typeface="+mn-ea"/>
                <a:ea typeface="+mn-ea"/>
              </a:rPr>
              <a:t>01.</a:t>
            </a:r>
            <a:r>
              <a:rPr lang="zh-CN" altLang="en-US" dirty="0">
                <a:latin typeface="+mn-ea"/>
                <a:ea typeface="+mn-ea"/>
              </a:rPr>
              <a:t>选题的背景与意义</a:t>
            </a:r>
            <a:endParaRPr lang="en-US" dirty="0">
              <a:latin typeface="+mn-ea"/>
              <a:ea typeface="+mn-ea"/>
            </a:endParaRPr>
          </a:p>
        </p:txBody>
      </p:sp>
    </p:spTree>
    <p:custDataLst>
      <p:tags r:id="rId1"/>
    </p:custDataLst>
    <p:extLst>
      <p:ext uri="{BB962C8B-B14F-4D97-AF65-F5344CB8AC3E}">
        <p14:creationId xmlns:p14="http://schemas.microsoft.com/office/powerpoint/2010/main" val="1847785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0" name="图片 9" descr="文本&#10;&#10;AI 生成的内容可能不正确。">
            <a:extLst>
              <a:ext uri="{FF2B5EF4-FFF2-40B4-BE49-F238E27FC236}">
                <a16:creationId xmlns:a16="http://schemas.microsoft.com/office/drawing/2014/main" id="{DCF0DB1F-8182-A79D-520B-0D062FCA219E}"/>
              </a:ext>
            </a:extLst>
          </p:cNvPr>
          <p:cNvPicPr>
            <a:picLocks noChangeAspect="1"/>
          </p:cNvPicPr>
          <p:nvPr/>
        </p:nvPicPr>
        <p:blipFill>
          <a:blip r:embed="rId3"/>
          <a:stretch>
            <a:fillRect/>
          </a:stretch>
        </p:blipFill>
        <p:spPr>
          <a:xfrm>
            <a:off x="14443" y="0"/>
            <a:ext cx="12163113" cy="6858000"/>
          </a:xfrm>
          <a:prstGeom prst="rect">
            <a:avLst/>
          </a:prstGeom>
        </p:spPr>
      </p:pic>
      <p:sp>
        <p:nvSpPr>
          <p:cNvPr id="127" name="Google Shape;127;p16"/>
          <p:cNvSpPr/>
          <p:nvPr/>
        </p:nvSpPr>
        <p:spPr>
          <a:xfrm>
            <a:off x="581025"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8" name="Google Shape;128;p16" descr="image.png"/>
          <p:cNvPicPr preferRelativeResize="0"/>
          <p:nvPr/>
        </p:nvPicPr>
        <p:blipFill rotWithShape="1">
          <a:blip r:embed="rId4">
            <a:alphaModFix/>
          </a:blip>
          <a:srcRect/>
          <a:stretch/>
        </p:blipFill>
        <p:spPr>
          <a:xfrm>
            <a:off x="866775" y="2889646"/>
            <a:ext cx="4814887" cy="419100"/>
          </a:xfrm>
          <a:prstGeom prst="rect">
            <a:avLst/>
          </a:prstGeom>
          <a:noFill/>
          <a:ln>
            <a:noFill/>
          </a:ln>
        </p:spPr>
      </p:pic>
      <p:sp>
        <p:nvSpPr>
          <p:cNvPr id="131" name="Google Shape;131;p16"/>
          <p:cNvSpPr/>
          <p:nvPr/>
        </p:nvSpPr>
        <p:spPr>
          <a:xfrm>
            <a:off x="6224587"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2" name="Google Shape;132;p16" descr="image.png"/>
          <p:cNvPicPr preferRelativeResize="0"/>
          <p:nvPr/>
        </p:nvPicPr>
        <p:blipFill rotWithShape="1">
          <a:blip r:embed="rId5">
            <a:alphaModFix/>
          </a:blip>
          <a:srcRect/>
          <a:stretch/>
        </p:blipFill>
        <p:spPr>
          <a:xfrm>
            <a:off x="6510337" y="2889646"/>
            <a:ext cx="4814887" cy="419100"/>
          </a:xfrm>
          <a:prstGeom prst="rect">
            <a:avLst/>
          </a:prstGeom>
          <a:noFill/>
          <a:ln>
            <a:noFill/>
          </a:ln>
        </p:spPr>
      </p:pic>
      <p:pic>
        <p:nvPicPr>
          <p:cNvPr id="134" name="Google Shape;134;p16" descr="image.png"/>
          <p:cNvPicPr preferRelativeResize="0"/>
          <p:nvPr/>
        </p:nvPicPr>
        <p:blipFill rotWithShape="1">
          <a:blip r:embed="rId6">
            <a:alphaModFix/>
          </a:blip>
          <a:srcRect/>
          <a:stretch/>
        </p:blipFill>
        <p:spPr>
          <a:xfrm>
            <a:off x="866775" y="2927746"/>
            <a:ext cx="428625" cy="342900"/>
          </a:xfrm>
          <a:prstGeom prst="rect">
            <a:avLst/>
          </a:prstGeom>
          <a:noFill/>
          <a:ln>
            <a:noFill/>
          </a:ln>
        </p:spPr>
      </p:pic>
      <p:pic>
        <p:nvPicPr>
          <p:cNvPr id="135" name="Google Shape;135;p16" descr="image.png"/>
          <p:cNvPicPr preferRelativeResize="0"/>
          <p:nvPr/>
        </p:nvPicPr>
        <p:blipFill rotWithShape="1">
          <a:blip r:embed="rId7">
            <a:alphaModFix/>
          </a:blip>
          <a:srcRect/>
          <a:stretch/>
        </p:blipFill>
        <p:spPr>
          <a:xfrm>
            <a:off x="6510337" y="2927746"/>
            <a:ext cx="342900" cy="342900"/>
          </a:xfrm>
          <a:prstGeom prst="rect">
            <a:avLst/>
          </a:prstGeom>
          <a:noFill/>
          <a:ln>
            <a:noFill/>
          </a:ln>
        </p:spPr>
      </p:pic>
      <p:sp>
        <p:nvSpPr>
          <p:cNvPr id="140" name="Google Shape;140;p16"/>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zh-CN" altLang="en-US" sz="2850" b="1" spc="1000" dirty="0">
                <a:latin typeface="Arial" panose="020B0604020202020204" pitchFamily="34" charset="0"/>
                <a:ea typeface="微软雅黑" panose="020B0503020204020204" pitchFamily="34" charset="-122"/>
              </a:rPr>
              <a:t>选题背景</a:t>
            </a:r>
            <a:endParaRPr sz="2850" b="1" spc="1000" dirty="0">
              <a:latin typeface="Arial" panose="020B0604020202020204" pitchFamily="34" charset="0"/>
              <a:ea typeface="微软雅黑" panose="020B0503020204020204" pitchFamily="34" charset="-122"/>
            </a:endParaRPr>
          </a:p>
        </p:txBody>
      </p:sp>
      <p:sp>
        <p:nvSpPr>
          <p:cNvPr id="141" name="Google Shape;141;p16"/>
          <p:cNvSpPr/>
          <p:nvPr/>
        </p:nvSpPr>
        <p:spPr>
          <a:xfrm>
            <a:off x="571500" y="1357610"/>
            <a:ext cx="110490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6"/>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4" name="组合 3">
            <a:extLst>
              <a:ext uri="{FF2B5EF4-FFF2-40B4-BE49-F238E27FC236}">
                <a16:creationId xmlns:a16="http://schemas.microsoft.com/office/drawing/2014/main" id="{263899C5-0B13-028F-6F67-1EF47232DEBA}"/>
              </a:ext>
            </a:extLst>
          </p:cNvPr>
          <p:cNvGrpSpPr/>
          <p:nvPr/>
        </p:nvGrpSpPr>
        <p:grpSpPr>
          <a:xfrm>
            <a:off x="514350" y="1574482"/>
            <a:ext cx="5405437" cy="2988766"/>
            <a:chOff x="542925" y="2618184"/>
            <a:chExt cx="5405437" cy="2988766"/>
          </a:xfrm>
        </p:grpSpPr>
        <p:pic>
          <p:nvPicPr>
            <p:cNvPr id="123" name="Google Shape;123;p16" descr="image.png"/>
            <p:cNvPicPr preferRelativeResize="0"/>
            <p:nvPr/>
          </p:nvPicPr>
          <p:blipFill rotWithShape="1">
            <a:blip r:embed="rId8">
              <a:alphaModFix/>
            </a:blip>
            <a:srcRect/>
            <a:stretch/>
          </p:blipFill>
          <p:spPr>
            <a:xfrm>
              <a:off x="542925" y="2618184"/>
              <a:ext cx="5405437" cy="2988766"/>
            </a:xfrm>
            <a:prstGeom prst="rect">
              <a:avLst/>
            </a:prstGeom>
            <a:noFill/>
            <a:ln>
              <a:noFill/>
            </a:ln>
          </p:spPr>
        </p:pic>
        <p:sp>
          <p:nvSpPr>
            <p:cNvPr id="129" name="Google Shape;129;p16"/>
            <p:cNvSpPr txBox="1"/>
            <p:nvPr/>
          </p:nvSpPr>
          <p:spPr>
            <a:xfrm>
              <a:off x="864156" y="2940842"/>
              <a:ext cx="5055631"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信息过载</a:t>
              </a:r>
              <a:endParaRPr dirty="0">
                <a:latin typeface="Arial" panose="020B0604020202020204" pitchFamily="34" charset="0"/>
                <a:ea typeface="微软雅黑" panose="020B0503020204020204" pitchFamily="34" charset="-122"/>
              </a:endParaRPr>
            </a:p>
          </p:txBody>
        </p:sp>
        <p:sp>
          <p:nvSpPr>
            <p:cNvPr id="130" name="Google Shape;130;p16"/>
            <p:cNvSpPr txBox="1"/>
            <p:nvPr/>
          </p:nvSpPr>
          <p:spPr>
            <a:xfrm>
              <a:off x="866775" y="3369873"/>
              <a:ext cx="4814887" cy="1731243"/>
            </a:xfrm>
            <a:prstGeom prst="rect">
              <a:avLst/>
            </a:prstGeom>
            <a:noFill/>
            <a:ln>
              <a:noFill/>
            </a:ln>
          </p:spPr>
          <p:txBody>
            <a:bodyPr spcFirstLastPara="1" wrap="square" lIns="0" tIns="0" rIns="0" bIns="0" anchor="t" anchorCtr="0">
              <a:spAutoFit/>
            </a:bodyPr>
            <a:lstStyle/>
            <a:p>
              <a:pPr lvl="0">
                <a:lnSpc>
                  <a:spcPct val="150000"/>
                </a:lnSpc>
              </a:pPr>
              <a:r>
                <a:rPr lang="en-US" sz="1500" b="1" dirty="0" err="1">
                  <a:solidFill>
                    <a:schemeClr val="bg1"/>
                  </a:solidFill>
                  <a:latin typeface="微软雅黑" panose="020B0503020204020204" pitchFamily="34" charset="-122"/>
                  <a:ea typeface="微软雅黑" panose="020B0503020204020204" pitchFamily="34" charset="-122"/>
                  <a:sym typeface="Inter"/>
                </a:rPr>
                <a:t>随着流媒体平台（如Spotify</a:t>
              </a:r>
              <a:r>
                <a:rPr lang="zh-CN" altLang="en-US" sz="1500" b="1" dirty="0">
                  <a:solidFill>
                    <a:schemeClr val="bg1"/>
                  </a:solidFill>
                  <a:latin typeface="微软雅黑" panose="020B0503020204020204" pitchFamily="34" charset="-122"/>
                  <a:ea typeface="微软雅黑" panose="020B0503020204020204" pitchFamily="34" charset="-122"/>
                  <a:sym typeface="Inter"/>
                </a:rPr>
                <a:t>、网易、汽水音乐、</a:t>
              </a:r>
              <a:r>
                <a:rPr lang="en-US" altLang="zh-CN" sz="1500" b="1" dirty="0">
                  <a:solidFill>
                    <a:schemeClr val="bg1"/>
                  </a:solidFill>
                  <a:latin typeface="微软雅黑" panose="020B0503020204020204" pitchFamily="34" charset="-122"/>
                  <a:ea typeface="微软雅黑" panose="020B0503020204020204" pitchFamily="34" charset="-122"/>
                  <a:sym typeface="Inter"/>
                </a:rPr>
                <a:t>QQ</a:t>
              </a:r>
              <a:r>
                <a:rPr lang="zh-CN" altLang="en-US" sz="1500" b="1" dirty="0">
                  <a:solidFill>
                    <a:schemeClr val="bg1"/>
                  </a:solidFill>
                  <a:latin typeface="微软雅黑" panose="020B0503020204020204" pitchFamily="34" charset="-122"/>
                  <a:ea typeface="微软雅黑" panose="020B0503020204020204" pitchFamily="34" charset="-122"/>
                  <a:sym typeface="Inter"/>
                </a:rPr>
                <a:t>音乐</a:t>
              </a:r>
              <a:r>
                <a:rPr lang="en-US" sz="1500" b="1" dirty="0">
                  <a:solidFill>
                    <a:schemeClr val="bg1"/>
                  </a:solidFill>
                  <a:latin typeface="微软雅黑" panose="020B0503020204020204" pitchFamily="34" charset="-122"/>
                  <a:ea typeface="微软雅黑" panose="020B0503020204020204" pitchFamily="34" charset="-122"/>
                  <a:sym typeface="Inter"/>
                </a:rPr>
                <a:t>）</a:t>
              </a:r>
              <a:r>
                <a:rPr lang="en-US" sz="15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的曲库达到千万级别，用户面临严重的“选择困难</a:t>
              </a:r>
              <a:r>
                <a:rPr lang="en-US" sz="15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a:t>
              </a:r>
              <a:r>
                <a:rPr lang="zh-CN" altLang="en-US" sz="15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，难以发现符合个人品味的新音乐，容易陷入听歌疲劳</a:t>
              </a:r>
              <a:r>
                <a:rPr lang="en-US" sz="15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a:t>
              </a:r>
              <a:r>
                <a:rPr lang="zh-CN" altLang="en-US" sz="1500" b="1" dirty="0">
                  <a:solidFill>
                    <a:schemeClr val="bg1"/>
                  </a:solidFill>
                  <a:latin typeface="微软雅黑" panose="020B0503020204020204" pitchFamily="34" charset="-122"/>
                  <a:ea typeface="微软雅黑" panose="020B0503020204020204" pitchFamily="34" charset="-122"/>
                </a:rPr>
                <a:t>如何从海量音乐库中精准定位用户兴趣，已成为提升用户粘性的核心竞争力。</a:t>
              </a:r>
              <a:endParaRPr sz="1500" b="1" dirty="0">
                <a:solidFill>
                  <a:schemeClr val="bg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254B59B-20A1-D19E-C6B6-B77D79B333B1}"/>
                </a:ext>
              </a:extLst>
            </p:cNvPr>
            <p:cNvSpPr txBox="1"/>
            <p:nvPr/>
          </p:nvSpPr>
          <p:spPr>
            <a:xfrm>
              <a:off x="781484" y="5156193"/>
              <a:ext cx="3877985" cy="369332"/>
            </a:xfrm>
            <a:prstGeom prst="rect">
              <a:avLst/>
            </a:prstGeom>
            <a:noFill/>
          </p:spPr>
          <p:txBody>
            <a:bodyPr wrap="none" rtlCol="0">
              <a:spAutoFit/>
            </a:bodyPr>
            <a:lstStyle/>
            <a:p>
              <a:r>
                <a:rPr lang="zh-CN" altLang="en-US" b="1" dirty="0">
                  <a:solidFill>
                    <a:srgbClr val="FF0000"/>
                  </a:solidFill>
                  <a:latin typeface="Arial" panose="020B0604020202020204" pitchFamily="34" charset="0"/>
                  <a:ea typeface="微软雅黑" panose="020B0503020204020204" pitchFamily="34" charset="-122"/>
                </a:rPr>
                <a:t>后果：</a:t>
              </a:r>
              <a:r>
                <a:rPr lang="zh-CN" altLang="en-US" b="1" dirty="0">
                  <a:solidFill>
                    <a:schemeClr val="bg1"/>
                  </a:solidFill>
                  <a:latin typeface="Arial" panose="020B0604020202020204" pitchFamily="34" charset="0"/>
                  <a:ea typeface="微软雅黑" panose="020B0503020204020204" pitchFamily="34" charset="-122"/>
                </a:rPr>
                <a:t>用户流失率增加、听歌疲劳。</a:t>
              </a:r>
            </a:p>
          </p:txBody>
        </p:sp>
      </p:grpSp>
      <p:grpSp>
        <p:nvGrpSpPr>
          <p:cNvPr id="5" name="组合 4">
            <a:extLst>
              <a:ext uri="{FF2B5EF4-FFF2-40B4-BE49-F238E27FC236}">
                <a16:creationId xmlns:a16="http://schemas.microsoft.com/office/drawing/2014/main" id="{C778DAD3-CA7F-4C82-BB69-BA86A79A2610}"/>
              </a:ext>
            </a:extLst>
          </p:cNvPr>
          <p:cNvGrpSpPr/>
          <p:nvPr/>
        </p:nvGrpSpPr>
        <p:grpSpPr>
          <a:xfrm>
            <a:off x="6096000" y="1574482"/>
            <a:ext cx="5405437" cy="2988766"/>
            <a:chOff x="6215062" y="2594371"/>
            <a:chExt cx="5405437" cy="2988766"/>
          </a:xfrm>
        </p:grpSpPr>
        <p:pic>
          <p:nvPicPr>
            <p:cNvPr id="124" name="Google Shape;124;p16" descr="image.png"/>
            <p:cNvPicPr preferRelativeResize="0"/>
            <p:nvPr/>
          </p:nvPicPr>
          <p:blipFill rotWithShape="1">
            <a:blip r:embed="rId9">
              <a:alphaModFix/>
            </a:blip>
            <a:srcRect/>
            <a:stretch/>
          </p:blipFill>
          <p:spPr>
            <a:xfrm>
              <a:off x="6215062" y="2594371"/>
              <a:ext cx="5405437" cy="2988766"/>
            </a:xfrm>
            <a:prstGeom prst="rect">
              <a:avLst/>
            </a:prstGeom>
            <a:noFill/>
            <a:ln>
              <a:noFill/>
            </a:ln>
          </p:spPr>
        </p:pic>
        <p:sp>
          <p:nvSpPr>
            <p:cNvPr id="133" name="Google Shape;133;p16"/>
            <p:cNvSpPr txBox="1"/>
            <p:nvPr/>
          </p:nvSpPr>
          <p:spPr>
            <a:xfrm>
              <a:off x="6629399" y="2951871"/>
              <a:ext cx="1138336"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技术瓶颈</a:t>
              </a:r>
              <a:endParaRPr dirty="0">
                <a:latin typeface="Arial" panose="020B0604020202020204" pitchFamily="34" charset="0"/>
                <a:ea typeface="微软雅黑" panose="020B0503020204020204" pitchFamily="34" charset="-122"/>
              </a:endParaRPr>
            </a:p>
          </p:txBody>
        </p:sp>
        <p:sp>
          <p:nvSpPr>
            <p:cNvPr id="137" name="Google Shape;137;p16"/>
            <p:cNvSpPr txBox="1"/>
            <p:nvPr/>
          </p:nvSpPr>
          <p:spPr>
            <a:xfrm>
              <a:off x="6700837" y="3424862"/>
              <a:ext cx="4624387" cy="738664"/>
            </a:xfrm>
            <a:prstGeom prst="rect">
              <a:avLst/>
            </a:prstGeom>
            <a:noFill/>
            <a:ln>
              <a:noFill/>
            </a:ln>
          </p:spPr>
          <p:txBody>
            <a:bodyPr spcFirstLastPara="1" wrap="square" lIns="104775" tIns="0" rIns="0" bIns="0" anchor="t" anchorCtr="0">
              <a:spAutoFit/>
            </a:bodyPr>
            <a:lstStyle/>
            <a:p>
              <a:pPr lvl="0">
                <a:lnSpc>
                  <a:spcPct val="159929"/>
                </a:lnSpc>
              </a:pPr>
              <a:r>
                <a:rPr lang="zh-CN" altLang="en-US" sz="1500" b="1" dirty="0">
                  <a:solidFill>
                    <a:schemeClr val="bg1"/>
                  </a:solidFill>
                  <a:latin typeface="微软雅黑" panose="020B0503020204020204" pitchFamily="34" charset="-122"/>
                  <a:ea typeface="微软雅黑" panose="020B0503020204020204" pitchFamily="34" charset="-122"/>
                  <a:sym typeface="Inter"/>
                </a:rPr>
                <a:t>技术侧</a:t>
              </a:r>
              <a:r>
                <a:rPr lang="en-US" sz="1500" b="1" dirty="0">
                  <a:solidFill>
                    <a:schemeClr val="bg1"/>
                  </a:solidFill>
                  <a:latin typeface="微软雅黑" panose="020B0503020204020204" pitchFamily="34" charset="-122"/>
                  <a:ea typeface="微软雅黑" panose="020B0503020204020204" pitchFamily="34" charset="-122"/>
                  <a:sym typeface="Inter"/>
                </a:rPr>
                <a:t>： </a:t>
              </a:r>
              <a:r>
                <a:rPr lang="en-US" sz="1500" b="1" dirty="0" err="1">
                  <a:solidFill>
                    <a:schemeClr val="bg1"/>
                  </a:solidFill>
                  <a:latin typeface="微软雅黑" panose="020B0503020204020204" pitchFamily="34" charset="-122"/>
                  <a:ea typeface="微软雅黑" panose="020B0503020204020204" pitchFamily="34" charset="-122"/>
                  <a:sym typeface="Inter"/>
                </a:rPr>
                <a:t>传统</a:t>
              </a:r>
              <a:r>
                <a:rPr lang="zh-CN" altLang="en-US" sz="1500" b="1" dirty="0">
                  <a:solidFill>
                    <a:schemeClr val="bg1"/>
                  </a:solidFill>
                  <a:latin typeface="微软雅黑" panose="020B0503020204020204" pitchFamily="34" charset="-122"/>
                  <a:ea typeface="微软雅黑" panose="020B0503020204020204" pitchFamily="34" charset="-122"/>
                  <a:sym typeface="Inter"/>
                </a:rPr>
                <a:t>的单机</a:t>
              </a:r>
              <a:r>
                <a:rPr lang="en-US" sz="1500" b="1" dirty="0" err="1">
                  <a:solidFill>
                    <a:schemeClr val="bg1"/>
                  </a:solidFill>
                  <a:latin typeface="微软雅黑" panose="020B0503020204020204" pitchFamily="34" charset="-122"/>
                  <a:ea typeface="微软雅黑" panose="020B0503020204020204" pitchFamily="34" charset="-122"/>
                  <a:sym typeface="Inter"/>
                </a:rPr>
                <a:t>算法</a:t>
              </a:r>
              <a:r>
                <a:rPr lang="zh-CN" altLang="en-US" sz="1500" b="1" dirty="0">
                  <a:solidFill>
                    <a:schemeClr val="bg1"/>
                  </a:solidFill>
                  <a:latin typeface="微软雅黑" panose="020B0503020204020204" pitchFamily="34" charset="-122"/>
                  <a:ea typeface="微软雅黑" panose="020B0503020204020204" pitchFamily="34" charset="-122"/>
                  <a:sym typeface="Inter"/>
                </a:rPr>
                <a:t>和早期的</a:t>
              </a:r>
              <a:r>
                <a:rPr lang="en-US" altLang="zh-CN" sz="1500" b="1" dirty="0" err="1">
                  <a:solidFill>
                    <a:schemeClr val="bg1"/>
                  </a:solidFill>
                  <a:latin typeface="微软雅黑" panose="020B0503020204020204" pitchFamily="34" charset="-122"/>
                  <a:ea typeface="微软雅黑" panose="020B0503020204020204" pitchFamily="34" charset="-122"/>
                  <a:sym typeface="Inter"/>
                </a:rPr>
                <a:t>协同过滤</a:t>
              </a:r>
              <a:r>
                <a:rPr lang="zh-CN" altLang="en-US" sz="1500" b="1" dirty="0">
                  <a:solidFill>
                    <a:schemeClr val="bg1"/>
                  </a:solidFill>
                  <a:latin typeface="微软雅黑" panose="020B0503020204020204" pitchFamily="34" charset="-122"/>
                  <a:ea typeface="微软雅黑" panose="020B0503020204020204" pitchFamily="34" charset="-122"/>
                  <a:sym typeface="Inter"/>
                </a:rPr>
                <a:t>算法，在处理</a:t>
              </a:r>
              <a:r>
                <a:rPr lang="en-US" sz="1500" b="1" dirty="0">
                  <a:solidFill>
                    <a:schemeClr val="bg1"/>
                  </a:solidFill>
                  <a:latin typeface="微软雅黑" panose="020B0503020204020204" pitchFamily="34" charset="-122"/>
                  <a:ea typeface="微软雅黑" panose="020B0503020204020204" pitchFamily="34" charset="-122"/>
                  <a:sym typeface="Inter"/>
                </a:rPr>
                <a:t>TB </a:t>
              </a:r>
              <a:r>
                <a:rPr lang="en-US" sz="1500" b="1" dirty="0" err="1">
                  <a:solidFill>
                    <a:schemeClr val="bg1"/>
                  </a:solidFill>
                  <a:latin typeface="微软雅黑" panose="020B0503020204020204" pitchFamily="34" charset="-122"/>
                  <a:ea typeface="微软雅黑" panose="020B0503020204020204" pitchFamily="34" charset="-122"/>
                  <a:sym typeface="Inter"/>
                </a:rPr>
                <a:t>级交互日志</a:t>
              </a:r>
              <a:r>
                <a:rPr lang="zh-CN" altLang="en-US" sz="1500" b="1" dirty="0">
                  <a:solidFill>
                    <a:schemeClr val="bg1"/>
                  </a:solidFill>
                  <a:latin typeface="微软雅黑" panose="020B0503020204020204" pitchFamily="34" charset="-122"/>
                  <a:ea typeface="微软雅黑" panose="020B0503020204020204" pitchFamily="34" charset="-122"/>
                  <a:sym typeface="Inter"/>
                </a:rPr>
                <a:t>时性能低下。</a:t>
              </a:r>
              <a:endParaRPr sz="1500" b="1" dirty="0">
                <a:solidFill>
                  <a:schemeClr val="bg1"/>
                </a:solidFill>
                <a:latin typeface="微软雅黑" panose="020B0503020204020204" pitchFamily="34" charset="-122"/>
                <a:ea typeface="微软雅黑" panose="020B0503020204020204" pitchFamily="34" charset="-122"/>
              </a:endParaRPr>
            </a:p>
          </p:txBody>
        </p:sp>
        <p:sp>
          <p:nvSpPr>
            <p:cNvPr id="139" name="Google Shape;139;p16"/>
            <p:cNvSpPr txBox="1"/>
            <p:nvPr/>
          </p:nvSpPr>
          <p:spPr>
            <a:xfrm>
              <a:off x="6691312" y="4289325"/>
              <a:ext cx="4624387" cy="738664"/>
            </a:xfrm>
            <a:prstGeom prst="rect">
              <a:avLst/>
            </a:prstGeom>
            <a:noFill/>
            <a:ln>
              <a:noFill/>
            </a:ln>
          </p:spPr>
          <p:txBody>
            <a:bodyPr spcFirstLastPara="1" wrap="square" lIns="104775" tIns="0" rIns="0" bIns="0" anchor="t" anchorCtr="0">
              <a:spAutoFit/>
            </a:bodyPr>
            <a:lstStyle/>
            <a:p>
              <a:pPr marL="0" marR="0" lvl="0" indent="0" algn="l" rtl="0">
                <a:lnSpc>
                  <a:spcPct val="159929"/>
                </a:lnSpc>
                <a:spcBef>
                  <a:spcPts val="0"/>
                </a:spcBef>
                <a:spcAft>
                  <a:spcPts val="0"/>
                </a:spcAft>
                <a:buNone/>
              </a:pPr>
              <a:r>
                <a:rPr lang="zh-CN" altLang="en-US" sz="1500" b="1" dirty="0">
                  <a:solidFill>
                    <a:schemeClr val="bg1"/>
                  </a:solidFill>
                  <a:latin typeface="微软雅黑" panose="020B0503020204020204" pitchFamily="34" charset="-122"/>
                  <a:ea typeface="微软雅黑" panose="020B0503020204020204" pitchFamily="34" charset="-122"/>
                  <a:sym typeface="Inter"/>
                </a:rPr>
                <a:t>模型侧</a:t>
              </a:r>
              <a:r>
                <a:rPr lang="en-US" sz="1500" b="1" dirty="0">
                  <a:solidFill>
                    <a:schemeClr val="bg1"/>
                  </a:solidFill>
                  <a:latin typeface="微软雅黑" panose="020B0503020204020204" pitchFamily="34" charset="-122"/>
                  <a:ea typeface="微软雅黑" panose="020B0503020204020204" pitchFamily="34" charset="-122"/>
                  <a:sym typeface="Inter"/>
                </a:rPr>
                <a:t>： </a:t>
              </a:r>
              <a:r>
                <a:rPr lang="zh-CN" altLang="en-US" sz="1500" b="1" dirty="0">
                  <a:solidFill>
                    <a:schemeClr val="bg1"/>
                  </a:solidFill>
                  <a:latin typeface="微软雅黑" panose="020B0503020204020204" pitchFamily="34" charset="-122"/>
                  <a:ea typeface="微软雅黑" panose="020B0503020204020204" pitchFamily="34" charset="-122"/>
                  <a:sym typeface="Inter"/>
                </a:rPr>
                <a:t>早期的</a:t>
              </a:r>
              <a:r>
                <a:rPr lang="en-US" sz="1500" b="1" dirty="0" err="1">
                  <a:solidFill>
                    <a:schemeClr val="bg1"/>
                  </a:solidFill>
                  <a:latin typeface="微软雅黑" panose="020B0503020204020204" pitchFamily="34" charset="-122"/>
                  <a:ea typeface="微软雅黑" panose="020B0503020204020204" pitchFamily="34" charset="-122"/>
                  <a:sym typeface="Inter"/>
                </a:rPr>
                <a:t>协同过滤</a:t>
              </a:r>
              <a:r>
                <a:rPr lang="zh-CN" altLang="en-US" sz="1500" b="1" dirty="0">
                  <a:solidFill>
                    <a:schemeClr val="bg1"/>
                  </a:solidFill>
                  <a:latin typeface="微软雅黑" panose="020B0503020204020204" pitchFamily="34" charset="-122"/>
                  <a:ea typeface="微软雅黑" panose="020B0503020204020204" pitchFamily="34" charset="-122"/>
                  <a:sym typeface="Inter"/>
                </a:rPr>
                <a:t>算法</a:t>
              </a:r>
              <a:r>
                <a:rPr lang="en-US" sz="1500" b="1" dirty="0" err="1">
                  <a:solidFill>
                    <a:schemeClr val="bg1"/>
                  </a:solidFill>
                  <a:latin typeface="微软雅黑" panose="020B0503020204020204" pitchFamily="34" charset="-122"/>
                  <a:ea typeface="微软雅黑" panose="020B0503020204020204" pitchFamily="34" charset="-122"/>
                  <a:sym typeface="Inter"/>
                </a:rPr>
                <a:t>对新用户</a:t>
              </a:r>
              <a:r>
                <a:rPr lang="en-US" sz="1500" b="1" dirty="0">
                  <a:solidFill>
                    <a:schemeClr val="bg1"/>
                  </a:solidFill>
                  <a:latin typeface="微软雅黑" panose="020B0503020204020204" pitchFamily="34" charset="-122"/>
                  <a:ea typeface="微软雅黑" panose="020B0503020204020204" pitchFamily="34" charset="-122"/>
                  <a:sym typeface="Inter"/>
                </a:rPr>
                <a:t>/</a:t>
              </a:r>
              <a:r>
                <a:rPr lang="en-US" sz="1500" b="1" dirty="0" err="1">
                  <a:solidFill>
                    <a:schemeClr val="bg1"/>
                  </a:solidFill>
                  <a:latin typeface="微软雅黑" panose="020B0503020204020204" pitchFamily="34" charset="-122"/>
                  <a:ea typeface="微软雅黑" panose="020B0503020204020204" pitchFamily="34" charset="-122"/>
                  <a:sym typeface="Inter"/>
                </a:rPr>
                <a:t>新歌无能为力</a:t>
              </a:r>
              <a:r>
                <a:rPr lang="zh-CN" altLang="en-US" sz="1500" b="1" dirty="0">
                  <a:solidFill>
                    <a:schemeClr val="bg1"/>
                  </a:solidFill>
                  <a:latin typeface="微软雅黑" panose="020B0503020204020204" pitchFamily="34" charset="-122"/>
                  <a:ea typeface="微软雅黑" panose="020B0503020204020204" pitchFamily="34" charset="-122"/>
                  <a:sym typeface="Inter"/>
                </a:rPr>
                <a:t>，出现“冷启动”和“特征稀疏性的问题”</a:t>
              </a:r>
              <a:r>
                <a:rPr lang="en-US" sz="1500" b="1" dirty="0">
                  <a:solidFill>
                    <a:schemeClr val="bg1"/>
                  </a:solidFill>
                  <a:latin typeface="微软雅黑" panose="020B0503020204020204" pitchFamily="34" charset="-122"/>
                  <a:ea typeface="微软雅黑" panose="020B0503020204020204" pitchFamily="34" charset="-122"/>
                  <a:sym typeface="Inter"/>
                </a:rPr>
                <a:t>。</a:t>
              </a:r>
              <a:endParaRPr sz="1500" b="1" dirty="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6FACB19-87C7-27FA-10C8-97295AA9DDAC}"/>
                </a:ext>
              </a:extLst>
            </p:cNvPr>
            <p:cNvSpPr txBox="1"/>
            <p:nvPr/>
          </p:nvSpPr>
          <p:spPr>
            <a:xfrm>
              <a:off x="6586537" y="5108644"/>
              <a:ext cx="3823483" cy="369332"/>
            </a:xfrm>
            <a:prstGeom prst="rect">
              <a:avLst/>
            </a:prstGeom>
            <a:noFill/>
          </p:spPr>
          <p:txBody>
            <a:bodyPr wrap="none" rtlCol="0">
              <a:spAutoFit/>
            </a:bodyPr>
            <a:lstStyle/>
            <a:p>
              <a:r>
                <a:rPr lang="zh-CN" altLang="en-US" b="1" dirty="0">
                  <a:solidFill>
                    <a:srgbClr val="00F3FF"/>
                  </a:solidFill>
                  <a:latin typeface="微软雅黑" panose="020B0503020204020204" pitchFamily="34" charset="-122"/>
                  <a:ea typeface="微软雅黑" panose="020B0503020204020204" pitchFamily="34" charset="-122"/>
                </a:rPr>
                <a:t>需求：</a:t>
              </a:r>
              <a:r>
                <a:rPr lang="zh-CN" altLang="en-US" b="1" dirty="0">
                  <a:solidFill>
                    <a:schemeClr val="bg1"/>
                  </a:solidFill>
                  <a:latin typeface="微软雅黑" panose="020B0503020204020204" pitchFamily="34" charset="-122"/>
                  <a:ea typeface="微软雅黑" panose="020B0503020204020204" pitchFamily="34" charset="-122"/>
                </a:rPr>
                <a:t>分布式计算</a:t>
              </a:r>
              <a:r>
                <a:rPr lang="en-US" altLang="zh-CN" b="1" dirty="0">
                  <a:solidFill>
                    <a:schemeClr val="bg1"/>
                  </a:solidFill>
                  <a:latin typeface="微软雅黑" panose="020B0503020204020204" pitchFamily="34" charset="-122"/>
                  <a:ea typeface="微软雅黑" panose="020B0503020204020204" pitchFamily="34" charset="-122"/>
                </a:rPr>
                <a:t>+</a:t>
              </a:r>
              <a:r>
                <a:rPr lang="zh-CN" altLang="en-US" b="1" dirty="0">
                  <a:solidFill>
                    <a:schemeClr val="bg1"/>
                  </a:solidFill>
                  <a:latin typeface="微软雅黑" panose="020B0503020204020204" pitchFamily="34" charset="-122"/>
                  <a:ea typeface="微软雅黑" panose="020B0503020204020204" pitchFamily="34" charset="-122"/>
                </a:rPr>
                <a:t>深度特征提取。</a:t>
              </a:r>
            </a:p>
          </p:txBody>
        </p:sp>
      </p:grpSp>
      <p:pic>
        <p:nvPicPr>
          <p:cNvPr id="12" name="Google Shape;124;p16" descr="image.png">
            <a:extLst>
              <a:ext uri="{FF2B5EF4-FFF2-40B4-BE49-F238E27FC236}">
                <a16:creationId xmlns:a16="http://schemas.microsoft.com/office/drawing/2014/main" id="{52314F5C-4BA7-07CC-5941-2EAF93B42D57}"/>
              </a:ext>
            </a:extLst>
          </p:cNvPr>
          <p:cNvPicPr preferRelativeResize="0"/>
          <p:nvPr/>
        </p:nvPicPr>
        <p:blipFill rotWithShape="1">
          <a:blip r:embed="rId9">
            <a:alphaModFix/>
          </a:blip>
          <a:srcRect/>
          <a:stretch/>
        </p:blipFill>
        <p:spPr>
          <a:xfrm>
            <a:off x="2064774" y="4904938"/>
            <a:ext cx="8222226" cy="1795597"/>
          </a:xfrm>
          <a:prstGeom prst="rect">
            <a:avLst/>
          </a:prstGeom>
          <a:noFill/>
          <a:ln>
            <a:noFill/>
          </a:ln>
        </p:spPr>
      </p:pic>
      <p:sp>
        <p:nvSpPr>
          <p:cNvPr id="7" name="文本框 6">
            <a:extLst>
              <a:ext uri="{FF2B5EF4-FFF2-40B4-BE49-F238E27FC236}">
                <a16:creationId xmlns:a16="http://schemas.microsoft.com/office/drawing/2014/main" id="{F5E1F071-B77E-9FB4-8315-3090E04716E7}"/>
              </a:ext>
            </a:extLst>
          </p:cNvPr>
          <p:cNvSpPr txBox="1"/>
          <p:nvPr/>
        </p:nvSpPr>
        <p:spPr>
          <a:xfrm flipH="1">
            <a:off x="2147455" y="5288272"/>
            <a:ext cx="8282940" cy="1090298"/>
          </a:xfrm>
          <a:prstGeom prst="rect">
            <a:avLst/>
          </a:prstGeom>
          <a:noFill/>
        </p:spPr>
        <p:txBody>
          <a:bodyPr wrap="square" rtlCol="0">
            <a:spAutoFit/>
          </a:bodyPr>
          <a:lstStyle/>
          <a:p>
            <a:pPr>
              <a:lnSpc>
                <a:spcPct val="150000"/>
              </a:lnSpc>
            </a:pPr>
            <a:r>
              <a:rPr lang="zh-CN" altLang="en-US" sz="1500" b="1" dirty="0">
                <a:solidFill>
                  <a:schemeClr val="bg1"/>
                </a:solidFill>
                <a:latin typeface="微软雅黑" panose="020B0503020204020204" pitchFamily="34" charset="-122"/>
                <a:ea typeface="微软雅黑" panose="020B0503020204020204" pitchFamily="34" charset="-122"/>
              </a:rPr>
              <a:t>近年来，以 </a:t>
            </a:r>
            <a:r>
              <a:rPr lang="en-US" altLang="zh-CN" sz="1500" b="1" dirty="0" err="1">
                <a:solidFill>
                  <a:schemeClr val="bg1"/>
                </a:solidFill>
                <a:latin typeface="微软雅黑" panose="020B0503020204020204" pitchFamily="34" charset="-122"/>
                <a:ea typeface="微软雅黑" panose="020B0503020204020204" pitchFamily="34" charset="-122"/>
              </a:rPr>
              <a:t>KKBox</a:t>
            </a:r>
            <a:r>
              <a:rPr lang="zh-CN" altLang="en-US" sz="1500" b="1" dirty="0">
                <a:solidFill>
                  <a:schemeClr val="bg1"/>
                </a:solidFill>
                <a:latin typeface="微软雅黑" panose="020B0503020204020204" pitchFamily="34" charset="-122"/>
                <a:ea typeface="微软雅黑" panose="020B0503020204020204" pitchFamily="34" charset="-122"/>
              </a:rPr>
              <a:t>、</a:t>
            </a:r>
            <a:r>
              <a:rPr lang="en-US" altLang="zh-CN" sz="1500" b="1" dirty="0">
                <a:solidFill>
                  <a:schemeClr val="bg1"/>
                </a:solidFill>
                <a:latin typeface="微软雅黑" panose="020B0503020204020204" pitchFamily="34" charset="-122"/>
                <a:ea typeface="微软雅黑" panose="020B0503020204020204" pitchFamily="34" charset="-122"/>
              </a:rPr>
              <a:t>Spotify </a:t>
            </a:r>
            <a:r>
              <a:rPr lang="zh-CN" altLang="en-US" sz="1500" b="1" dirty="0">
                <a:solidFill>
                  <a:schemeClr val="bg1"/>
                </a:solidFill>
                <a:latin typeface="微软雅黑" panose="020B0503020204020204" pitchFamily="34" charset="-122"/>
                <a:ea typeface="微软雅黑" panose="020B0503020204020204" pitchFamily="34" charset="-122"/>
              </a:rPr>
              <a:t>为代表的平台证明了融合用户画像、歌曲元数据以及用户历史行为的深度模型（如 </a:t>
            </a:r>
            <a:r>
              <a:rPr lang="en-US" altLang="zh-CN" sz="1500" b="1" dirty="0" err="1">
                <a:solidFill>
                  <a:schemeClr val="bg1"/>
                </a:solidFill>
                <a:latin typeface="微软雅黑" panose="020B0503020204020204" pitchFamily="34" charset="-122"/>
                <a:ea typeface="微软雅黑" panose="020B0503020204020204" pitchFamily="34" charset="-122"/>
              </a:rPr>
              <a:t>DeepFM</a:t>
            </a:r>
            <a:r>
              <a:rPr lang="zh-CN" altLang="en-US" sz="1500" b="1" dirty="0">
                <a:solidFill>
                  <a:schemeClr val="bg1"/>
                </a:solidFill>
                <a:latin typeface="微软雅黑" panose="020B0503020204020204" pitchFamily="34" charset="-122"/>
                <a:ea typeface="微软雅黑" panose="020B0503020204020204" pitchFamily="34" charset="-122"/>
              </a:rPr>
              <a:t>、</a:t>
            </a:r>
            <a:r>
              <a:rPr lang="en-US" altLang="zh-CN" sz="1500" b="1" dirty="0">
                <a:solidFill>
                  <a:schemeClr val="bg1"/>
                </a:solidFill>
                <a:latin typeface="微软雅黑" panose="020B0503020204020204" pitchFamily="34" charset="-122"/>
                <a:ea typeface="微软雅黑" panose="020B0503020204020204" pitchFamily="34" charset="-122"/>
              </a:rPr>
              <a:t>DIN</a:t>
            </a:r>
            <a:r>
              <a:rPr lang="zh-CN" altLang="en-US" sz="1500" b="1" dirty="0">
                <a:solidFill>
                  <a:schemeClr val="bg1"/>
                </a:solidFill>
                <a:latin typeface="微软雅黑" panose="020B0503020204020204" pitchFamily="34" charset="-122"/>
                <a:ea typeface="微软雅黑" panose="020B0503020204020204" pitchFamily="34" charset="-122"/>
              </a:rPr>
              <a:t>） 能显著提升预测准确度。本课题选取“大数据技术”与“混合模型”作为切入点，正是顺应了推荐系统从简单统计向深层语义交互演进的技术趋势。</a:t>
            </a:r>
          </a:p>
        </p:txBody>
      </p:sp>
      <p:sp>
        <p:nvSpPr>
          <p:cNvPr id="8" name="Google Shape;133;p16">
            <a:extLst>
              <a:ext uri="{FF2B5EF4-FFF2-40B4-BE49-F238E27FC236}">
                <a16:creationId xmlns:a16="http://schemas.microsoft.com/office/drawing/2014/main" id="{D23D32BC-7AD9-3784-D004-936C53CEEFCE}"/>
              </a:ext>
            </a:extLst>
          </p:cNvPr>
          <p:cNvSpPr txBox="1"/>
          <p:nvPr/>
        </p:nvSpPr>
        <p:spPr>
          <a:xfrm>
            <a:off x="5475614" y="4988190"/>
            <a:ext cx="1053773" cy="300082"/>
          </a:xfrm>
          <a:prstGeom prst="rect">
            <a:avLst/>
          </a:prstGeom>
          <a:noFill/>
          <a:ln>
            <a:noFill/>
          </a:ln>
        </p:spPr>
        <p:txBody>
          <a:bodyPr spcFirstLastPara="1" wrap="square" lIns="0" tIns="0" rIns="0" bIns="0" anchor="t" anchorCtr="0">
            <a:spAutoFit/>
          </a:bodyPr>
          <a:lstStyle/>
          <a:p>
            <a:pPr lvl="0"/>
            <a:r>
              <a:rPr lang="zh-CN" alt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技术趋势</a:t>
            </a:r>
            <a:endParaRPr dirty="0">
              <a:latin typeface="Arial" panose="020B0604020202020204" pitchFamily="34" charset="0"/>
              <a:ea typeface="微软雅黑" panose="020B0503020204020204" pitchFamily="34" charset="-122"/>
            </a:endParaRPr>
          </a:p>
        </p:txBody>
      </p:sp>
      <p:sp>
        <p:nvSpPr>
          <p:cNvPr id="138" name="Google Shape;138;p16"/>
          <p:cNvSpPr txBox="1"/>
          <p:nvPr/>
        </p:nvSpPr>
        <p:spPr>
          <a:xfrm>
            <a:off x="6529387" y="2501418"/>
            <a:ext cx="1047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E0E0E0"/>
                </a:solidFill>
                <a:latin typeface="Arial" panose="020B0604020202020204" pitchFamily="34" charset="0"/>
                <a:ea typeface="微软雅黑" panose="020B0503020204020204" pitchFamily="34" charset="-122"/>
                <a:cs typeface="Inter"/>
                <a:sym typeface="Inter"/>
              </a:rPr>
              <a:t>•</a:t>
            </a:r>
            <a:endParaRPr sz="1600" dirty="0">
              <a:latin typeface="Arial" panose="020B0604020202020204" pitchFamily="34" charset="0"/>
              <a:ea typeface="微软雅黑" panose="020B0503020204020204" pitchFamily="34" charset="-122"/>
            </a:endParaRPr>
          </a:p>
        </p:txBody>
      </p:sp>
      <p:sp>
        <p:nvSpPr>
          <p:cNvPr id="136" name="Google Shape;136;p16"/>
          <p:cNvSpPr txBox="1"/>
          <p:nvPr/>
        </p:nvSpPr>
        <p:spPr>
          <a:xfrm>
            <a:off x="6510337" y="3360309"/>
            <a:ext cx="1047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E0E0E0"/>
                </a:solidFill>
                <a:latin typeface="Arial" panose="020B0604020202020204" pitchFamily="34" charset="0"/>
                <a:ea typeface="微软雅黑" panose="020B0503020204020204" pitchFamily="34" charset="-122"/>
                <a:cs typeface="Inter"/>
                <a:sym typeface="Inter"/>
              </a:rPr>
              <a:t>•</a:t>
            </a:r>
            <a:endParaRPr sz="1600" dirty="0">
              <a:latin typeface="Arial" panose="020B0604020202020204" pitchFamily="34" charset="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a:extLst>
              <a:ext uri="{FF2B5EF4-FFF2-40B4-BE49-F238E27FC236}">
                <a16:creationId xmlns:a16="http://schemas.microsoft.com/office/drawing/2014/main" id="{6CEE7238-E6FA-1665-C6D7-7D7BA6BA2A8C}"/>
              </a:ext>
            </a:extLst>
          </p:cNvPr>
          <p:cNvGrpSpPr/>
          <p:nvPr/>
        </p:nvGrpSpPr>
        <p:grpSpPr>
          <a:xfrm>
            <a:off x="535781" y="2690664"/>
            <a:ext cx="5286375" cy="2112466"/>
            <a:chOff x="535781" y="2690664"/>
            <a:chExt cx="5286375" cy="2112466"/>
          </a:xfrm>
        </p:grpSpPr>
        <p:pic>
          <p:nvPicPr>
            <p:cNvPr id="36" name="Google Shape;148;p17" descr="image.png">
              <a:extLst>
                <a:ext uri="{FF2B5EF4-FFF2-40B4-BE49-F238E27FC236}">
                  <a16:creationId xmlns:a16="http://schemas.microsoft.com/office/drawing/2014/main" id="{125A2B7B-2261-9F5C-756E-DEFBF73A10C8}"/>
                </a:ext>
              </a:extLst>
            </p:cNvPr>
            <p:cNvPicPr preferRelativeResize="0"/>
            <p:nvPr/>
          </p:nvPicPr>
          <p:blipFill rotWithShape="1">
            <a:blip r:embed="rId3">
              <a:alphaModFix/>
            </a:blip>
            <a:srcRect/>
            <a:stretch/>
          </p:blipFill>
          <p:spPr>
            <a:xfrm>
              <a:off x="535781" y="2690664"/>
              <a:ext cx="5286375" cy="2112466"/>
            </a:xfrm>
            <a:prstGeom prst="rect">
              <a:avLst/>
            </a:prstGeom>
            <a:noFill/>
            <a:ln>
              <a:noFill/>
            </a:ln>
          </p:spPr>
        </p:pic>
        <p:sp>
          <p:nvSpPr>
            <p:cNvPr id="37" name="Google Shape;152;p17">
              <a:extLst>
                <a:ext uri="{FF2B5EF4-FFF2-40B4-BE49-F238E27FC236}">
                  <a16:creationId xmlns:a16="http://schemas.microsoft.com/office/drawing/2014/main" id="{EE7EC4A0-45AE-B88F-507A-C6607131CC7E}"/>
                </a:ext>
              </a:extLst>
            </p:cNvPr>
            <p:cNvSpPr txBox="1"/>
            <p:nvPr/>
          </p:nvSpPr>
          <p:spPr>
            <a:xfrm>
              <a:off x="897731" y="2880643"/>
              <a:ext cx="4900612" cy="300082"/>
            </a:xfrm>
            <a:prstGeom prst="rect">
              <a:avLst/>
            </a:prstGeom>
            <a:noFill/>
            <a:ln>
              <a:noFill/>
            </a:ln>
          </p:spPr>
          <p:txBody>
            <a:bodyPr spcFirstLastPara="1" wrap="square" lIns="276225" tIns="0" rIns="0" bIns="0" anchor="t" anchorCtr="0">
              <a:spAutoFit/>
            </a:bodyPr>
            <a:lstStyle/>
            <a:p>
              <a:pPr marL="0" marR="0" lvl="0" indent="0" algn="l" rtl="0">
                <a:spcBef>
                  <a:spcPts val="0"/>
                </a:spcBef>
                <a:spcAft>
                  <a:spcPts val="0"/>
                </a:spcAft>
                <a:buNone/>
              </a:pPr>
              <a:r>
                <a:rPr lang="en-US" sz="1950" b="1" i="0" u="none" strike="noStrike" cap="none" spc="1000" dirty="0">
                  <a:solidFill>
                    <a:srgbClr val="00F3FF"/>
                  </a:solidFill>
                  <a:latin typeface="Arial" panose="020B0604020202020204" pitchFamily="34" charset="0"/>
                  <a:ea typeface="微软雅黑" panose="020B0503020204020204" pitchFamily="34" charset="-122"/>
                  <a:cs typeface="Inter"/>
                  <a:sym typeface="Inter"/>
                </a:rPr>
                <a:t> </a:t>
              </a:r>
              <a:r>
                <a:rPr lang="en-US" sz="1950" b="1" i="0" u="none" strike="noStrike" cap="none" spc="1000" dirty="0" err="1">
                  <a:solidFill>
                    <a:srgbClr val="00F3FF"/>
                  </a:solidFill>
                  <a:latin typeface="Arial" panose="020B0604020202020204" pitchFamily="34" charset="0"/>
                  <a:ea typeface="微软雅黑" panose="020B0503020204020204" pitchFamily="34" charset="-122"/>
                  <a:cs typeface="Inter"/>
                  <a:sym typeface="Inter"/>
                </a:rPr>
                <a:t>理论意义</a:t>
              </a:r>
              <a:endParaRPr spc="1000" dirty="0">
                <a:latin typeface="Arial" panose="020B0604020202020204" pitchFamily="34" charset="0"/>
                <a:ea typeface="微软雅黑" panose="020B0503020204020204" pitchFamily="34" charset="-122"/>
              </a:endParaRPr>
            </a:p>
          </p:txBody>
        </p:sp>
        <p:sp>
          <p:nvSpPr>
            <p:cNvPr id="38" name="Google Shape;153;p17">
              <a:extLst>
                <a:ext uri="{FF2B5EF4-FFF2-40B4-BE49-F238E27FC236}">
                  <a16:creationId xmlns:a16="http://schemas.microsoft.com/office/drawing/2014/main" id="{18701AAD-16F2-916F-1EDA-BE450A6A70E2}"/>
                </a:ext>
              </a:extLst>
            </p:cNvPr>
            <p:cNvSpPr txBox="1"/>
            <p:nvPr/>
          </p:nvSpPr>
          <p:spPr>
            <a:xfrm>
              <a:off x="845343" y="3318346"/>
              <a:ext cx="4667250" cy="1181862"/>
            </a:xfrm>
            <a:prstGeom prst="rect">
              <a:avLst/>
            </a:prstGeom>
            <a:noFill/>
            <a:ln>
              <a:noFill/>
            </a:ln>
          </p:spPr>
          <p:txBody>
            <a:bodyPr spcFirstLastPara="1" wrap="square" lIns="0" tIns="0" rIns="0" bIns="0" anchor="t" anchorCtr="0">
              <a:spAutoFit/>
            </a:bodyPr>
            <a:lstStyle/>
            <a:p>
              <a:pPr lvl="0">
                <a:lnSpc>
                  <a:spcPct val="159929"/>
                </a:lnSpc>
              </a:pPr>
              <a:r>
                <a:rPr lang="zh-CN" altLang="en-US" sz="1600" b="1" dirty="0">
                  <a:solidFill>
                    <a:schemeClr val="bg1"/>
                  </a:solidFill>
                  <a:latin typeface="Arial" panose="020B0604020202020204" pitchFamily="34" charset="0"/>
                  <a:ea typeface="微软雅黑" panose="020B0503020204020204" pitchFamily="34" charset="-122"/>
                </a:rPr>
                <a:t>本研究拟探索深度学习模型与分布式大数据架构的耦合机制，为多源异构特征融合与混合推荐逻辑提供实践参考。 </a:t>
              </a:r>
              <a:endParaRPr b="1" dirty="0">
                <a:solidFill>
                  <a:schemeClr val="bg1"/>
                </a:solidFill>
                <a:latin typeface="Arial" panose="020B0604020202020204" pitchFamily="34" charset="0"/>
                <a:ea typeface="微软雅黑" panose="020B0503020204020204" pitchFamily="34" charset="-122"/>
              </a:endParaRPr>
            </a:p>
          </p:txBody>
        </p:sp>
        <p:pic>
          <p:nvPicPr>
            <p:cNvPr id="39" name="Google Shape;159;p17" descr="image.png">
              <a:extLst>
                <a:ext uri="{FF2B5EF4-FFF2-40B4-BE49-F238E27FC236}">
                  <a16:creationId xmlns:a16="http://schemas.microsoft.com/office/drawing/2014/main" id="{E9FB2993-FFF8-51E8-E3BF-A5BBDC6F0797}"/>
                </a:ext>
              </a:extLst>
            </p:cNvPr>
            <p:cNvPicPr preferRelativeResize="0"/>
            <p:nvPr/>
          </p:nvPicPr>
          <p:blipFill rotWithShape="1">
            <a:blip r:embed="rId4">
              <a:alphaModFix/>
            </a:blip>
            <a:srcRect/>
            <a:stretch/>
          </p:blipFill>
          <p:spPr>
            <a:xfrm>
              <a:off x="859630" y="2919264"/>
              <a:ext cx="276225" cy="247650"/>
            </a:xfrm>
            <a:prstGeom prst="rect">
              <a:avLst/>
            </a:prstGeom>
            <a:noFill/>
            <a:ln>
              <a:noFill/>
            </a:ln>
          </p:spPr>
        </p:pic>
      </p:grpSp>
      <p:grpSp>
        <p:nvGrpSpPr>
          <p:cNvPr id="40" name="组合 39">
            <a:extLst>
              <a:ext uri="{FF2B5EF4-FFF2-40B4-BE49-F238E27FC236}">
                <a16:creationId xmlns:a16="http://schemas.microsoft.com/office/drawing/2014/main" id="{3C57BC61-9D5B-12D5-560D-7A499B91D88B}"/>
              </a:ext>
            </a:extLst>
          </p:cNvPr>
          <p:cNvGrpSpPr/>
          <p:nvPr/>
        </p:nvGrpSpPr>
        <p:grpSpPr>
          <a:xfrm>
            <a:off x="6310313" y="2690664"/>
            <a:ext cx="5286375" cy="2112466"/>
            <a:chOff x="571500" y="4241267"/>
            <a:chExt cx="5286375" cy="2112466"/>
          </a:xfrm>
        </p:grpSpPr>
        <p:pic>
          <p:nvPicPr>
            <p:cNvPr id="41" name="Google Shape;149;p17" descr="image.png">
              <a:extLst>
                <a:ext uri="{FF2B5EF4-FFF2-40B4-BE49-F238E27FC236}">
                  <a16:creationId xmlns:a16="http://schemas.microsoft.com/office/drawing/2014/main" id="{CB253730-D4E2-FD74-6C5E-83C3272CE5AA}"/>
                </a:ext>
              </a:extLst>
            </p:cNvPr>
            <p:cNvPicPr preferRelativeResize="0"/>
            <p:nvPr/>
          </p:nvPicPr>
          <p:blipFill rotWithShape="1">
            <a:blip r:embed="rId5">
              <a:alphaModFix/>
            </a:blip>
            <a:srcRect/>
            <a:stretch/>
          </p:blipFill>
          <p:spPr>
            <a:xfrm>
              <a:off x="571500" y="4241267"/>
              <a:ext cx="5286375" cy="2112466"/>
            </a:xfrm>
            <a:prstGeom prst="rect">
              <a:avLst/>
            </a:prstGeom>
            <a:noFill/>
            <a:ln>
              <a:noFill/>
            </a:ln>
          </p:spPr>
        </p:pic>
        <p:sp>
          <p:nvSpPr>
            <p:cNvPr id="42" name="Google Shape;155;p17">
              <a:extLst>
                <a:ext uri="{FF2B5EF4-FFF2-40B4-BE49-F238E27FC236}">
                  <a16:creationId xmlns:a16="http://schemas.microsoft.com/office/drawing/2014/main" id="{E38EB330-ADDF-40B7-0D68-696318A4C1AA}"/>
                </a:ext>
              </a:extLst>
            </p:cNvPr>
            <p:cNvSpPr txBox="1"/>
            <p:nvPr/>
          </p:nvSpPr>
          <p:spPr>
            <a:xfrm>
              <a:off x="933450" y="4396085"/>
              <a:ext cx="4900612" cy="300082"/>
            </a:xfrm>
            <a:prstGeom prst="rect">
              <a:avLst/>
            </a:prstGeom>
            <a:noFill/>
            <a:ln>
              <a:noFill/>
            </a:ln>
          </p:spPr>
          <p:txBody>
            <a:bodyPr spcFirstLastPara="1" wrap="square" lIns="276225" tIns="0" rIns="0" bIns="0" anchor="t" anchorCtr="0">
              <a:spAutoFit/>
            </a:bodyPr>
            <a:lstStyle/>
            <a:p>
              <a:pPr marL="0" marR="0" lvl="0" indent="0" algn="l" rtl="0">
                <a:spcBef>
                  <a:spcPts val="0"/>
                </a:spcBef>
                <a:spcAft>
                  <a:spcPts val="0"/>
                </a:spcAft>
                <a:buNone/>
              </a:pPr>
              <a:r>
                <a:rPr lang="en-US" sz="1950" b="1" i="0" u="none" strike="noStrike" cap="none" spc="1000" dirty="0">
                  <a:solidFill>
                    <a:srgbClr val="00F3FF"/>
                  </a:solidFill>
                  <a:latin typeface="Arial" panose="020B0604020202020204" pitchFamily="34" charset="0"/>
                  <a:ea typeface="微软雅黑" panose="020B0503020204020204" pitchFamily="34" charset="-122"/>
                  <a:cs typeface="Inter"/>
                  <a:sym typeface="Inter"/>
                </a:rPr>
                <a:t> </a:t>
              </a:r>
              <a:r>
                <a:rPr lang="en-US" sz="1950" b="1" i="0" u="none" strike="noStrike" cap="none" spc="1000" dirty="0" err="1">
                  <a:solidFill>
                    <a:srgbClr val="00F3FF"/>
                  </a:solidFill>
                  <a:latin typeface="Arial" panose="020B0604020202020204" pitchFamily="34" charset="0"/>
                  <a:ea typeface="微软雅黑" panose="020B0503020204020204" pitchFamily="34" charset="-122"/>
                  <a:cs typeface="Inter"/>
                  <a:sym typeface="Inter"/>
                </a:rPr>
                <a:t>实际价值</a:t>
              </a:r>
              <a:endParaRPr spc="1000" dirty="0">
                <a:latin typeface="Arial" panose="020B0604020202020204" pitchFamily="34" charset="0"/>
                <a:ea typeface="微软雅黑" panose="020B0503020204020204" pitchFamily="34" charset="-122"/>
              </a:endParaRPr>
            </a:p>
          </p:txBody>
        </p:sp>
        <p:sp>
          <p:nvSpPr>
            <p:cNvPr id="43" name="Google Shape;156;p17">
              <a:extLst>
                <a:ext uri="{FF2B5EF4-FFF2-40B4-BE49-F238E27FC236}">
                  <a16:creationId xmlns:a16="http://schemas.microsoft.com/office/drawing/2014/main" id="{F3EC6FF3-2CB7-2B51-CABF-63A8808548EF}"/>
                </a:ext>
              </a:extLst>
            </p:cNvPr>
            <p:cNvSpPr txBox="1"/>
            <p:nvPr/>
          </p:nvSpPr>
          <p:spPr>
            <a:xfrm>
              <a:off x="881062" y="4730732"/>
              <a:ext cx="4667250" cy="1575816"/>
            </a:xfrm>
            <a:prstGeom prst="rect">
              <a:avLst/>
            </a:prstGeom>
            <a:noFill/>
            <a:ln>
              <a:noFill/>
            </a:ln>
          </p:spPr>
          <p:txBody>
            <a:bodyPr spcFirstLastPara="1" wrap="square" lIns="0" tIns="0" rIns="0" bIns="0" anchor="t" anchorCtr="0">
              <a:spAutoFit/>
            </a:bodyPr>
            <a:lstStyle/>
            <a:p>
              <a:pPr lvl="0">
                <a:lnSpc>
                  <a:spcPct val="159929"/>
                </a:lnSpc>
              </a:pPr>
              <a:r>
                <a:rPr lang="zh-CN" altLang="en-US" sz="1600" b="1" dirty="0">
                  <a:solidFill>
                    <a:schemeClr val="bg1"/>
                  </a:solidFill>
                  <a:latin typeface="Arial" panose="020B0604020202020204" pitchFamily="34" charset="0"/>
                  <a:ea typeface="微软雅黑" panose="020B0503020204020204" pitchFamily="34" charset="-122"/>
                </a:rPr>
                <a:t>系统拟实现业务逻辑与算法引擎的解耦，预期为中小型平台提供低成本推荐方案，其“离线训练</a:t>
              </a:r>
              <a:r>
                <a:rPr lang="en-US" altLang="zh-CN" sz="1600" b="1" dirty="0">
                  <a:solidFill>
                    <a:schemeClr val="bg1"/>
                  </a:solidFill>
                  <a:latin typeface="Arial" panose="020B0604020202020204" pitchFamily="34" charset="0"/>
                  <a:ea typeface="微软雅黑" panose="020B0503020204020204" pitchFamily="34" charset="-122"/>
                </a:rPr>
                <a:t>+</a:t>
              </a:r>
              <a:r>
                <a:rPr lang="zh-CN" altLang="en-US" sz="1600" b="1" dirty="0">
                  <a:solidFill>
                    <a:schemeClr val="bg1"/>
                  </a:solidFill>
                  <a:latin typeface="Arial" panose="020B0604020202020204" pitchFamily="34" charset="0"/>
                  <a:ea typeface="微软雅黑" panose="020B0503020204020204" pitchFamily="34" charset="-122"/>
                </a:rPr>
                <a:t>在线预测”的架构设计对电商、社交等领域的工程实践亦具有一定的借鉴意义。</a:t>
              </a:r>
              <a:endParaRPr b="1" dirty="0">
                <a:solidFill>
                  <a:schemeClr val="bg1"/>
                </a:solidFill>
                <a:latin typeface="Arial" panose="020B0604020202020204" pitchFamily="34" charset="0"/>
                <a:ea typeface="微软雅黑" panose="020B0503020204020204" pitchFamily="34" charset="-122"/>
              </a:endParaRPr>
            </a:p>
          </p:txBody>
        </p:sp>
        <p:pic>
          <p:nvPicPr>
            <p:cNvPr id="44" name="Google Shape;160;p17" descr="image.png">
              <a:extLst>
                <a:ext uri="{FF2B5EF4-FFF2-40B4-BE49-F238E27FC236}">
                  <a16:creationId xmlns:a16="http://schemas.microsoft.com/office/drawing/2014/main" id="{B14EBCCE-96FC-A292-7B3E-92A5848BC837}"/>
                </a:ext>
              </a:extLst>
            </p:cNvPr>
            <p:cNvPicPr preferRelativeResize="0"/>
            <p:nvPr/>
          </p:nvPicPr>
          <p:blipFill rotWithShape="1">
            <a:blip r:embed="rId6">
              <a:alphaModFix/>
            </a:blip>
            <a:srcRect/>
            <a:stretch/>
          </p:blipFill>
          <p:spPr>
            <a:xfrm>
              <a:off x="881062" y="4435897"/>
              <a:ext cx="276225" cy="247650"/>
            </a:xfrm>
            <a:prstGeom prst="rect">
              <a:avLst/>
            </a:prstGeom>
            <a:noFill/>
            <a:ln>
              <a:noFill/>
            </a:ln>
          </p:spPr>
        </p:pic>
      </p:grpSp>
      <p:sp>
        <p:nvSpPr>
          <p:cNvPr id="45" name="Google Shape;161;p17">
            <a:extLst>
              <a:ext uri="{FF2B5EF4-FFF2-40B4-BE49-F238E27FC236}">
                <a16:creationId xmlns:a16="http://schemas.microsoft.com/office/drawing/2014/main" id="{E135E1E2-9CE4-965E-0A11-7BF712248A80}"/>
              </a:ext>
            </a:extLst>
          </p:cNvPr>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r>
              <a:rPr lang="zh-CN" altLang="en-US" sz="2850" b="1" spc="1000" dirty="0">
                <a:latin typeface="+mn-ea"/>
                <a:sym typeface="Inter"/>
              </a:rPr>
              <a:t>理论</a:t>
            </a:r>
            <a:r>
              <a:rPr lang="en-US" sz="2850" b="1" spc="1000" dirty="0" err="1">
                <a:latin typeface="+mn-ea"/>
                <a:sym typeface="Inter"/>
              </a:rPr>
              <a:t>意义与</a:t>
            </a:r>
            <a:r>
              <a:rPr lang="zh-CN" altLang="en-US" sz="2850" b="1" spc="1000" dirty="0">
                <a:latin typeface="+mn-ea"/>
                <a:sym typeface="Inter"/>
              </a:rPr>
              <a:t>实际应用</a:t>
            </a:r>
            <a:r>
              <a:rPr lang="en-US" sz="2850" b="1" spc="1000" dirty="0" err="1">
                <a:latin typeface="+mn-ea"/>
                <a:sym typeface="Inter"/>
              </a:rPr>
              <a:t>价值</a:t>
            </a:r>
            <a:endParaRPr lang="en-US" altLang="zh-CN" sz="2850" b="1" spc="1000" dirty="0">
              <a:latin typeface="+mn-ea"/>
              <a:sym typeface="Inter"/>
            </a:endParaRPr>
          </a:p>
        </p:txBody>
      </p:sp>
      <p:sp>
        <p:nvSpPr>
          <p:cNvPr id="46" name="Google Shape;141;p16">
            <a:extLst>
              <a:ext uri="{FF2B5EF4-FFF2-40B4-BE49-F238E27FC236}">
                <a16:creationId xmlns:a16="http://schemas.microsoft.com/office/drawing/2014/main" id="{7AC5DA8F-BA68-ACCB-945D-C3850A62FA66}"/>
              </a:ext>
            </a:extLst>
          </p:cNvPr>
          <p:cNvSpPr/>
          <p:nvPr/>
        </p:nvSpPr>
        <p:spPr>
          <a:xfrm>
            <a:off x="571500" y="1357610"/>
            <a:ext cx="110490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ustDataLst>
      <p:tags r:id="rId1"/>
    </p:custDataLst>
    <p:extLst>
      <p:ext uri="{BB962C8B-B14F-4D97-AF65-F5344CB8AC3E}">
        <p14:creationId xmlns:p14="http://schemas.microsoft.com/office/powerpoint/2010/main" val="3270942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B1EF7-98E2-C674-B8C7-5E83E0C5CB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4570D7-00E2-801A-0CCD-A0098FE7DFAB}"/>
              </a:ext>
            </a:extLst>
          </p:cNvPr>
          <p:cNvSpPr>
            <a:spLocks noGrp="1"/>
          </p:cNvSpPr>
          <p:nvPr>
            <p:ph type="title"/>
          </p:nvPr>
        </p:nvSpPr>
        <p:spPr/>
        <p:txBody>
          <a:bodyPr wrap="square">
            <a:normAutofit/>
          </a:bodyPr>
          <a:lstStyle/>
          <a:p>
            <a:pPr lvl="0"/>
            <a:r>
              <a:rPr lang="en-US" dirty="0">
                <a:latin typeface="+mn-ea"/>
                <a:ea typeface="+mn-ea"/>
              </a:rPr>
              <a:t>02.</a:t>
            </a:r>
            <a:r>
              <a:rPr lang="zh-CN" altLang="en-US" dirty="0">
                <a:latin typeface="+mn-ea"/>
                <a:ea typeface="+mn-ea"/>
              </a:rPr>
              <a:t>国内外研究现状</a:t>
            </a:r>
            <a:endParaRPr lang="en-US" dirty="0">
              <a:latin typeface="+mn-ea"/>
              <a:ea typeface="+mn-ea"/>
            </a:endParaRPr>
          </a:p>
        </p:txBody>
      </p:sp>
    </p:spTree>
    <p:custDataLst>
      <p:tags r:id="rId1"/>
    </p:custDataLst>
    <p:extLst>
      <p:ext uri="{BB962C8B-B14F-4D97-AF65-F5344CB8AC3E}">
        <p14:creationId xmlns:p14="http://schemas.microsoft.com/office/powerpoint/2010/main" val="3623382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192;p19">
            <a:extLst>
              <a:ext uri="{FF2B5EF4-FFF2-40B4-BE49-F238E27FC236}">
                <a16:creationId xmlns:a16="http://schemas.microsoft.com/office/drawing/2014/main" id="{A2568009-9FC0-B134-8A88-4F54405EB76E}"/>
              </a:ext>
            </a:extLst>
          </p:cNvPr>
          <p:cNvSpPr txBox="1"/>
          <p:nvPr/>
        </p:nvSpPr>
        <p:spPr>
          <a:xfrm>
            <a:off x="571500" y="757319"/>
            <a:ext cx="11601450" cy="438582"/>
          </a:xfrm>
          <a:prstGeom prst="rect">
            <a:avLst/>
          </a:prstGeom>
          <a:noFill/>
          <a:ln>
            <a:noFill/>
          </a:ln>
        </p:spPr>
        <p:txBody>
          <a:bodyPr spcFirstLastPara="1" wrap="square" lIns="0" tIns="0" rIns="0" bIns="0" anchor="ctr" anchorCtr="0">
            <a:spAutoFit/>
          </a:bodyPr>
          <a:lstStyle/>
          <a:p>
            <a:pPr lvl="0"/>
            <a:r>
              <a:rPr lang="en-US" sz="2850" b="1" spc="1000" dirty="0" err="1">
                <a:latin typeface="+mn-ea"/>
                <a:sym typeface="Inter"/>
              </a:rPr>
              <a:t>国外研究现状</a:t>
            </a:r>
            <a:endParaRPr sz="2850" b="1" spc="1000" dirty="0">
              <a:latin typeface="+mn-ea"/>
            </a:endParaRPr>
          </a:p>
        </p:txBody>
      </p:sp>
      <p:sp>
        <p:nvSpPr>
          <p:cNvPr id="13" name="Google Shape;193;p19">
            <a:extLst>
              <a:ext uri="{FF2B5EF4-FFF2-40B4-BE49-F238E27FC236}">
                <a16:creationId xmlns:a16="http://schemas.microsoft.com/office/drawing/2014/main" id="{A44862B2-450A-1860-C9E1-77C4A357AE0C}"/>
              </a:ext>
            </a:extLst>
          </p:cNvPr>
          <p:cNvSpPr/>
          <p:nvPr/>
        </p:nvSpPr>
        <p:spPr>
          <a:xfrm>
            <a:off x="571500" y="1357610"/>
            <a:ext cx="110490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Calibri"/>
              <a:ea typeface="Calibri"/>
              <a:cs typeface="Calibri"/>
              <a:sym typeface="Calibri"/>
            </a:endParaRPr>
          </a:p>
        </p:txBody>
      </p:sp>
      <p:grpSp>
        <p:nvGrpSpPr>
          <p:cNvPr id="14" name="组合 13">
            <a:extLst>
              <a:ext uri="{FF2B5EF4-FFF2-40B4-BE49-F238E27FC236}">
                <a16:creationId xmlns:a16="http://schemas.microsoft.com/office/drawing/2014/main" id="{B322FDE0-2D1C-C9EB-B900-2D5EE023C411}"/>
              </a:ext>
            </a:extLst>
          </p:cNvPr>
          <p:cNvGrpSpPr/>
          <p:nvPr/>
        </p:nvGrpSpPr>
        <p:grpSpPr>
          <a:xfrm>
            <a:off x="-1800012" y="1446080"/>
            <a:ext cx="13913463" cy="5893416"/>
            <a:chOff x="-1820332" y="1344480"/>
            <a:chExt cx="13913463" cy="5893416"/>
          </a:xfrm>
        </p:grpSpPr>
        <p:grpSp>
          <p:nvGrpSpPr>
            <p:cNvPr id="15" name="组合 14">
              <a:extLst>
                <a:ext uri="{FF2B5EF4-FFF2-40B4-BE49-F238E27FC236}">
                  <a16:creationId xmlns:a16="http://schemas.microsoft.com/office/drawing/2014/main" id="{A993C06E-BF0F-D8C4-35E7-233CCA301A0A}"/>
                </a:ext>
              </a:extLst>
            </p:cNvPr>
            <p:cNvGrpSpPr/>
            <p:nvPr/>
          </p:nvGrpSpPr>
          <p:grpSpPr>
            <a:xfrm>
              <a:off x="7077318" y="1344480"/>
              <a:ext cx="5015813" cy="4346377"/>
              <a:chOff x="3772091" y="1596770"/>
              <a:chExt cx="2068586" cy="3279397"/>
            </a:xfrm>
          </p:grpSpPr>
          <p:cxnSp>
            <p:nvCxnSpPr>
              <p:cNvPr id="42" name="3">
                <a:extLst>
                  <a:ext uri="{FF2B5EF4-FFF2-40B4-BE49-F238E27FC236}">
                    <a16:creationId xmlns:a16="http://schemas.microsoft.com/office/drawing/2014/main" id="{1BC436E9-62D1-2EDC-BACE-B0F126A0FE7C}"/>
                  </a:ext>
                </a:extLst>
              </p:cNvPr>
              <p:cNvCxnSpPr>
                <a:cxnSpLocks/>
              </p:cNvCxnSpPr>
              <p:nvPr/>
            </p:nvCxnSpPr>
            <p:spPr>
              <a:xfrm flipV="1">
                <a:off x="4948836" y="3092908"/>
                <a:ext cx="0" cy="363307"/>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4" name="3">
                <a:extLst>
                  <a:ext uri="{FF2B5EF4-FFF2-40B4-BE49-F238E27FC236}">
                    <a16:creationId xmlns:a16="http://schemas.microsoft.com/office/drawing/2014/main" id="{9AA672BA-F402-838F-114A-26326380CF02}"/>
                  </a:ext>
                </a:extLst>
              </p:cNvPr>
              <p:cNvSpPr/>
              <p:nvPr/>
            </p:nvSpPr>
            <p:spPr>
              <a:xfrm>
                <a:off x="3927557" y="4585426"/>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3">
                <a:extLst>
                  <a:ext uri="{FF2B5EF4-FFF2-40B4-BE49-F238E27FC236}">
                    <a16:creationId xmlns:a16="http://schemas.microsoft.com/office/drawing/2014/main" id="{FF383277-E734-AF24-8E5B-11A67EC52ED4}"/>
                  </a:ext>
                </a:extLst>
              </p:cNvPr>
              <p:cNvSpPr/>
              <p:nvPr/>
            </p:nvSpPr>
            <p:spPr>
              <a:xfrm flipH="1" flipV="1">
                <a:off x="3772091" y="3225445"/>
                <a:ext cx="1841559" cy="1428320"/>
              </a:xfrm>
              <a:custGeom>
                <a:avLst/>
                <a:gdLst>
                  <a:gd name="connsiteX0" fmla="*/ 556468 w 2049357"/>
                  <a:gd name="connsiteY0" fmla="*/ 1589489 h 1589489"/>
                  <a:gd name="connsiteX1" fmla="*/ 0 w 2049357"/>
                  <a:gd name="connsiteY1" fmla="*/ 1036725 h 1589489"/>
                  <a:gd name="connsiteX2" fmla="*/ 205766 w 2049357"/>
                  <a:gd name="connsiteY2" fmla="*/ 1036725 h 1589489"/>
                  <a:gd name="connsiteX3" fmla="*/ 239925 w 2049357"/>
                  <a:gd name="connsiteY3" fmla="*/ 977166 h 1589489"/>
                  <a:gd name="connsiteX4" fmla="*/ 244856 w 2049357"/>
                  <a:gd name="connsiteY4" fmla="*/ 963222 h 1589489"/>
                  <a:gd name="connsiteX5" fmla="*/ 331387 w 2049357"/>
                  <a:gd name="connsiteY5" fmla="*/ 777446 h 1589489"/>
                  <a:gd name="connsiteX6" fmla="*/ 1042848 w 2049357"/>
                  <a:gd name="connsiteY6" fmla="*/ 49 h 1589489"/>
                  <a:gd name="connsiteX7" fmla="*/ 1047023 w 2049357"/>
                  <a:gd name="connsiteY7" fmla="*/ 588 h 1589489"/>
                  <a:gd name="connsiteX8" fmla="*/ 1047023 w 2049357"/>
                  <a:gd name="connsiteY8" fmla="*/ 0 h 1589489"/>
                  <a:gd name="connsiteX9" fmla="*/ 2049357 w 2049357"/>
                  <a:gd name="connsiteY9" fmla="*/ 0 h 1589489"/>
                  <a:gd name="connsiteX10" fmla="*/ 2049357 w 2049357"/>
                  <a:gd name="connsiteY10" fmla="*/ 1883 h 1589489"/>
                  <a:gd name="connsiteX11" fmla="*/ 2035139 w 2049357"/>
                  <a:gd name="connsiteY11" fmla="*/ 49 h 1589489"/>
                  <a:gd name="connsiteX12" fmla="*/ 1426071 w 2049357"/>
                  <a:gd name="connsiteY12" fmla="*/ 586484 h 1589489"/>
                  <a:gd name="connsiteX13" fmla="*/ 1347683 w 2049357"/>
                  <a:gd name="connsiteY13" fmla="*/ 732677 h 1589489"/>
                  <a:gd name="connsiteX14" fmla="*/ 1347683 w 2049357"/>
                  <a:gd name="connsiteY14" fmla="*/ 729096 h 1589489"/>
                  <a:gd name="connsiteX15" fmla="*/ 1321988 w 2049357"/>
                  <a:gd name="connsiteY15" fmla="*/ 777447 h 1589489"/>
                  <a:gd name="connsiteX16" fmla="*/ 1235457 w 2049357"/>
                  <a:gd name="connsiteY16" fmla="*/ 963223 h 1589489"/>
                  <a:gd name="connsiteX17" fmla="*/ 1230526 w 2049357"/>
                  <a:gd name="connsiteY17" fmla="*/ 977167 h 1589489"/>
                  <a:gd name="connsiteX18" fmla="*/ 1196367 w 2049357"/>
                  <a:gd name="connsiteY18" fmla="*/ 1036725 h 1589489"/>
                  <a:gd name="connsiteX19" fmla="*/ 1397424 w 2049357"/>
                  <a:gd name="connsiteY19" fmla="*/ 1036725 h 158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49357" h="1589489">
                    <a:moveTo>
                      <a:pt x="556468" y="1589489"/>
                    </a:moveTo>
                    <a:lnTo>
                      <a:pt x="0" y="1036725"/>
                    </a:lnTo>
                    <a:lnTo>
                      <a:pt x="205766" y="1036725"/>
                    </a:lnTo>
                    <a:lnTo>
                      <a:pt x="239925" y="977166"/>
                    </a:lnTo>
                    <a:lnTo>
                      <a:pt x="244856" y="963222"/>
                    </a:lnTo>
                    <a:lnTo>
                      <a:pt x="331387" y="777446"/>
                    </a:lnTo>
                    <a:cubicBezTo>
                      <a:pt x="566395" y="306988"/>
                      <a:pt x="832961" y="4485"/>
                      <a:pt x="1042848" y="49"/>
                    </a:cubicBezTo>
                    <a:lnTo>
                      <a:pt x="1047023" y="588"/>
                    </a:lnTo>
                    <a:lnTo>
                      <a:pt x="1047023" y="0"/>
                    </a:lnTo>
                    <a:lnTo>
                      <a:pt x="2049357" y="0"/>
                    </a:lnTo>
                    <a:lnTo>
                      <a:pt x="2049357" y="1883"/>
                    </a:lnTo>
                    <a:lnTo>
                      <a:pt x="2035139" y="49"/>
                    </a:lnTo>
                    <a:cubicBezTo>
                      <a:pt x="1855236" y="3851"/>
                      <a:pt x="1633691" y="226641"/>
                      <a:pt x="1426071" y="586484"/>
                    </a:cubicBezTo>
                    <a:lnTo>
                      <a:pt x="1347683" y="732677"/>
                    </a:lnTo>
                    <a:lnTo>
                      <a:pt x="1347683" y="729096"/>
                    </a:lnTo>
                    <a:lnTo>
                      <a:pt x="1321988" y="777447"/>
                    </a:lnTo>
                    <a:lnTo>
                      <a:pt x="1235457" y="963223"/>
                    </a:lnTo>
                    <a:lnTo>
                      <a:pt x="1230526" y="977167"/>
                    </a:lnTo>
                    <a:lnTo>
                      <a:pt x="1196367" y="1036725"/>
                    </a:lnTo>
                    <a:lnTo>
                      <a:pt x="1397424" y="1036725"/>
                    </a:lnTo>
                    <a:close/>
                  </a:path>
                </a:pathLst>
              </a:custGeom>
              <a:solidFill>
                <a:srgbClr val="002060"/>
              </a:solidFill>
              <a:ln>
                <a:noFill/>
              </a:ln>
              <a:effectLst>
                <a:outerShdw dist="38100" dir="1800000" algn="t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Body-3">
                <a:extLst>
                  <a:ext uri="{FF2B5EF4-FFF2-40B4-BE49-F238E27FC236}">
                    <a16:creationId xmlns:a16="http://schemas.microsoft.com/office/drawing/2014/main" id="{414E6EE2-F36F-04C6-8964-D1B08E76F7D4}"/>
                  </a:ext>
                </a:extLst>
              </p:cNvPr>
              <p:cNvSpPr txBox="1"/>
              <p:nvPr>
                <p:custDataLst>
                  <p:tags r:id="rId6"/>
                </p:custDataLst>
              </p:nvPr>
            </p:nvSpPr>
            <p:spPr>
              <a:xfrm>
                <a:off x="3999118" y="1816958"/>
                <a:ext cx="1841559" cy="1281572"/>
              </a:xfrm>
              <a:prstGeom prst="rect">
                <a:avLst/>
              </a:prstGeom>
              <a:noFill/>
            </p:spPr>
            <p:txBody>
              <a:bodyPr wrap="square" rtlCol="0">
                <a:spAutoFit/>
              </a:bodyPr>
              <a:lstStyle/>
              <a:p>
                <a:pPr algn="ctr">
                  <a:lnSpc>
                    <a:spcPct val="110000"/>
                  </a:lnSpc>
                </a:pPr>
                <a:r>
                  <a:rPr lang="zh-CN" altLang="en-US" sz="1600" b="1" dirty="0">
                    <a:solidFill>
                      <a:schemeClr val="tx1"/>
                    </a:solidFill>
                    <a:latin typeface="微软雅黑" panose="020B0503020204020204" pitchFamily="34" charset="-122"/>
                    <a:ea typeface="微软雅黑" panose="020B0503020204020204" pitchFamily="34" charset="-122"/>
                  </a:rPr>
                  <a:t>朝着超大规模特征融合与 </a:t>
                </a:r>
                <a:r>
                  <a:rPr lang="en-US" altLang="zh-CN" sz="1600" b="1" dirty="0">
                    <a:solidFill>
                      <a:schemeClr val="tx1"/>
                    </a:solidFill>
                    <a:latin typeface="微软雅黑" panose="020B0503020204020204" pitchFamily="34" charset="-122"/>
                    <a:ea typeface="微软雅黑" panose="020B0503020204020204" pitchFamily="34" charset="-122"/>
                  </a:rPr>
                  <a:t>Transformer </a:t>
                </a:r>
                <a:r>
                  <a:rPr lang="zh-CN" altLang="en-US" sz="1600" b="1" dirty="0">
                    <a:solidFill>
                      <a:schemeClr val="tx1"/>
                    </a:solidFill>
                    <a:latin typeface="微软雅黑" panose="020B0503020204020204" pitchFamily="34" charset="-122"/>
                    <a:ea typeface="微软雅黑" panose="020B0503020204020204" pitchFamily="34" charset="-122"/>
                  </a:rPr>
                  <a:t>序列建模方向演进，旨在通过端到端的自动化调控进一步提升系统的语境感 知能力。</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lnSpc>
                    <a:spcPct val="110000"/>
                  </a:lnSpc>
                </a:pPr>
                <a:r>
                  <a:rPr lang="en-US" altLang="zh-CN" sz="1600" b="1" dirty="0">
                    <a:solidFill>
                      <a:schemeClr val="tx1"/>
                    </a:solidFill>
                    <a:latin typeface="微软雅黑" panose="020B0503020204020204" pitchFamily="34" charset="-122"/>
                    <a:ea typeface="微软雅黑" panose="020B0503020204020204" pitchFamily="34" charset="-122"/>
                  </a:rPr>
                  <a:t>Le Li </a:t>
                </a:r>
                <a:r>
                  <a:rPr lang="zh-CN" altLang="en-US" sz="1600" b="1" dirty="0">
                    <a:solidFill>
                      <a:schemeClr val="tx1"/>
                    </a:solidFill>
                    <a:latin typeface="微软雅黑" panose="020B0503020204020204" pitchFamily="34" charset="-122"/>
                    <a:ea typeface="微软雅黑" panose="020B0503020204020204" pitchFamily="34" charset="-122"/>
                  </a:rPr>
                  <a:t>等人提出了一种用于内容感知推荐的注意力自动编码器模型，利用注意力机制有效提取了音乐深层特征。</a:t>
                </a:r>
                <a:endParaRPr lang="en-US" altLang="zh-CN" sz="1600" b="1" dirty="0">
                  <a:solidFill>
                    <a:schemeClr val="tx1"/>
                  </a:solidFill>
                  <a:latin typeface="微软雅黑" panose="020B0503020204020204" pitchFamily="34" charset="-122"/>
                  <a:ea typeface="微软雅黑" panose="020B0503020204020204" pitchFamily="34" charset="-122"/>
                </a:endParaRPr>
              </a:p>
            </p:txBody>
          </p:sp>
          <p:sp>
            <p:nvSpPr>
              <p:cNvPr id="48" name="Title-3">
                <a:extLst>
                  <a:ext uri="{FF2B5EF4-FFF2-40B4-BE49-F238E27FC236}">
                    <a16:creationId xmlns:a16="http://schemas.microsoft.com/office/drawing/2014/main" id="{159C3723-F5C0-D3EC-97E7-74ABACA526A9}"/>
                  </a:ext>
                </a:extLst>
              </p:cNvPr>
              <p:cNvSpPr txBox="1"/>
              <p:nvPr>
                <p:custDataLst>
                  <p:tags r:id="rId7"/>
                </p:custDataLst>
              </p:nvPr>
            </p:nvSpPr>
            <p:spPr>
              <a:xfrm>
                <a:off x="4838563" y="1596770"/>
                <a:ext cx="224245" cy="232222"/>
              </a:xfrm>
              <a:prstGeom prst="rect">
                <a:avLst/>
              </a:prstGeom>
              <a:noFill/>
            </p:spPr>
            <p:txBody>
              <a:bodyPr wrap="none" rtlCol="0">
                <a:spAutoFit/>
              </a:bodyPr>
              <a:lstStyle/>
              <a:p>
                <a:pPr algn="ctr"/>
                <a:r>
                  <a:rPr lang="zh-CN" altLang="en-US" b="1" dirty="0">
                    <a:solidFill>
                      <a:schemeClr val="accent3"/>
                    </a:solidFill>
                    <a:latin typeface="Arial" panose="020B0604020202020204" pitchFamily="34" charset="0"/>
                    <a:ea typeface="微软雅黑" panose="020B0503020204020204" pitchFamily="34" charset="-122"/>
                  </a:rPr>
                  <a:t>现今</a:t>
                </a:r>
              </a:p>
            </p:txBody>
          </p:sp>
        </p:grpSp>
        <p:grpSp>
          <p:nvGrpSpPr>
            <p:cNvPr id="16" name="组合 15">
              <a:extLst>
                <a:ext uri="{FF2B5EF4-FFF2-40B4-BE49-F238E27FC236}">
                  <a16:creationId xmlns:a16="http://schemas.microsoft.com/office/drawing/2014/main" id="{9BB621E4-1393-53E1-6731-0E9C3C74F83C}"/>
                </a:ext>
              </a:extLst>
            </p:cNvPr>
            <p:cNvGrpSpPr/>
            <p:nvPr/>
          </p:nvGrpSpPr>
          <p:grpSpPr>
            <a:xfrm>
              <a:off x="3689545" y="2139481"/>
              <a:ext cx="5025949" cy="4392809"/>
              <a:chOff x="2374929" y="2196607"/>
              <a:chExt cx="2072766" cy="3314429"/>
            </a:xfrm>
          </p:grpSpPr>
          <p:sp>
            <p:nvSpPr>
              <p:cNvPr id="35" name="2">
                <a:extLst>
                  <a:ext uri="{FF2B5EF4-FFF2-40B4-BE49-F238E27FC236}">
                    <a16:creationId xmlns:a16="http://schemas.microsoft.com/office/drawing/2014/main" id="{B8A0B4AC-EFB9-5E4F-988B-739C9774BF62}"/>
                  </a:ext>
                </a:extLst>
              </p:cNvPr>
              <p:cNvSpPr/>
              <p:nvPr/>
            </p:nvSpPr>
            <p:spPr>
              <a:xfrm>
                <a:off x="2374929" y="5220295"/>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2">
                <a:extLst>
                  <a:ext uri="{FF2B5EF4-FFF2-40B4-BE49-F238E27FC236}">
                    <a16:creationId xmlns:a16="http://schemas.microsoft.com/office/drawing/2014/main" id="{10B7F33F-CCAF-6B67-1E59-F19A1EC3216F}"/>
                  </a:ext>
                </a:extLst>
              </p:cNvPr>
              <p:cNvSpPr/>
              <p:nvPr/>
            </p:nvSpPr>
            <p:spPr>
              <a:xfrm>
                <a:off x="3558300" y="4194180"/>
                <a:ext cx="889395" cy="477289"/>
              </a:xfrm>
              <a:custGeom>
                <a:avLst/>
                <a:gdLst>
                  <a:gd name="connsiteX0" fmla="*/ 575485 w 989753"/>
                  <a:gd name="connsiteY0" fmla="*/ 49 h 531146"/>
                  <a:gd name="connsiteX1" fmla="*/ 637604 w 989753"/>
                  <a:gd name="connsiteY1" fmla="*/ 8062 h 531146"/>
                  <a:gd name="connsiteX2" fmla="*/ 820671 w 989753"/>
                  <a:gd name="connsiteY2" fmla="*/ 209956 h 531146"/>
                  <a:gd name="connsiteX3" fmla="*/ 853898 w 989753"/>
                  <a:gd name="connsiteY3" fmla="*/ 318398 h 531146"/>
                  <a:gd name="connsiteX4" fmla="*/ 866187 w 989753"/>
                  <a:gd name="connsiteY4" fmla="*/ 371230 h 531146"/>
                  <a:gd name="connsiteX5" fmla="*/ 963759 w 989753"/>
                  <a:gd name="connsiteY5" fmla="*/ 523777 h 531146"/>
                  <a:gd name="connsiteX6" fmla="*/ 989753 w 989753"/>
                  <a:gd name="connsiteY6" fmla="*/ 529891 h 531146"/>
                  <a:gd name="connsiteX7" fmla="*/ 989753 w 989753"/>
                  <a:gd name="connsiteY7" fmla="*/ 531145 h 531146"/>
                  <a:gd name="connsiteX8" fmla="*/ 888113 w 989753"/>
                  <a:gd name="connsiteY8" fmla="*/ 531145 h 531146"/>
                  <a:gd name="connsiteX9" fmla="*/ 888113 w 989753"/>
                  <a:gd name="connsiteY9" fmla="*/ 531146 h 531146"/>
                  <a:gd name="connsiteX10" fmla="*/ 0 w 989753"/>
                  <a:gd name="connsiteY10" fmla="*/ 531146 h 531146"/>
                  <a:gd name="connsiteX11" fmla="*/ 36063 w 989753"/>
                  <a:gd name="connsiteY11" fmla="*/ 471725 h 531146"/>
                  <a:gd name="connsiteX12" fmla="*/ 575485 w 989753"/>
                  <a:gd name="connsiteY12" fmla="*/ 49 h 53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753" h="531146">
                    <a:moveTo>
                      <a:pt x="575485" y="49"/>
                    </a:moveTo>
                    <a:cubicBezTo>
                      <a:pt x="596808" y="-402"/>
                      <a:pt x="617545" y="2224"/>
                      <a:pt x="637604" y="8062"/>
                    </a:cubicBezTo>
                    <a:cubicBezTo>
                      <a:pt x="716589" y="31049"/>
                      <a:pt x="777710" y="101699"/>
                      <a:pt x="820671" y="209956"/>
                    </a:cubicBezTo>
                    <a:lnTo>
                      <a:pt x="853898" y="318398"/>
                    </a:lnTo>
                    <a:lnTo>
                      <a:pt x="866187" y="371230"/>
                    </a:lnTo>
                    <a:cubicBezTo>
                      <a:pt x="888535" y="448415"/>
                      <a:pt x="923282" y="504450"/>
                      <a:pt x="963759" y="523777"/>
                    </a:cubicBezTo>
                    <a:lnTo>
                      <a:pt x="989753" y="529891"/>
                    </a:lnTo>
                    <a:lnTo>
                      <a:pt x="989753" y="531145"/>
                    </a:lnTo>
                    <a:lnTo>
                      <a:pt x="888113" y="531145"/>
                    </a:lnTo>
                    <a:lnTo>
                      <a:pt x="888113" y="531146"/>
                    </a:lnTo>
                    <a:lnTo>
                      <a:pt x="0" y="531146"/>
                    </a:lnTo>
                    <a:lnTo>
                      <a:pt x="36063" y="471725"/>
                    </a:lnTo>
                    <a:cubicBezTo>
                      <a:pt x="222755" y="179836"/>
                      <a:pt x="415571" y="3429"/>
                      <a:pt x="575485" y="49"/>
                    </a:cubicBezTo>
                    <a:close/>
                  </a:path>
                </a:pathLst>
              </a:custGeom>
              <a:gradFill flip="none" rotWithShape="1">
                <a:gsLst>
                  <a:gs pos="29000">
                    <a:schemeClr val="accent2">
                      <a:lumMod val="100000"/>
                    </a:schemeClr>
                  </a:gs>
                  <a:gs pos="87000">
                    <a:schemeClr val="accent2">
                      <a:lumMod val="50000"/>
                    </a:schemeClr>
                  </a:gs>
                </a:gsLst>
                <a:lin ang="13500000" scaled="1"/>
                <a:tileRect/>
              </a:gradFill>
              <a:ln>
                <a:noFill/>
              </a:ln>
              <a:effectLst>
                <a:outerShdw dist="38100" sx="102000" sy="102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2">
                <a:extLst>
                  <a:ext uri="{FF2B5EF4-FFF2-40B4-BE49-F238E27FC236}">
                    <a16:creationId xmlns:a16="http://schemas.microsoft.com/office/drawing/2014/main" id="{192E1577-4831-85AE-138C-6CCBDF225F69}"/>
                  </a:ext>
                </a:extLst>
              </p:cNvPr>
              <p:cNvSpPr/>
              <p:nvPr/>
            </p:nvSpPr>
            <p:spPr>
              <a:xfrm>
                <a:off x="2417644" y="4186729"/>
                <a:ext cx="1724393" cy="973548"/>
              </a:xfrm>
              <a:custGeom>
                <a:avLst/>
                <a:gdLst>
                  <a:gd name="connsiteX0" fmla="*/ 916636 w 1918970"/>
                  <a:gd name="connsiteY0" fmla="*/ 0 h 1083402"/>
                  <a:gd name="connsiteX1" fmla="*/ 1918970 w 1918970"/>
                  <a:gd name="connsiteY1" fmla="*/ 0 h 1083402"/>
                  <a:gd name="connsiteX2" fmla="*/ 1918970 w 1918970"/>
                  <a:gd name="connsiteY2" fmla="*/ 1883 h 1083402"/>
                  <a:gd name="connsiteX3" fmla="*/ 1904752 w 1918970"/>
                  <a:gd name="connsiteY3" fmla="*/ 49 h 1083402"/>
                  <a:gd name="connsiteX4" fmla="*/ 1295684 w 1918970"/>
                  <a:gd name="connsiteY4" fmla="*/ 586484 h 1083402"/>
                  <a:gd name="connsiteX5" fmla="*/ 1217296 w 1918970"/>
                  <a:gd name="connsiteY5" fmla="*/ 732677 h 1083402"/>
                  <a:gd name="connsiteX6" fmla="*/ 1217296 w 1918970"/>
                  <a:gd name="connsiteY6" fmla="*/ 729096 h 1083402"/>
                  <a:gd name="connsiteX7" fmla="*/ 1191601 w 1918970"/>
                  <a:gd name="connsiteY7" fmla="*/ 777447 h 1083402"/>
                  <a:gd name="connsiteX8" fmla="*/ 1105070 w 1918970"/>
                  <a:gd name="connsiteY8" fmla="*/ 963223 h 1083402"/>
                  <a:gd name="connsiteX9" fmla="*/ 1100139 w 1918970"/>
                  <a:gd name="connsiteY9" fmla="*/ 977167 h 1083402"/>
                  <a:gd name="connsiteX10" fmla="*/ 1021549 w 1918970"/>
                  <a:gd name="connsiteY10" fmla="*/ 1076034 h 1083402"/>
                  <a:gd name="connsiteX11" fmla="*/ 990601 w 1918970"/>
                  <a:gd name="connsiteY11" fmla="*/ 1083314 h 1083402"/>
                  <a:gd name="connsiteX12" fmla="*/ 990601 w 1918970"/>
                  <a:gd name="connsiteY12" fmla="*/ 1083402 h 1083402"/>
                  <a:gd name="connsiteX13" fmla="*/ 63298 w 1918970"/>
                  <a:gd name="connsiteY13" fmla="*/ 1083402 h 1083402"/>
                  <a:gd name="connsiteX14" fmla="*/ 63299 w 1918970"/>
                  <a:gd name="connsiteY14" fmla="*/ 1083401 h 1083402"/>
                  <a:gd name="connsiteX15" fmla="*/ 0 w 1918970"/>
                  <a:gd name="connsiteY15" fmla="*/ 1083401 h 1083402"/>
                  <a:gd name="connsiteX16" fmla="*/ 0 w 1918970"/>
                  <a:gd name="connsiteY16" fmla="*/ 1083313 h 1083402"/>
                  <a:gd name="connsiteX17" fmla="*/ 30948 w 1918970"/>
                  <a:gd name="connsiteY17" fmla="*/ 1076033 h 1083402"/>
                  <a:gd name="connsiteX18" fmla="*/ 109538 w 1918970"/>
                  <a:gd name="connsiteY18" fmla="*/ 977166 h 1083402"/>
                  <a:gd name="connsiteX19" fmla="*/ 114469 w 1918970"/>
                  <a:gd name="connsiteY19" fmla="*/ 963222 h 1083402"/>
                  <a:gd name="connsiteX20" fmla="*/ 201000 w 1918970"/>
                  <a:gd name="connsiteY20" fmla="*/ 777446 h 1083402"/>
                  <a:gd name="connsiteX21" fmla="*/ 912461 w 1918970"/>
                  <a:gd name="connsiteY21" fmla="*/ 49 h 1083402"/>
                  <a:gd name="connsiteX22" fmla="*/ 916636 w 1918970"/>
                  <a:gd name="connsiteY22" fmla="*/ 588 h 1083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18970" h="1083402">
                    <a:moveTo>
                      <a:pt x="916636" y="0"/>
                    </a:moveTo>
                    <a:lnTo>
                      <a:pt x="1918970" y="0"/>
                    </a:lnTo>
                    <a:lnTo>
                      <a:pt x="1918970" y="1883"/>
                    </a:lnTo>
                    <a:lnTo>
                      <a:pt x="1904752" y="49"/>
                    </a:lnTo>
                    <a:cubicBezTo>
                      <a:pt x="1724849" y="3851"/>
                      <a:pt x="1503304" y="226641"/>
                      <a:pt x="1295684" y="586484"/>
                    </a:cubicBezTo>
                    <a:lnTo>
                      <a:pt x="1217296" y="732677"/>
                    </a:lnTo>
                    <a:lnTo>
                      <a:pt x="1217296" y="729096"/>
                    </a:lnTo>
                    <a:lnTo>
                      <a:pt x="1191601" y="777447"/>
                    </a:lnTo>
                    <a:lnTo>
                      <a:pt x="1105070" y="963223"/>
                    </a:lnTo>
                    <a:lnTo>
                      <a:pt x="1100139" y="977167"/>
                    </a:lnTo>
                    <a:cubicBezTo>
                      <a:pt x="1079041" y="1026396"/>
                      <a:pt x="1051907" y="1061539"/>
                      <a:pt x="1021549" y="1076034"/>
                    </a:cubicBezTo>
                    <a:lnTo>
                      <a:pt x="990601" y="1083314"/>
                    </a:lnTo>
                    <a:lnTo>
                      <a:pt x="990601" y="1083402"/>
                    </a:lnTo>
                    <a:lnTo>
                      <a:pt x="63298" y="1083402"/>
                    </a:lnTo>
                    <a:lnTo>
                      <a:pt x="63299" y="1083401"/>
                    </a:lnTo>
                    <a:lnTo>
                      <a:pt x="0" y="1083401"/>
                    </a:lnTo>
                    <a:lnTo>
                      <a:pt x="0" y="1083313"/>
                    </a:lnTo>
                    <a:lnTo>
                      <a:pt x="30948" y="1076033"/>
                    </a:lnTo>
                    <a:cubicBezTo>
                      <a:pt x="61306" y="1061538"/>
                      <a:pt x="88440" y="1026395"/>
                      <a:pt x="109538" y="977166"/>
                    </a:cubicBezTo>
                    <a:lnTo>
                      <a:pt x="114469" y="963222"/>
                    </a:lnTo>
                    <a:lnTo>
                      <a:pt x="201000" y="777446"/>
                    </a:lnTo>
                    <a:cubicBezTo>
                      <a:pt x="436008" y="306988"/>
                      <a:pt x="702574" y="4485"/>
                      <a:pt x="912461" y="49"/>
                    </a:cubicBezTo>
                    <a:lnTo>
                      <a:pt x="916636" y="588"/>
                    </a:lnTo>
                    <a:close/>
                  </a:path>
                </a:pathLst>
              </a:custGeom>
              <a:gradFill flip="none" rotWithShape="1">
                <a:gsLst>
                  <a:gs pos="40000">
                    <a:schemeClr val="accent2">
                      <a:lumMod val="60000"/>
                      <a:lumOff val="40000"/>
                    </a:schemeClr>
                  </a:gs>
                  <a:gs pos="80000">
                    <a:schemeClr val="accent2">
                      <a:lumMod val="100000"/>
                    </a:schemeClr>
                  </a:gs>
                </a:gsLst>
                <a:lin ang="13500000" scaled="1"/>
                <a:tileRect/>
              </a:gradFill>
              <a:ln>
                <a:noFill/>
              </a:ln>
              <a:effectLst>
                <a:outerShdw dist="38100" algn="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39" name="2">
                <a:extLst>
                  <a:ext uri="{FF2B5EF4-FFF2-40B4-BE49-F238E27FC236}">
                    <a16:creationId xmlns:a16="http://schemas.microsoft.com/office/drawing/2014/main" id="{0ECC52A6-0A1C-A041-1CC5-F9A089196A83}"/>
                  </a:ext>
                </a:extLst>
              </p:cNvPr>
              <p:cNvCxnSpPr>
                <a:cxnSpLocks/>
              </p:cNvCxnSpPr>
              <p:nvPr/>
            </p:nvCxnSpPr>
            <p:spPr>
              <a:xfrm flipV="1">
                <a:off x="3245179" y="3805715"/>
                <a:ext cx="0" cy="363307"/>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40" name="Body-2">
                <a:extLst>
                  <a:ext uri="{FF2B5EF4-FFF2-40B4-BE49-F238E27FC236}">
                    <a16:creationId xmlns:a16="http://schemas.microsoft.com/office/drawing/2014/main" id="{545F6F9D-936B-6316-41C8-4AF6C4906E4F}"/>
                  </a:ext>
                </a:extLst>
              </p:cNvPr>
              <p:cNvSpPr txBox="1"/>
              <p:nvPr>
                <p:custDataLst>
                  <p:tags r:id="rId4"/>
                </p:custDataLst>
              </p:nvPr>
            </p:nvSpPr>
            <p:spPr>
              <a:xfrm>
                <a:off x="2690125" y="2506555"/>
                <a:ext cx="1277759" cy="1077217"/>
              </a:xfrm>
              <a:prstGeom prst="rect">
                <a:avLst/>
              </a:prstGeom>
              <a:noFill/>
            </p:spPr>
            <p:txBody>
              <a:bodyPr wrap="square" rtlCol="0">
                <a:spAutoFit/>
              </a:bodyPr>
              <a:lstStyle/>
              <a:p>
                <a:pPr algn="ctr">
                  <a:lnSpc>
                    <a:spcPct val="110000"/>
                  </a:lnSpc>
                </a:pPr>
                <a:r>
                  <a:rPr lang="zh-CN" altLang="en-US" sz="1600" b="1" dirty="0">
                    <a:solidFill>
                      <a:schemeClr val="tx1"/>
                    </a:solidFill>
                    <a:latin typeface="微软雅黑" panose="020B0503020204020204" pitchFamily="34" charset="-122"/>
                    <a:ea typeface="微软雅黑" panose="020B0503020204020204" pitchFamily="34" charset="-122"/>
                  </a:rPr>
                  <a:t>开始转向大规模分布式架构。</a:t>
                </a:r>
                <a:endParaRPr lang="en-US" altLang="zh-CN" sz="1600" b="1" dirty="0">
                  <a:solidFill>
                    <a:schemeClr val="tx1"/>
                  </a:solidFill>
                  <a:latin typeface="微软雅黑" panose="020B0503020204020204" pitchFamily="34" charset="-122"/>
                  <a:ea typeface="微软雅黑" panose="020B0503020204020204" pitchFamily="34" charset="-122"/>
                </a:endParaRPr>
              </a:p>
              <a:p>
                <a:pPr algn="ctr">
                  <a:lnSpc>
                    <a:spcPct val="110000"/>
                  </a:lnSpc>
                </a:pPr>
                <a:r>
                  <a:rPr lang="en-US" altLang="zh-CN" sz="1600" b="1" dirty="0">
                    <a:solidFill>
                      <a:schemeClr val="tx1"/>
                    </a:solidFill>
                    <a:latin typeface="微软雅黑" panose="020B0503020204020204" pitchFamily="34" charset="-122"/>
                    <a:ea typeface="微软雅黑" panose="020B0503020204020204" pitchFamily="34" charset="-122"/>
                  </a:rPr>
                  <a:t>Niu </a:t>
                </a:r>
                <a:r>
                  <a:rPr lang="en-US" altLang="zh-CN" sz="1600" b="1" dirty="0" err="1">
                    <a:solidFill>
                      <a:schemeClr val="tx1"/>
                    </a:solidFill>
                    <a:latin typeface="微软雅黑" panose="020B0503020204020204" pitchFamily="34" charset="-122"/>
                    <a:ea typeface="微软雅黑" panose="020B0503020204020204" pitchFamily="34" charset="-122"/>
                  </a:rPr>
                  <a:t>Yizhen</a:t>
                </a:r>
                <a:r>
                  <a:rPr lang="zh-CN" altLang="en-US" sz="1600" b="1" dirty="0">
                    <a:solidFill>
                      <a:schemeClr val="tx1"/>
                    </a:solidFill>
                    <a:latin typeface="微软雅黑" panose="020B0503020204020204" pitchFamily="34" charset="-122"/>
                    <a:ea typeface="微软雅黑" panose="020B0503020204020204" pitchFamily="34" charset="-122"/>
                  </a:rPr>
                  <a:t>等学者探索了在</a:t>
                </a:r>
                <a:r>
                  <a:rPr lang="en-US" altLang="zh-CN" sz="1600" b="1" dirty="0">
                    <a:solidFill>
                      <a:schemeClr val="tx1"/>
                    </a:solidFill>
                    <a:latin typeface="微软雅黑" panose="020B0503020204020204" pitchFamily="34" charset="-122"/>
                    <a:ea typeface="微软雅黑" panose="020B0503020204020204" pitchFamily="34" charset="-122"/>
                  </a:rPr>
                  <a:t>Spark </a:t>
                </a:r>
                <a:r>
                  <a:rPr lang="zh-CN" altLang="en-US" sz="1600" b="1" dirty="0">
                    <a:solidFill>
                      <a:schemeClr val="tx1"/>
                    </a:solidFill>
                    <a:latin typeface="微软雅黑" panose="020B0503020204020204" pitchFamily="34" charset="-122"/>
                    <a:ea typeface="微软雅黑" panose="020B0503020204020204" pitchFamily="34" charset="-122"/>
                  </a:rPr>
                  <a:t>架构下并行化实现协同过滤</a:t>
                </a:r>
                <a:r>
                  <a:rPr lang="en-US" altLang="zh-CN" sz="1600" b="1" dirty="0">
                    <a:solidFill>
                      <a:schemeClr val="tx1"/>
                    </a:solidFill>
                    <a:latin typeface="微软雅黑" panose="020B0503020204020204" pitchFamily="34" charset="-122"/>
                    <a:ea typeface="微软雅黑" panose="020B0503020204020204" pitchFamily="34" charset="-122"/>
                  </a:rPr>
                  <a:t>,</a:t>
                </a:r>
                <a:r>
                  <a:rPr lang="zh-CN" altLang="en-US" sz="1600" b="1" dirty="0">
                    <a:solidFill>
                      <a:schemeClr val="tx1"/>
                    </a:solidFill>
                    <a:latin typeface="微软雅黑" panose="020B0503020204020204" pitchFamily="34" charset="-122"/>
                    <a:ea typeface="微软雅黑" panose="020B0503020204020204" pitchFamily="34" charset="-122"/>
                  </a:rPr>
                  <a:t>为海量音乐数据的实时处理提供了高性能支撑</a:t>
                </a:r>
                <a:r>
                  <a:rPr lang="zh-CN" altLang="en-US" sz="1600" b="1" dirty="0">
                    <a:latin typeface="微软雅黑" panose="020B0503020204020204" pitchFamily="34" charset="-122"/>
                    <a:ea typeface="微软雅黑" panose="020B0503020204020204" pitchFamily="34" charset="-122"/>
                  </a:rPr>
                  <a:t>。</a:t>
                </a:r>
                <a:endParaRPr lang="en-US" altLang="zh-CN" sz="1600" b="1" dirty="0">
                  <a:solidFill>
                    <a:schemeClr val="tx1"/>
                  </a:solidFill>
                  <a:latin typeface="微软雅黑" panose="020B0503020204020204" pitchFamily="34" charset="-122"/>
                  <a:ea typeface="微软雅黑" panose="020B0503020204020204" pitchFamily="34" charset="-122"/>
                </a:endParaRPr>
              </a:p>
            </p:txBody>
          </p:sp>
          <p:sp>
            <p:nvSpPr>
              <p:cNvPr id="41" name="Title-2">
                <a:extLst>
                  <a:ext uri="{FF2B5EF4-FFF2-40B4-BE49-F238E27FC236}">
                    <a16:creationId xmlns:a16="http://schemas.microsoft.com/office/drawing/2014/main" id="{67A13030-8C7A-8AEF-59A7-16A65EB9BC76}"/>
                  </a:ext>
                </a:extLst>
              </p:cNvPr>
              <p:cNvSpPr txBox="1"/>
              <p:nvPr>
                <p:custDataLst>
                  <p:tags r:id="rId5"/>
                </p:custDataLst>
              </p:nvPr>
            </p:nvSpPr>
            <p:spPr>
              <a:xfrm>
                <a:off x="3123590" y="2196607"/>
                <a:ext cx="224245" cy="232222"/>
              </a:xfrm>
              <a:prstGeom prst="rect">
                <a:avLst/>
              </a:prstGeom>
              <a:noFill/>
            </p:spPr>
            <p:txBody>
              <a:bodyPr wrap="none" rtlCol="0">
                <a:spAutoFit/>
              </a:bodyPr>
              <a:lstStyle/>
              <a:p>
                <a:pPr algn="ctr"/>
                <a:r>
                  <a:rPr lang="zh-CN" altLang="en-US" b="1" dirty="0">
                    <a:solidFill>
                      <a:schemeClr val="accent2"/>
                    </a:solidFill>
                    <a:latin typeface="Arial" panose="020B0604020202020204" pitchFamily="34" charset="0"/>
                    <a:ea typeface="微软雅黑" panose="020B0503020204020204" pitchFamily="34" charset="-122"/>
                  </a:rPr>
                  <a:t>中期</a:t>
                </a:r>
              </a:p>
            </p:txBody>
          </p:sp>
        </p:grpSp>
        <p:grpSp>
          <p:nvGrpSpPr>
            <p:cNvPr id="17" name="组合 16">
              <a:extLst>
                <a:ext uri="{FF2B5EF4-FFF2-40B4-BE49-F238E27FC236}">
                  <a16:creationId xmlns:a16="http://schemas.microsoft.com/office/drawing/2014/main" id="{72FB6444-CE8B-5FFA-84CF-A7A540454AFB}"/>
                </a:ext>
              </a:extLst>
            </p:cNvPr>
            <p:cNvGrpSpPr/>
            <p:nvPr/>
          </p:nvGrpSpPr>
          <p:grpSpPr>
            <a:xfrm>
              <a:off x="-1820332" y="2684465"/>
              <a:ext cx="6730318" cy="4553431"/>
              <a:chOff x="102585" y="2607805"/>
              <a:chExt cx="2775670" cy="3435621"/>
            </a:xfrm>
          </p:grpSpPr>
          <p:cxnSp>
            <p:nvCxnSpPr>
              <p:cNvPr id="18" name="1">
                <a:extLst>
                  <a:ext uri="{FF2B5EF4-FFF2-40B4-BE49-F238E27FC236}">
                    <a16:creationId xmlns:a16="http://schemas.microsoft.com/office/drawing/2014/main" id="{65E2AA63-72B4-4519-0091-76C8374113A6}"/>
                  </a:ext>
                </a:extLst>
              </p:cNvPr>
              <p:cNvCxnSpPr>
                <a:cxnSpLocks/>
              </p:cNvCxnSpPr>
              <p:nvPr/>
            </p:nvCxnSpPr>
            <p:spPr>
              <a:xfrm flipV="1">
                <a:off x="1677628" y="4309868"/>
                <a:ext cx="0" cy="363307"/>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9" name="1">
                <a:extLst>
                  <a:ext uri="{FF2B5EF4-FFF2-40B4-BE49-F238E27FC236}">
                    <a16:creationId xmlns:a16="http://schemas.microsoft.com/office/drawing/2014/main" id="{7EA78015-296D-1448-3666-6831F8ECB8F4}"/>
                  </a:ext>
                </a:extLst>
              </p:cNvPr>
              <p:cNvSpPr/>
              <p:nvPr/>
            </p:nvSpPr>
            <p:spPr>
              <a:xfrm>
                <a:off x="102585" y="5649768"/>
                <a:ext cx="2330973" cy="393658"/>
              </a:xfrm>
              <a:prstGeom prst="ellipse">
                <a:avLst/>
              </a:prstGeom>
              <a:solidFill>
                <a:schemeClr val="accent1">
                  <a:lumMod val="100000"/>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1">
                <a:extLst>
                  <a:ext uri="{FF2B5EF4-FFF2-40B4-BE49-F238E27FC236}">
                    <a16:creationId xmlns:a16="http://schemas.microsoft.com/office/drawing/2014/main" id="{A31D269B-2FB7-E469-C2D7-683FF1567D5A}"/>
                  </a:ext>
                </a:extLst>
              </p:cNvPr>
              <p:cNvSpPr/>
              <p:nvPr/>
            </p:nvSpPr>
            <p:spPr>
              <a:xfrm>
                <a:off x="804177" y="5686647"/>
                <a:ext cx="1132240" cy="292294"/>
              </a:xfrm>
              <a:prstGeom prst="ellipse">
                <a:avLst/>
              </a:prstGeom>
              <a:solidFill>
                <a:schemeClr val="accent1">
                  <a:lumMod val="50000"/>
                  <a:alpha val="34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1">
                <a:extLst>
                  <a:ext uri="{FF2B5EF4-FFF2-40B4-BE49-F238E27FC236}">
                    <a16:creationId xmlns:a16="http://schemas.microsoft.com/office/drawing/2014/main" id="{12B273A1-18E6-26F1-9CE7-7D8978DB3C2A}"/>
                  </a:ext>
                </a:extLst>
              </p:cNvPr>
              <p:cNvSpPr/>
              <p:nvPr/>
            </p:nvSpPr>
            <p:spPr>
              <a:xfrm>
                <a:off x="1988860" y="4673175"/>
                <a:ext cx="889395" cy="477289"/>
              </a:xfrm>
              <a:custGeom>
                <a:avLst/>
                <a:gdLst>
                  <a:gd name="connsiteX0" fmla="*/ 575485 w 989753"/>
                  <a:gd name="connsiteY0" fmla="*/ 49 h 531146"/>
                  <a:gd name="connsiteX1" fmla="*/ 637604 w 989753"/>
                  <a:gd name="connsiteY1" fmla="*/ 8062 h 531146"/>
                  <a:gd name="connsiteX2" fmla="*/ 820671 w 989753"/>
                  <a:gd name="connsiteY2" fmla="*/ 209956 h 531146"/>
                  <a:gd name="connsiteX3" fmla="*/ 853898 w 989753"/>
                  <a:gd name="connsiteY3" fmla="*/ 318398 h 531146"/>
                  <a:gd name="connsiteX4" fmla="*/ 866187 w 989753"/>
                  <a:gd name="connsiteY4" fmla="*/ 371230 h 531146"/>
                  <a:gd name="connsiteX5" fmla="*/ 963759 w 989753"/>
                  <a:gd name="connsiteY5" fmla="*/ 523777 h 531146"/>
                  <a:gd name="connsiteX6" fmla="*/ 989753 w 989753"/>
                  <a:gd name="connsiteY6" fmla="*/ 529891 h 531146"/>
                  <a:gd name="connsiteX7" fmla="*/ 989753 w 989753"/>
                  <a:gd name="connsiteY7" fmla="*/ 531145 h 531146"/>
                  <a:gd name="connsiteX8" fmla="*/ 888113 w 989753"/>
                  <a:gd name="connsiteY8" fmla="*/ 531145 h 531146"/>
                  <a:gd name="connsiteX9" fmla="*/ 888113 w 989753"/>
                  <a:gd name="connsiteY9" fmla="*/ 531146 h 531146"/>
                  <a:gd name="connsiteX10" fmla="*/ 0 w 989753"/>
                  <a:gd name="connsiteY10" fmla="*/ 531146 h 531146"/>
                  <a:gd name="connsiteX11" fmla="*/ 36063 w 989753"/>
                  <a:gd name="connsiteY11" fmla="*/ 471725 h 531146"/>
                  <a:gd name="connsiteX12" fmla="*/ 575485 w 989753"/>
                  <a:gd name="connsiteY12" fmla="*/ 49 h 53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753" h="531146">
                    <a:moveTo>
                      <a:pt x="575485" y="49"/>
                    </a:moveTo>
                    <a:cubicBezTo>
                      <a:pt x="596808" y="-402"/>
                      <a:pt x="617545" y="2224"/>
                      <a:pt x="637604" y="8062"/>
                    </a:cubicBezTo>
                    <a:cubicBezTo>
                      <a:pt x="716589" y="31049"/>
                      <a:pt x="777710" y="101699"/>
                      <a:pt x="820671" y="209956"/>
                    </a:cubicBezTo>
                    <a:lnTo>
                      <a:pt x="853898" y="318398"/>
                    </a:lnTo>
                    <a:lnTo>
                      <a:pt x="866187" y="371230"/>
                    </a:lnTo>
                    <a:cubicBezTo>
                      <a:pt x="888535" y="448415"/>
                      <a:pt x="923282" y="504450"/>
                      <a:pt x="963759" y="523777"/>
                    </a:cubicBezTo>
                    <a:lnTo>
                      <a:pt x="989753" y="529891"/>
                    </a:lnTo>
                    <a:lnTo>
                      <a:pt x="989753" y="531145"/>
                    </a:lnTo>
                    <a:lnTo>
                      <a:pt x="888113" y="531145"/>
                    </a:lnTo>
                    <a:lnTo>
                      <a:pt x="888113" y="531146"/>
                    </a:lnTo>
                    <a:lnTo>
                      <a:pt x="0" y="531146"/>
                    </a:lnTo>
                    <a:lnTo>
                      <a:pt x="36063" y="471725"/>
                    </a:lnTo>
                    <a:cubicBezTo>
                      <a:pt x="222755" y="179836"/>
                      <a:pt x="415571" y="3429"/>
                      <a:pt x="575485" y="49"/>
                    </a:cubicBezTo>
                    <a:close/>
                  </a:path>
                </a:pathLst>
              </a:custGeom>
              <a:gradFill flip="none" rotWithShape="1">
                <a:gsLst>
                  <a:gs pos="29000">
                    <a:schemeClr val="accent1">
                      <a:lumMod val="100000"/>
                    </a:schemeClr>
                  </a:gs>
                  <a:gs pos="87000">
                    <a:schemeClr val="accent1">
                      <a:lumMod val="50000"/>
                    </a:schemeClr>
                  </a:gs>
                </a:gsLst>
                <a:lin ang="13500000" scaled="1"/>
                <a:tileRect/>
              </a:gradFill>
              <a:ln>
                <a:noFill/>
              </a:ln>
              <a:effectLst>
                <a:outerShdw dist="38100" sx="102000" sy="102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6" name="1">
                <a:extLst>
                  <a:ext uri="{FF2B5EF4-FFF2-40B4-BE49-F238E27FC236}">
                    <a16:creationId xmlns:a16="http://schemas.microsoft.com/office/drawing/2014/main" id="{8EB4030D-2625-732A-DF9F-7E1290789E95}"/>
                  </a:ext>
                </a:extLst>
              </p:cNvPr>
              <p:cNvSpPr/>
              <p:nvPr/>
            </p:nvSpPr>
            <p:spPr>
              <a:xfrm>
                <a:off x="887642" y="4674312"/>
                <a:ext cx="1724393" cy="973548"/>
              </a:xfrm>
              <a:custGeom>
                <a:avLst/>
                <a:gdLst>
                  <a:gd name="connsiteX0" fmla="*/ 916636 w 1918970"/>
                  <a:gd name="connsiteY0" fmla="*/ 0 h 1083402"/>
                  <a:gd name="connsiteX1" fmla="*/ 1918970 w 1918970"/>
                  <a:gd name="connsiteY1" fmla="*/ 0 h 1083402"/>
                  <a:gd name="connsiteX2" fmla="*/ 1918970 w 1918970"/>
                  <a:gd name="connsiteY2" fmla="*/ 1883 h 1083402"/>
                  <a:gd name="connsiteX3" fmla="*/ 1904752 w 1918970"/>
                  <a:gd name="connsiteY3" fmla="*/ 49 h 1083402"/>
                  <a:gd name="connsiteX4" fmla="*/ 1295684 w 1918970"/>
                  <a:gd name="connsiteY4" fmla="*/ 586484 h 1083402"/>
                  <a:gd name="connsiteX5" fmla="*/ 1217296 w 1918970"/>
                  <a:gd name="connsiteY5" fmla="*/ 732677 h 1083402"/>
                  <a:gd name="connsiteX6" fmla="*/ 1217296 w 1918970"/>
                  <a:gd name="connsiteY6" fmla="*/ 729096 h 1083402"/>
                  <a:gd name="connsiteX7" fmla="*/ 1191601 w 1918970"/>
                  <a:gd name="connsiteY7" fmla="*/ 777447 h 1083402"/>
                  <a:gd name="connsiteX8" fmla="*/ 1105070 w 1918970"/>
                  <a:gd name="connsiteY8" fmla="*/ 963223 h 1083402"/>
                  <a:gd name="connsiteX9" fmla="*/ 1100139 w 1918970"/>
                  <a:gd name="connsiteY9" fmla="*/ 977167 h 1083402"/>
                  <a:gd name="connsiteX10" fmla="*/ 1021549 w 1918970"/>
                  <a:gd name="connsiteY10" fmla="*/ 1076034 h 1083402"/>
                  <a:gd name="connsiteX11" fmla="*/ 990601 w 1918970"/>
                  <a:gd name="connsiteY11" fmla="*/ 1083314 h 1083402"/>
                  <a:gd name="connsiteX12" fmla="*/ 990601 w 1918970"/>
                  <a:gd name="connsiteY12" fmla="*/ 1083402 h 1083402"/>
                  <a:gd name="connsiteX13" fmla="*/ 63298 w 1918970"/>
                  <a:gd name="connsiteY13" fmla="*/ 1083402 h 1083402"/>
                  <a:gd name="connsiteX14" fmla="*/ 63299 w 1918970"/>
                  <a:gd name="connsiteY14" fmla="*/ 1083401 h 1083402"/>
                  <a:gd name="connsiteX15" fmla="*/ 0 w 1918970"/>
                  <a:gd name="connsiteY15" fmla="*/ 1083401 h 1083402"/>
                  <a:gd name="connsiteX16" fmla="*/ 0 w 1918970"/>
                  <a:gd name="connsiteY16" fmla="*/ 1083313 h 1083402"/>
                  <a:gd name="connsiteX17" fmla="*/ 30948 w 1918970"/>
                  <a:gd name="connsiteY17" fmla="*/ 1076033 h 1083402"/>
                  <a:gd name="connsiteX18" fmla="*/ 109538 w 1918970"/>
                  <a:gd name="connsiteY18" fmla="*/ 977166 h 1083402"/>
                  <a:gd name="connsiteX19" fmla="*/ 114469 w 1918970"/>
                  <a:gd name="connsiteY19" fmla="*/ 963222 h 1083402"/>
                  <a:gd name="connsiteX20" fmla="*/ 201000 w 1918970"/>
                  <a:gd name="connsiteY20" fmla="*/ 777446 h 1083402"/>
                  <a:gd name="connsiteX21" fmla="*/ 912461 w 1918970"/>
                  <a:gd name="connsiteY21" fmla="*/ 49 h 1083402"/>
                  <a:gd name="connsiteX22" fmla="*/ 916636 w 1918970"/>
                  <a:gd name="connsiteY22" fmla="*/ 588 h 1083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18970" h="1083402">
                    <a:moveTo>
                      <a:pt x="916636" y="0"/>
                    </a:moveTo>
                    <a:lnTo>
                      <a:pt x="1918970" y="0"/>
                    </a:lnTo>
                    <a:lnTo>
                      <a:pt x="1918970" y="1883"/>
                    </a:lnTo>
                    <a:lnTo>
                      <a:pt x="1904752" y="49"/>
                    </a:lnTo>
                    <a:cubicBezTo>
                      <a:pt x="1724849" y="3851"/>
                      <a:pt x="1503304" y="226641"/>
                      <a:pt x="1295684" y="586484"/>
                    </a:cubicBezTo>
                    <a:lnTo>
                      <a:pt x="1217296" y="732677"/>
                    </a:lnTo>
                    <a:lnTo>
                      <a:pt x="1217296" y="729096"/>
                    </a:lnTo>
                    <a:lnTo>
                      <a:pt x="1191601" y="777447"/>
                    </a:lnTo>
                    <a:lnTo>
                      <a:pt x="1105070" y="963223"/>
                    </a:lnTo>
                    <a:lnTo>
                      <a:pt x="1100139" y="977167"/>
                    </a:lnTo>
                    <a:cubicBezTo>
                      <a:pt x="1079041" y="1026396"/>
                      <a:pt x="1051907" y="1061539"/>
                      <a:pt x="1021549" y="1076034"/>
                    </a:cubicBezTo>
                    <a:lnTo>
                      <a:pt x="990601" y="1083314"/>
                    </a:lnTo>
                    <a:lnTo>
                      <a:pt x="990601" y="1083402"/>
                    </a:lnTo>
                    <a:lnTo>
                      <a:pt x="63298" y="1083402"/>
                    </a:lnTo>
                    <a:lnTo>
                      <a:pt x="63299" y="1083401"/>
                    </a:lnTo>
                    <a:lnTo>
                      <a:pt x="0" y="1083401"/>
                    </a:lnTo>
                    <a:lnTo>
                      <a:pt x="0" y="1083313"/>
                    </a:lnTo>
                    <a:lnTo>
                      <a:pt x="30948" y="1076033"/>
                    </a:lnTo>
                    <a:cubicBezTo>
                      <a:pt x="61306" y="1061538"/>
                      <a:pt x="88440" y="1026395"/>
                      <a:pt x="109538" y="977166"/>
                    </a:cubicBezTo>
                    <a:lnTo>
                      <a:pt x="114469" y="963222"/>
                    </a:lnTo>
                    <a:lnTo>
                      <a:pt x="201000" y="777446"/>
                    </a:lnTo>
                    <a:cubicBezTo>
                      <a:pt x="436008" y="306988"/>
                      <a:pt x="702574" y="4485"/>
                      <a:pt x="912461" y="49"/>
                    </a:cubicBezTo>
                    <a:lnTo>
                      <a:pt x="916636" y="588"/>
                    </a:lnTo>
                    <a:close/>
                  </a:path>
                </a:pathLst>
              </a:custGeom>
              <a:gradFill flip="none" rotWithShape="1">
                <a:gsLst>
                  <a:gs pos="40000">
                    <a:schemeClr val="accent1">
                      <a:lumMod val="60000"/>
                      <a:lumOff val="40000"/>
                    </a:schemeClr>
                  </a:gs>
                  <a:gs pos="80000">
                    <a:schemeClr val="accent1">
                      <a:lumMod val="100000"/>
                    </a:schemeClr>
                  </a:gs>
                </a:gsLst>
                <a:lin ang="13500000" scaled="1"/>
                <a:tileRect/>
              </a:gradFill>
              <a:ln>
                <a:noFill/>
              </a:ln>
              <a:effectLst>
                <a:outerShdw dist="38100" algn="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Body-1">
                <a:extLst>
                  <a:ext uri="{FF2B5EF4-FFF2-40B4-BE49-F238E27FC236}">
                    <a16:creationId xmlns:a16="http://schemas.microsoft.com/office/drawing/2014/main" id="{0E1A9545-E873-798A-F654-BD1AD7DD6A1D}"/>
                  </a:ext>
                </a:extLst>
              </p:cNvPr>
              <p:cNvSpPr txBox="1"/>
              <p:nvPr>
                <p:custDataLst>
                  <p:tags r:id="rId2"/>
                </p:custDataLst>
              </p:nvPr>
            </p:nvSpPr>
            <p:spPr>
              <a:xfrm>
                <a:off x="907044" y="2978403"/>
                <a:ext cx="1724392" cy="1077217"/>
              </a:xfrm>
              <a:prstGeom prst="rect">
                <a:avLst/>
              </a:prstGeom>
              <a:noFill/>
            </p:spPr>
            <p:txBody>
              <a:bodyPr wrap="square" rtlCol="0">
                <a:spAutoFit/>
              </a:bodyPr>
              <a:lstStyle/>
              <a:p>
                <a:pPr algn="ctr">
                  <a:lnSpc>
                    <a:spcPct val="110000"/>
                  </a:lnSpc>
                </a:pPr>
                <a:r>
                  <a:rPr lang="zh-CN" altLang="en-US" sz="1600" b="1" dirty="0">
                    <a:solidFill>
                      <a:schemeClr val="tx1"/>
                    </a:solidFill>
                    <a:latin typeface="微软雅黑" panose="020B0503020204020204" pitchFamily="34" charset="-122"/>
                    <a:ea typeface="微软雅黑" panose="020B0503020204020204" pitchFamily="34" charset="-122"/>
                  </a:rPr>
                  <a:t>以协同过滤</a:t>
                </a:r>
                <a:r>
                  <a:rPr lang="en-US" altLang="zh-CN" sz="1600" b="1" dirty="0">
                    <a:solidFill>
                      <a:schemeClr val="tx1"/>
                    </a:solidFill>
                    <a:latin typeface="微软雅黑" panose="020B0503020204020204" pitchFamily="34" charset="-122"/>
                    <a:ea typeface="微软雅黑" panose="020B0503020204020204" pitchFamily="34" charset="-122"/>
                  </a:rPr>
                  <a:t>(Collaborative Filtering)</a:t>
                </a:r>
                <a:r>
                  <a:rPr lang="zh-CN" altLang="en-US" sz="1600" b="1" dirty="0">
                    <a:solidFill>
                      <a:schemeClr val="tx1"/>
                    </a:solidFill>
                    <a:latin typeface="微软雅黑" panose="020B0503020204020204" pitchFamily="34" charset="-122"/>
                    <a:ea typeface="微软雅黑" panose="020B0503020204020204" pitchFamily="34" charset="-122"/>
                  </a:rPr>
                  <a:t>为主</a:t>
                </a:r>
                <a:r>
                  <a:rPr lang="en-US" altLang="zh-CN" sz="1600" b="1" dirty="0">
                    <a:solidFill>
                      <a:schemeClr val="tx1"/>
                    </a:solidFill>
                    <a:latin typeface="微软雅黑" panose="020B0503020204020204" pitchFamily="34" charset="-122"/>
                    <a:ea typeface="微软雅黑" panose="020B0503020204020204" pitchFamily="34" charset="-122"/>
                  </a:rPr>
                  <a:t>,</a:t>
                </a:r>
                <a:r>
                  <a:rPr lang="zh-CN" altLang="en-US" sz="1600" b="1" dirty="0">
                    <a:solidFill>
                      <a:schemeClr val="tx1"/>
                    </a:solidFill>
                    <a:latin typeface="微软雅黑" panose="020B0503020204020204" pitchFamily="34" charset="-122"/>
                    <a:ea typeface="微软雅黑" panose="020B0503020204020204" pitchFamily="34" charset="-122"/>
                  </a:rPr>
                  <a:t>奠定推荐系统基础。系统基础架构方面，</a:t>
                </a:r>
                <a:r>
                  <a:rPr lang="en-US" altLang="zh-CN" sz="1600" b="1" dirty="0">
                    <a:solidFill>
                      <a:schemeClr val="tx1"/>
                    </a:solidFill>
                    <a:latin typeface="微软雅黑" panose="020B0503020204020204" pitchFamily="34" charset="-122"/>
                    <a:ea typeface="微软雅黑" panose="020B0503020204020204" pitchFamily="34" charset="-122"/>
                  </a:rPr>
                  <a:t>Sarvesh Paul </a:t>
                </a:r>
                <a:r>
                  <a:rPr lang="zh-CN" altLang="en-US" sz="1600" b="1" dirty="0">
                    <a:solidFill>
                      <a:schemeClr val="tx1"/>
                    </a:solidFill>
                    <a:latin typeface="微软雅黑" panose="020B0503020204020204" pitchFamily="34" charset="-122"/>
                    <a:ea typeface="微软雅黑" panose="020B0503020204020204" pitchFamily="34" charset="-122"/>
                  </a:rPr>
                  <a:t>等人通过构建个性化音乐推荐系统，验证了多维度用户行为对提升推荐满意度的重要性。 </a:t>
                </a:r>
                <a:endParaRPr lang="en-US" altLang="zh-CN" sz="1600" b="1" dirty="0">
                  <a:solidFill>
                    <a:schemeClr val="tx1"/>
                  </a:solidFill>
                  <a:latin typeface="微软雅黑" panose="020B0503020204020204" pitchFamily="34" charset="-122"/>
                  <a:ea typeface="微软雅黑" panose="020B0503020204020204" pitchFamily="34" charset="-122"/>
                </a:endParaRPr>
              </a:p>
            </p:txBody>
          </p:sp>
          <p:sp>
            <p:nvSpPr>
              <p:cNvPr id="32" name="Title-1">
                <a:extLst>
                  <a:ext uri="{FF2B5EF4-FFF2-40B4-BE49-F238E27FC236}">
                    <a16:creationId xmlns:a16="http://schemas.microsoft.com/office/drawing/2014/main" id="{30122119-A333-093C-70EF-83F569A4EC7E}"/>
                  </a:ext>
                </a:extLst>
              </p:cNvPr>
              <p:cNvSpPr txBox="1"/>
              <p:nvPr>
                <p:custDataLst>
                  <p:tags r:id="rId3"/>
                </p:custDataLst>
              </p:nvPr>
            </p:nvSpPr>
            <p:spPr>
              <a:xfrm>
                <a:off x="1565505" y="2607805"/>
                <a:ext cx="224245" cy="232222"/>
              </a:xfrm>
              <a:prstGeom prst="rect">
                <a:avLst/>
              </a:prstGeom>
              <a:noFill/>
            </p:spPr>
            <p:txBody>
              <a:bodyPr wrap="none" rtlCol="0">
                <a:spAutoFit/>
              </a:bodyPr>
              <a:lstStyle/>
              <a:p>
                <a:pPr algn="ctr"/>
                <a:r>
                  <a:rPr lang="zh-CN" altLang="en-US" b="1" dirty="0">
                    <a:solidFill>
                      <a:schemeClr val="accent1"/>
                    </a:solidFill>
                    <a:latin typeface="Arial" panose="020B0604020202020204" pitchFamily="34" charset="0"/>
                    <a:ea typeface="微软雅黑" panose="020B0503020204020204" pitchFamily="34" charset="-122"/>
                  </a:rPr>
                  <a:t>早期</a:t>
                </a:r>
              </a:p>
            </p:txBody>
          </p:sp>
        </p:grpSp>
      </p:grpSp>
    </p:spTree>
    <p:custDataLst>
      <p:tags r:id="rId1"/>
    </p:custDataLst>
    <p:extLst>
      <p:ext uri="{BB962C8B-B14F-4D97-AF65-F5344CB8AC3E}">
        <p14:creationId xmlns:p14="http://schemas.microsoft.com/office/powerpoint/2010/main" val="3542253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5DC5-25F2-655C-282E-3E8C65B4B05B}"/>
            </a:ext>
          </a:extLst>
        </p:cNvPr>
        <p:cNvGrpSpPr/>
        <p:nvPr/>
      </p:nvGrpSpPr>
      <p:grpSpPr>
        <a:xfrm>
          <a:off x="0" y="0"/>
          <a:ext cx="0" cy="0"/>
          <a:chOff x="0" y="0"/>
          <a:chExt cx="0" cy="0"/>
        </a:xfrm>
      </p:grpSpPr>
      <p:pic>
        <p:nvPicPr>
          <p:cNvPr id="2" name="Google Shape;200;p20" descr="image.png">
            <a:extLst>
              <a:ext uri="{FF2B5EF4-FFF2-40B4-BE49-F238E27FC236}">
                <a16:creationId xmlns:a16="http://schemas.microsoft.com/office/drawing/2014/main" id="{FE477C1B-167D-7AA2-4E49-3D1AF3E3FF6F}"/>
              </a:ext>
            </a:extLst>
          </p:cNvPr>
          <p:cNvPicPr preferRelativeResize="0"/>
          <p:nvPr/>
        </p:nvPicPr>
        <p:blipFill rotWithShape="1">
          <a:blip r:embed="rId5">
            <a:alphaModFix/>
          </a:blip>
          <a:srcRect/>
          <a:stretch/>
        </p:blipFill>
        <p:spPr>
          <a:xfrm>
            <a:off x="571500" y="3154032"/>
            <a:ext cx="3524250" cy="2531566"/>
          </a:xfrm>
          <a:prstGeom prst="rect">
            <a:avLst/>
          </a:prstGeom>
          <a:noFill/>
          <a:ln>
            <a:noFill/>
          </a:ln>
        </p:spPr>
      </p:pic>
      <p:pic>
        <p:nvPicPr>
          <p:cNvPr id="3" name="Google Shape;201;p20" descr="image.png">
            <a:extLst>
              <a:ext uri="{FF2B5EF4-FFF2-40B4-BE49-F238E27FC236}">
                <a16:creationId xmlns:a16="http://schemas.microsoft.com/office/drawing/2014/main" id="{69B2CAD2-BAAA-C6E7-AF3C-4B08C591866C}"/>
              </a:ext>
            </a:extLst>
          </p:cNvPr>
          <p:cNvPicPr preferRelativeResize="0"/>
          <p:nvPr/>
        </p:nvPicPr>
        <p:blipFill rotWithShape="1">
          <a:blip r:embed="rId5">
            <a:alphaModFix/>
          </a:blip>
          <a:srcRect/>
          <a:stretch/>
        </p:blipFill>
        <p:spPr>
          <a:xfrm>
            <a:off x="4374001" y="3154032"/>
            <a:ext cx="3524250" cy="2531566"/>
          </a:xfrm>
          <a:prstGeom prst="rect">
            <a:avLst/>
          </a:prstGeom>
          <a:noFill/>
          <a:ln>
            <a:noFill/>
          </a:ln>
        </p:spPr>
      </p:pic>
      <p:pic>
        <p:nvPicPr>
          <p:cNvPr id="4" name="Google Shape;202;p20" descr="image.png">
            <a:extLst>
              <a:ext uri="{FF2B5EF4-FFF2-40B4-BE49-F238E27FC236}">
                <a16:creationId xmlns:a16="http://schemas.microsoft.com/office/drawing/2014/main" id="{0B5F2659-4250-5C6C-E29D-C7F48241EC4B}"/>
              </a:ext>
            </a:extLst>
          </p:cNvPr>
          <p:cNvPicPr preferRelativeResize="0"/>
          <p:nvPr/>
        </p:nvPicPr>
        <p:blipFill rotWithShape="1">
          <a:blip r:embed="rId6">
            <a:alphaModFix/>
          </a:blip>
          <a:srcRect/>
          <a:stretch/>
        </p:blipFill>
        <p:spPr>
          <a:xfrm>
            <a:off x="8176503" y="3170944"/>
            <a:ext cx="3524250" cy="2531566"/>
          </a:xfrm>
          <a:prstGeom prst="rect">
            <a:avLst/>
          </a:prstGeom>
          <a:noFill/>
          <a:ln>
            <a:noFill/>
          </a:ln>
        </p:spPr>
      </p:pic>
      <p:sp>
        <p:nvSpPr>
          <p:cNvPr id="6" name="Google Shape;206;p20">
            <a:extLst>
              <a:ext uri="{FF2B5EF4-FFF2-40B4-BE49-F238E27FC236}">
                <a16:creationId xmlns:a16="http://schemas.microsoft.com/office/drawing/2014/main" id="{ACC71423-8714-84E7-EECE-BE7B131C4276}"/>
              </a:ext>
            </a:extLst>
          </p:cNvPr>
          <p:cNvSpPr txBox="1"/>
          <p:nvPr/>
        </p:nvSpPr>
        <p:spPr>
          <a:xfrm>
            <a:off x="866775" y="3448161"/>
            <a:ext cx="3080385"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1950" b="1" dirty="0">
                <a:solidFill>
                  <a:srgbClr val="00F3FF"/>
                </a:solidFill>
                <a:latin typeface="Arial" panose="020B0604020202020204" pitchFamily="34" charset="0"/>
                <a:ea typeface="微软雅黑" panose="020B0503020204020204" pitchFamily="34" charset="-122"/>
              </a:rPr>
              <a:t>1.</a:t>
            </a:r>
            <a:r>
              <a:rPr lang="zh-CN" altLang="en-US" sz="1950" b="1" dirty="0">
                <a:solidFill>
                  <a:srgbClr val="00F3FF"/>
                </a:solidFill>
                <a:latin typeface="Arial" panose="020B0604020202020204" pitchFamily="34" charset="0"/>
                <a:ea typeface="微软雅黑" panose="020B0503020204020204" pitchFamily="34" charset="-122"/>
              </a:rPr>
              <a:t>系统工程的实现</a:t>
            </a:r>
            <a:endParaRPr sz="1950" b="1" dirty="0">
              <a:solidFill>
                <a:srgbClr val="00F3FF"/>
              </a:solidFill>
              <a:latin typeface="Arial" panose="020B0604020202020204" pitchFamily="34" charset="0"/>
              <a:ea typeface="微软雅黑" panose="020B0503020204020204" pitchFamily="34" charset="-122"/>
            </a:endParaRPr>
          </a:p>
        </p:txBody>
      </p:sp>
      <p:sp>
        <p:nvSpPr>
          <p:cNvPr id="7" name="Google Shape;207;p20">
            <a:extLst>
              <a:ext uri="{FF2B5EF4-FFF2-40B4-BE49-F238E27FC236}">
                <a16:creationId xmlns:a16="http://schemas.microsoft.com/office/drawing/2014/main" id="{6EED5492-77F2-7C56-BE2A-7E9B2D0811BC}"/>
              </a:ext>
            </a:extLst>
          </p:cNvPr>
          <p:cNvSpPr txBox="1"/>
          <p:nvPr/>
        </p:nvSpPr>
        <p:spPr>
          <a:xfrm>
            <a:off x="866775" y="3792657"/>
            <a:ext cx="2933700" cy="1846659"/>
          </a:xfrm>
          <a:prstGeom prst="rect">
            <a:avLst/>
          </a:prstGeom>
          <a:noFill/>
          <a:ln>
            <a:noFill/>
          </a:ln>
        </p:spPr>
        <p:txBody>
          <a:bodyPr spcFirstLastPara="1" wrap="square" lIns="0" tIns="0" rIns="0" bIns="0" anchor="t" anchorCtr="0">
            <a:spAutoFit/>
          </a:bodyPr>
          <a:lstStyle/>
          <a:p>
            <a:pPr lvl="0" algn="just">
              <a:lnSpc>
                <a:spcPct val="150000"/>
              </a:lnSpc>
            </a:pPr>
            <a:r>
              <a:rPr lang="zh-CN" altLang="en-US" sz="1600" b="1" dirty="0">
                <a:solidFill>
                  <a:schemeClr val="bg1"/>
                </a:solidFill>
                <a:latin typeface="+mn-ea"/>
              </a:rPr>
              <a:t>赵吉等人基于 </a:t>
            </a:r>
            <a:r>
              <a:rPr lang="en-US" altLang="zh-CN" sz="1600" b="1" dirty="0">
                <a:solidFill>
                  <a:schemeClr val="bg1"/>
                </a:solidFill>
                <a:latin typeface="+mn-ea"/>
              </a:rPr>
              <a:t>Spark </a:t>
            </a:r>
            <a:r>
              <a:rPr lang="zh-CN" altLang="en-US" sz="1600" b="1" dirty="0">
                <a:solidFill>
                  <a:schemeClr val="bg1"/>
                </a:solidFill>
                <a:latin typeface="+mn-ea"/>
              </a:rPr>
              <a:t>提升了千万级日志处理效率</a:t>
            </a:r>
            <a:r>
              <a:rPr lang="en-US" altLang="zh-CN" sz="1600" b="1" dirty="0">
                <a:solidFill>
                  <a:schemeClr val="bg1"/>
                </a:solidFill>
                <a:latin typeface="+mn-ea"/>
              </a:rPr>
              <a:t>,</a:t>
            </a:r>
            <a:r>
              <a:rPr lang="zh-CN" altLang="en-US" sz="1600" b="1" dirty="0">
                <a:solidFill>
                  <a:schemeClr val="bg1"/>
                </a:solidFill>
                <a:latin typeface="+mn-ea"/>
              </a:rPr>
              <a:t>验证了分布式计算的可行性。</a:t>
            </a:r>
            <a:endParaRPr lang="en-US" altLang="zh-CN" sz="1600" b="1" dirty="0">
              <a:solidFill>
                <a:schemeClr val="bg1"/>
              </a:solidFill>
              <a:latin typeface="+mn-ea"/>
            </a:endParaRPr>
          </a:p>
          <a:p>
            <a:pPr lvl="0" algn="just">
              <a:lnSpc>
                <a:spcPct val="150000"/>
              </a:lnSpc>
            </a:pPr>
            <a:r>
              <a:rPr lang="zh-CN" altLang="en-US" sz="1600" b="1" dirty="0">
                <a:solidFill>
                  <a:schemeClr val="bg1"/>
                </a:solidFill>
                <a:latin typeface="+mn-ea"/>
              </a:rPr>
              <a:t>杨率利用深度神经网络等构建了高响应实时系统</a:t>
            </a:r>
            <a:r>
              <a:rPr lang="en-US" altLang="zh-CN" sz="1600" b="1" dirty="0">
                <a:solidFill>
                  <a:schemeClr val="bg1"/>
                </a:solidFill>
                <a:latin typeface="+mn-ea"/>
              </a:rPr>
              <a:t>,</a:t>
            </a:r>
            <a:r>
              <a:rPr lang="zh-CN" altLang="en-US" sz="1600" b="1" dirty="0">
                <a:solidFill>
                  <a:schemeClr val="bg1"/>
                </a:solidFill>
                <a:latin typeface="+mn-ea"/>
              </a:rPr>
              <a:t>聚焦于工程落地。</a:t>
            </a:r>
            <a:endParaRPr sz="1600" b="1" dirty="0">
              <a:solidFill>
                <a:schemeClr val="bg1"/>
              </a:solidFill>
              <a:latin typeface="+mn-ea"/>
            </a:endParaRPr>
          </a:p>
        </p:txBody>
      </p:sp>
      <p:sp>
        <p:nvSpPr>
          <p:cNvPr id="9" name="Google Shape;210;p20">
            <a:extLst>
              <a:ext uri="{FF2B5EF4-FFF2-40B4-BE49-F238E27FC236}">
                <a16:creationId xmlns:a16="http://schemas.microsoft.com/office/drawing/2014/main" id="{913BC506-D7FB-BE08-1D3F-B3A5415E77E1}"/>
              </a:ext>
            </a:extLst>
          </p:cNvPr>
          <p:cNvSpPr txBox="1"/>
          <p:nvPr/>
        </p:nvSpPr>
        <p:spPr>
          <a:xfrm>
            <a:off x="4629150" y="3376846"/>
            <a:ext cx="3080385" cy="307777"/>
          </a:xfrm>
          <a:prstGeom prst="rect">
            <a:avLst/>
          </a:prstGeom>
          <a:noFill/>
          <a:ln>
            <a:noFill/>
          </a:ln>
        </p:spPr>
        <p:txBody>
          <a:bodyPr spcFirstLastPara="1" wrap="square" lIns="0" tIns="0" rIns="0" bIns="0" anchor="t" anchorCtr="0">
            <a:spAutoFit/>
          </a:bodyPr>
          <a:lstStyle/>
          <a:p>
            <a:pPr lvl="0"/>
            <a:r>
              <a:rPr lang="en-US" altLang="zh-CN" sz="1950" b="1" dirty="0">
                <a:solidFill>
                  <a:srgbClr val="00F3FF"/>
                </a:solidFill>
                <a:latin typeface="Arial" panose="020B0604020202020204" pitchFamily="34" charset="0"/>
                <a:ea typeface="微软雅黑" panose="020B0503020204020204" pitchFamily="34" charset="-122"/>
              </a:rPr>
              <a:t>2.</a:t>
            </a:r>
            <a:r>
              <a:rPr lang="zh-CN" altLang="en-US" sz="1950" b="1" dirty="0">
                <a:solidFill>
                  <a:srgbClr val="00F3FF"/>
                </a:solidFill>
                <a:latin typeface="Arial" panose="020B0604020202020204" pitchFamily="34" charset="0"/>
                <a:ea typeface="微软雅黑" panose="020B0503020204020204" pitchFamily="34" charset="-122"/>
              </a:rPr>
              <a:t>语义与情感挖掘</a:t>
            </a:r>
            <a:endParaRPr sz="1950" b="1" dirty="0">
              <a:solidFill>
                <a:srgbClr val="00F3FF"/>
              </a:solidFill>
              <a:latin typeface="Arial" panose="020B0604020202020204" pitchFamily="34" charset="0"/>
              <a:ea typeface="微软雅黑" panose="020B0503020204020204" pitchFamily="34" charset="-122"/>
            </a:endParaRPr>
          </a:p>
        </p:txBody>
      </p:sp>
      <p:sp>
        <p:nvSpPr>
          <p:cNvPr id="10" name="Google Shape;211;p20">
            <a:extLst>
              <a:ext uri="{FF2B5EF4-FFF2-40B4-BE49-F238E27FC236}">
                <a16:creationId xmlns:a16="http://schemas.microsoft.com/office/drawing/2014/main" id="{C5D153DD-A3C4-B9AE-FF1D-4C921299BA6E}"/>
              </a:ext>
            </a:extLst>
          </p:cNvPr>
          <p:cNvSpPr txBox="1"/>
          <p:nvPr/>
        </p:nvSpPr>
        <p:spPr>
          <a:xfrm>
            <a:off x="4629150" y="3792658"/>
            <a:ext cx="2933700" cy="1846659"/>
          </a:xfrm>
          <a:prstGeom prst="rect">
            <a:avLst/>
          </a:prstGeom>
          <a:noFill/>
          <a:ln>
            <a:noFill/>
          </a:ln>
        </p:spPr>
        <p:txBody>
          <a:bodyPr spcFirstLastPara="1" wrap="square" lIns="0" tIns="0" rIns="0" bIns="0" anchor="t" anchorCtr="0">
            <a:spAutoFit/>
          </a:bodyPr>
          <a:lstStyle/>
          <a:p>
            <a:pPr lvl="0" algn="just">
              <a:lnSpc>
                <a:spcPct val="150000"/>
              </a:lnSpc>
            </a:pPr>
            <a:r>
              <a:rPr lang="zh-CN" altLang="en-US" sz="1600" b="1" dirty="0">
                <a:solidFill>
                  <a:schemeClr val="bg1"/>
                </a:solidFill>
                <a:latin typeface="+mn-ea"/>
              </a:rPr>
              <a:t>研究重心正从内容特征转向情感理解。如冯亚寒利用改进型</a:t>
            </a:r>
            <a:r>
              <a:rPr lang="en-US" altLang="zh-CN" sz="1600" b="1" dirty="0">
                <a:solidFill>
                  <a:schemeClr val="bg1"/>
                </a:solidFill>
                <a:latin typeface="+mn-ea"/>
              </a:rPr>
              <a:t>WSM-CNN </a:t>
            </a:r>
            <a:r>
              <a:rPr lang="zh-CN" altLang="en-US" sz="1600" b="1" dirty="0">
                <a:solidFill>
                  <a:schemeClr val="bg1"/>
                </a:solidFill>
                <a:latin typeface="+mn-ea"/>
              </a:rPr>
              <a:t>模型对音乐歌词进行精准情感分类</a:t>
            </a:r>
            <a:r>
              <a:rPr lang="en-US" altLang="zh-CN" sz="1600" b="1" dirty="0">
                <a:solidFill>
                  <a:schemeClr val="bg1"/>
                </a:solidFill>
                <a:latin typeface="+mn-ea"/>
              </a:rPr>
              <a:t>,</a:t>
            </a:r>
            <a:r>
              <a:rPr lang="zh-CN" altLang="en-US" sz="1600" b="1" dirty="0">
                <a:solidFill>
                  <a:schemeClr val="bg1"/>
                </a:solidFill>
                <a:latin typeface="+mn-ea"/>
              </a:rPr>
              <a:t>为情感化推荐提供可能。 </a:t>
            </a:r>
          </a:p>
        </p:txBody>
      </p:sp>
      <p:sp>
        <p:nvSpPr>
          <p:cNvPr id="12" name="Google Shape;214;p20">
            <a:extLst>
              <a:ext uri="{FF2B5EF4-FFF2-40B4-BE49-F238E27FC236}">
                <a16:creationId xmlns:a16="http://schemas.microsoft.com/office/drawing/2014/main" id="{D8C70C1D-6A52-41A2-3D01-CC539ED34992}"/>
              </a:ext>
            </a:extLst>
          </p:cNvPr>
          <p:cNvSpPr txBox="1"/>
          <p:nvPr/>
        </p:nvSpPr>
        <p:spPr>
          <a:xfrm>
            <a:off x="8451533" y="3386458"/>
            <a:ext cx="3080385" cy="307777"/>
          </a:xfrm>
          <a:prstGeom prst="rect">
            <a:avLst/>
          </a:prstGeom>
          <a:noFill/>
          <a:ln>
            <a:noFill/>
          </a:ln>
        </p:spPr>
        <p:txBody>
          <a:bodyPr spcFirstLastPara="1" wrap="square" lIns="0" tIns="0" rIns="0" bIns="0" anchor="t" anchorCtr="0">
            <a:spAutoFit/>
          </a:bodyPr>
          <a:lstStyle/>
          <a:p>
            <a:pPr lvl="0"/>
            <a:r>
              <a:rPr lang="en-US" altLang="zh-CN" sz="1950" b="1" dirty="0">
                <a:solidFill>
                  <a:srgbClr val="00F3FF"/>
                </a:solidFill>
                <a:latin typeface="Arial" panose="020B0604020202020204" pitchFamily="34" charset="0"/>
                <a:ea typeface="微软雅黑" panose="020B0503020204020204" pitchFamily="34" charset="-122"/>
              </a:rPr>
              <a:t>3.</a:t>
            </a:r>
            <a:r>
              <a:rPr lang="zh-CN" altLang="en-US" sz="1950" b="1" dirty="0">
                <a:solidFill>
                  <a:srgbClr val="00F3FF"/>
                </a:solidFill>
                <a:latin typeface="Arial" panose="020B0604020202020204" pitchFamily="34" charset="0"/>
                <a:ea typeface="微软雅黑" panose="020B0503020204020204" pitchFamily="34" charset="-122"/>
              </a:rPr>
              <a:t>知识图谱应用</a:t>
            </a:r>
            <a:endParaRPr sz="1950" b="1" dirty="0">
              <a:solidFill>
                <a:srgbClr val="00F3FF"/>
              </a:solidFill>
              <a:latin typeface="Arial" panose="020B0604020202020204" pitchFamily="34" charset="0"/>
              <a:ea typeface="微软雅黑" panose="020B0503020204020204" pitchFamily="34" charset="-122"/>
            </a:endParaRPr>
          </a:p>
        </p:txBody>
      </p:sp>
      <p:sp>
        <p:nvSpPr>
          <p:cNvPr id="13" name="Google Shape;215;p20">
            <a:extLst>
              <a:ext uri="{FF2B5EF4-FFF2-40B4-BE49-F238E27FC236}">
                <a16:creationId xmlns:a16="http://schemas.microsoft.com/office/drawing/2014/main" id="{1B3C1F19-A3B9-F81D-813C-F34D4BE86CE4}"/>
              </a:ext>
            </a:extLst>
          </p:cNvPr>
          <p:cNvSpPr txBox="1"/>
          <p:nvPr/>
        </p:nvSpPr>
        <p:spPr>
          <a:xfrm>
            <a:off x="8451533" y="3792657"/>
            <a:ext cx="2933700" cy="1477328"/>
          </a:xfrm>
          <a:prstGeom prst="rect">
            <a:avLst/>
          </a:prstGeom>
          <a:noFill/>
          <a:ln>
            <a:noFill/>
          </a:ln>
        </p:spPr>
        <p:txBody>
          <a:bodyPr spcFirstLastPara="1" wrap="square" lIns="0" tIns="0" rIns="0" bIns="0" anchor="t" anchorCtr="0">
            <a:spAutoFit/>
          </a:bodyPr>
          <a:lstStyle/>
          <a:p>
            <a:pPr lvl="0" algn="just">
              <a:lnSpc>
                <a:spcPct val="150000"/>
              </a:lnSpc>
            </a:pPr>
            <a:r>
              <a:rPr lang="zh-CN" altLang="en-US" sz="1600" b="1" dirty="0">
                <a:solidFill>
                  <a:schemeClr val="bg1"/>
                </a:solidFill>
                <a:latin typeface="+mn-ea"/>
              </a:rPr>
              <a:t>李津等通过引入知识图谱</a:t>
            </a:r>
            <a:r>
              <a:rPr lang="en-US" altLang="zh-CN" sz="1600" b="1" dirty="0">
                <a:solidFill>
                  <a:schemeClr val="bg1"/>
                </a:solidFill>
                <a:latin typeface="+mn-ea"/>
              </a:rPr>
              <a:t>,</a:t>
            </a:r>
            <a:r>
              <a:rPr lang="zh-CN" altLang="en-US" sz="1600" b="1" dirty="0">
                <a:solidFill>
                  <a:schemeClr val="bg1"/>
                </a:solidFill>
                <a:latin typeface="+mn-ea"/>
              </a:rPr>
              <a:t>关联音乐、歌手、风格等实体</a:t>
            </a:r>
            <a:r>
              <a:rPr lang="en-US" altLang="zh-CN" sz="1600" b="1" dirty="0">
                <a:solidFill>
                  <a:schemeClr val="bg1"/>
                </a:solidFill>
                <a:latin typeface="+mn-ea"/>
              </a:rPr>
              <a:t>,</a:t>
            </a:r>
            <a:r>
              <a:rPr lang="zh-CN" altLang="en-US" sz="1600" b="1" dirty="0">
                <a:solidFill>
                  <a:schemeClr val="bg1"/>
                </a:solidFill>
                <a:latin typeface="+mn-ea"/>
              </a:rPr>
              <a:t>有效优化推荐精度</a:t>
            </a:r>
            <a:r>
              <a:rPr lang="en-US" altLang="zh-CN" sz="1600" b="1" dirty="0">
                <a:solidFill>
                  <a:schemeClr val="bg1"/>
                </a:solidFill>
                <a:latin typeface="+mn-ea"/>
              </a:rPr>
              <a:t>,</a:t>
            </a:r>
            <a:r>
              <a:rPr lang="zh-CN" altLang="en-US" sz="1600" b="1" dirty="0">
                <a:solidFill>
                  <a:schemeClr val="bg1"/>
                </a:solidFill>
                <a:latin typeface="+mn-ea"/>
              </a:rPr>
              <a:t>缓解数据稀疏与冷启动问题。</a:t>
            </a:r>
            <a:endParaRPr sz="1600" b="1" dirty="0">
              <a:solidFill>
                <a:schemeClr val="bg1"/>
              </a:solidFill>
              <a:latin typeface="+mn-ea"/>
            </a:endParaRPr>
          </a:p>
        </p:txBody>
      </p:sp>
      <p:sp>
        <p:nvSpPr>
          <p:cNvPr id="14" name="Google Shape;219;p20">
            <a:extLst>
              <a:ext uri="{FF2B5EF4-FFF2-40B4-BE49-F238E27FC236}">
                <a16:creationId xmlns:a16="http://schemas.microsoft.com/office/drawing/2014/main" id="{4CE91A6C-F7F5-A4E1-72DE-C2418F0A04D7}"/>
              </a:ext>
            </a:extLst>
          </p:cNvPr>
          <p:cNvSpPr txBox="1"/>
          <p:nvPr/>
        </p:nvSpPr>
        <p:spPr>
          <a:xfrm>
            <a:off x="571500" y="78097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latin typeface="微软雅黑" panose="020B0503020204020204" pitchFamily="34" charset="-122"/>
                <a:ea typeface="微软雅黑" panose="020B0503020204020204" pitchFamily="34" charset="-122"/>
                <a:cs typeface="Inter"/>
                <a:sym typeface="Inter"/>
              </a:rPr>
              <a:t>国内研究现状</a:t>
            </a:r>
            <a:endParaRPr spc="1000" dirty="0">
              <a:latin typeface="微软雅黑" panose="020B0503020204020204" pitchFamily="34" charset="-122"/>
              <a:ea typeface="微软雅黑" panose="020B0503020204020204" pitchFamily="34" charset="-122"/>
            </a:endParaRPr>
          </a:p>
        </p:txBody>
      </p:sp>
      <p:sp>
        <p:nvSpPr>
          <p:cNvPr id="15" name="Google Shape;220;p20">
            <a:extLst>
              <a:ext uri="{FF2B5EF4-FFF2-40B4-BE49-F238E27FC236}">
                <a16:creationId xmlns:a16="http://schemas.microsoft.com/office/drawing/2014/main" id="{3B74D484-5EFD-5046-ED1B-CD4267E4AD46}"/>
              </a:ext>
            </a:extLst>
          </p:cNvPr>
          <p:cNvSpPr/>
          <p:nvPr/>
        </p:nvSpPr>
        <p:spPr>
          <a:xfrm>
            <a:off x="571500" y="1357610"/>
            <a:ext cx="110490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6" name="组合 15">
            <a:extLst>
              <a:ext uri="{FF2B5EF4-FFF2-40B4-BE49-F238E27FC236}">
                <a16:creationId xmlns:a16="http://schemas.microsoft.com/office/drawing/2014/main" id="{766DC1EC-B419-4D27-9411-9791A5574CE4}"/>
              </a:ext>
            </a:extLst>
          </p:cNvPr>
          <p:cNvGrpSpPr/>
          <p:nvPr>
            <p:custDataLst>
              <p:tags r:id="rId2"/>
            </p:custDataLst>
          </p:nvPr>
        </p:nvGrpSpPr>
        <p:grpSpPr>
          <a:xfrm>
            <a:off x="581227" y="1775994"/>
            <a:ext cx="11109798" cy="866954"/>
            <a:chOff x="3434846" y="2339023"/>
            <a:chExt cx="5322309" cy="2179956"/>
          </a:xfrm>
        </p:grpSpPr>
        <p:grpSp>
          <p:nvGrpSpPr>
            <p:cNvPr id="17" name="组合 16">
              <a:extLst>
                <a:ext uri="{FF2B5EF4-FFF2-40B4-BE49-F238E27FC236}">
                  <a16:creationId xmlns:a16="http://schemas.microsoft.com/office/drawing/2014/main" id="{C67A3AB4-0C9F-686B-53C5-C3D7A28919BF}"/>
                </a:ext>
              </a:extLst>
            </p:cNvPr>
            <p:cNvGrpSpPr/>
            <p:nvPr/>
          </p:nvGrpSpPr>
          <p:grpSpPr>
            <a:xfrm>
              <a:off x="3434846" y="2339023"/>
              <a:ext cx="5322309" cy="2179956"/>
              <a:chOff x="3434846" y="2339023"/>
              <a:chExt cx="5322309" cy="2179956"/>
            </a:xfrm>
          </p:grpSpPr>
          <p:sp>
            <p:nvSpPr>
              <p:cNvPr id="19" name="矩形">
                <a:extLst>
                  <a:ext uri="{FF2B5EF4-FFF2-40B4-BE49-F238E27FC236}">
                    <a16:creationId xmlns:a16="http://schemas.microsoft.com/office/drawing/2014/main" id="{8489C253-BAA4-6475-F633-9C596C3054FD}"/>
                  </a:ext>
                </a:extLst>
              </p:cNvPr>
              <p:cNvSpPr/>
              <p:nvPr/>
            </p:nvSpPr>
            <p:spPr bwMode="auto">
              <a:xfrm>
                <a:off x="3435480" y="2339024"/>
                <a:ext cx="5321675" cy="2179955"/>
              </a:xfrm>
              <a:custGeom>
                <a:avLst/>
                <a:gdLst>
                  <a:gd name="T0" fmla="*/ 3125 w 3125"/>
                  <a:gd name="T1" fmla="*/ 1280 h 1280"/>
                  <a:gd name="T2" fmla="*/ 0 w 3125"/>
                  <a:gd name="T3" fmla="*/ 1280 h 1280"/>
                  <a:gd name="T4" fmla="*/ 0 w 3125"/>
                  <a:gd name="T5" fmla="*/ 123 h 1280"/>
                  <a:gd name="T6" fmla="*/ 9 w 3125"/>
                  <a:gd name="T7" fmla="*/ 123 h 1280"/>
                  <a:gd name="T8" fmla="*/ 9 w 3125"/>
                  <a:gd name="T9" fmla="*/ 1272 h 1280"/>
                  <a:gd name="T10" fmla="*/ 3115 w 3125"/>
                  <a:gd name="T11" fmla="*/ 1272 h 1280"/>
                  <a:gd name="T12" fmla="*/ 3115 w 3125"/>
                  <a:gd name="T13" fmla="*/ 9 h 1280"/>
                  <a:gd name="T14" fmla="*/ 123 w 3125"/>
                  <a:gd name="T15" fmla="*/ 9 h 1280"/>
                  <a:gd name="T16" fmla="*/ 123 w 3125"/>
                  <a:gd name="T17" fmla="*/ 0 h 1280"/>
                  <a:gd name="T18" fmla="*/ 3125 w 3125"/>
                  <a:gd name="T19" fmla="*/ 0 h 1280"/>
                  <a:gd name="T20" fmla="*/ 3125 w 3125"/>
                  <a:gd name="T21" fmla="*/ 1280 h 1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5" h="1280">
                    <a:moveTo>
                      <a:pt x="3125" y="1280"/>
                    </a:moveTo>
                    <a:lnTo>
                      <a:pt x="0" y="1280"/>
                    </a:lnTo>
                    <a:lnTo>
                      <a:pt x="0" y="123"/>
                    </a:lnTo>
                    <a:lnTo>
                      <a:pt x="9" y="123"/>
                    </a:lnTo>
                    <a:lnTo>
                      <a:pt x="9" y="1272"/>
                    </a:lnTo>
                    <a:lnTo>
                      <a:pt x="3115" y="1272"/>
                    </a:lnTo>
                    <a:lnTo>
                      <a:pt x="3115" y="9"/>
                    </a:lnTo>
                    <a:lnTo>
                      <a:pt x="123" y="9"/>
                    </a:lnTo>
                    <a:lnTo>
                      <a:pt x="123" y="0"/>
                    </a:lnTo>
                    <a:lnTo>
                      <a:pt x="3125" y="0"/>
                    </a:lnTo>
                    <a:lnTo>
                      <a:pt x="3125" y="128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20" name="矩形 226">
                <a:extLst>
                  <a:ext uri="{FF2B5EF4-FFF2-40B4-BE49-F238E27FC236}">
                    <a16:creationId xmlns:a16="http://schemas.microsoft.com/office/drawing/2014/main" id="{C04E87FC-4205-EA0B-6459-98E2DA02F6CB}"/>
                  </a:ext>
                </a:extLst>
              </p:cNvPr>
              <p:cNvSpPr/>
              <p:nvPr/>
            </p:nvSpPr>
            <p:spPr>
              <a:xfrm>
                <a:off x="3530600" y="2422524"/>
                <a:ext cx="5129782" cy="2011895"/>
              </a:xfrm>
              <a:custGeom>
                <a:avLst/>
                <a:gdLst>
                  <a:gd name="connsiteX0" fmla="*/ 0 w 5128129"/>
                  <a:gd name="connsiteY0" fmla="*/ 0 h 2010840"/>
                  <a:gd name="connsiteX1" fmla="*/ 5128129 w 5128129"/>
                  <a:gd name="connsiteY1" fmla="*/ 0 h 2010840"/>
                  <a:gd name="connsiteX2" fmla="*/ 5128129 w 5128129"/>
                  <a:gd name="connsiteY2" fmla="*/ 2010840 h 2010840"/>
                  <a:gd name="connsiteX3" fmla="*/ 0 w 5128129"/>
                  <a:gd name="connsiteY3" fmla="*/ 2010840 h 2010840"/>
                  <a:gd name="connsiteX4" fmla="*/ 0 w 5128129"/>
                  <a:gd name="connsiteY4" fmla="*/ 0 h 2010840"/>
                  <a:gd name="connsiteX0-1" fmla="*/ 1653 w 5129782"/>
                  <a:gd name="connsiteY0-2" fmla="*/ 0 h 2010840"/>
                  <a:gd name="connsiteX1-3" fmla="*/ 5129782 w 5129782"/>
                  <a:gd name="connsiteY1-4" fmla="*/ 0 h 2010840"/>
                  <a:gd name="connsiteX2-5" fmla="*/ 5129782 w 5129782"/>
                  <a:gd name="connsiteY2-6" fmla="*/ 2010840 h 2010840"/>
                  <a:gd name="connsiteX3-7" fmla="*/ 1653 w 5129782"/>
                  <a:gd name="connsiteY3-8" fmla="*/ 2010840 h 2010840"/>
                  <a:gd name="connsiteX4-9" fmla="*/ 0 w 5129782"/>
                  <a:gd name="connsiteY4-10" fmla="*/ 71970 h 2010840"/>
                  <a:gd name="connsiteX5" fmla="*/ 1653 w 5129782"/>
                  <a:gd name="connsiteY5" fmla="*/ 0 h 2010840"/>
                  <a:gd name="connsiteX0-11" fmla="*/ 1653 w 5129782"/>
                  <a:gd name="connsiteY0-12" fmla="*/ 1055 h 2011895"/>
                  <a:gd name="connsiteX1-13" fmla="*/ 79375 w 5129782"/>
                  <a:gd name="connsiteY1-14" fmla="*/ 0 h 2011895"/>
                  <a:gd name="connsiteX2-15" fmla="*/ 5129782 w 5129782"/>
                  <a:gd name="connsiteY2-16" fmla="*/ 1055 h 2011895"/>
                  <a:gd name="connsiteX3-17" fmla="*/ 5129782 w 5129782"/>
                  <a:gd name="connsiteY3-18" fmla="*/ 2011895 h 2011895"/>
                  <a:gd name="connsiteX4-19" fmla="*/ 1653 w 5129782"/>
                  <a:gd name="connsiteY4-20" fmla="*/ 2011895 h 2011895"/>
                  <a:gd name="connsiteX5-21" fmla="*/ 0 w 5129782"/>
                  <a:gd name="connsiteY5-22" fmla="*/ 73025 h 2011895"/>
                  <a:gd name="connsiteX6" fmla="*/ 1653 w 5129782"/>
                  <a:gd name="connsiteY6" fmla="*/ 1055 h 2011895"/>
                  <a:gd name="connsiteX0-23" fmla="*/ 52453 w 5129782"/>
                  <a:gd name="connsiteY0-24" fmla="*/ 35980 h 2011895"/>
                  <a:gd name="connsiteX1-25" fmla="*/ 79375 w 5129782"/>
                  <a:gd name="connsiteY1-26" fmla="*/ 0 h 2011895"/>
                  <a:gd name="connsiteX2-27" fmla="*/ 5129782 w 5129782"/>
                  <a:gd name="connsiteY2-28" fmla="*/ 1055 h 2011895"/>
                  <a:gd name="connsiteX3-29" fmla="*/ 5129782 w 5129782"/>
                  <a:gd name="connsiteY3-30" fmla="*/ 2011895 h 2011895"/>
                  <a:gd name="connsiteX4-31" fmla="*/ 1653 w 5129782"/>
                  <a:gd name="connsiteY4-32" fmla="*/ 2011895 h 2011895"/>
                  <a:gd name="connsiteX5-33" fmla="*/ 0 w 5129782"/>
                  <a:gd name="connsiteY5-34" fmla="*/ 73025 h 2011895"/>
                  <a:gd name="connsiteX6-35" fmla="*/ 52453 w 5129782"/>
                  <a:gd name="connsiteY6-36" fmla="*/ 35980 h 20118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5129782" h="2011895">
                    <a:moveTo>
                      <a:pt x="52453" y="35980"/>
                    </a:moveTo>
                    <a:lnTo>
                      <a:pt x="79375" y="0"/>
                    </a:lnTo>
                    <a:lnTo>
                      <a:pt x="5129782" y="1055"/>
                    </a:lnTo>
                    <a:lnTo>
                      <a:pt x="5129782" y="2011895"/>
                    </a:lnTo>
                    <a:lnTo>
                      <a:pt x="1653" y="2011895"/>
                    </a:lnTo>
                    <a:lnTo>
                      <a:pt x="0" y="73025"/>
                    </a:lnTo>
                    <a:lnTo>
                      <a:pt x="52453" y="35980"/>
                    </a:lnTo>
                    <a:close/>
                  </a:path>
                </a:pathLst>
              </a:custGeom>
              <a:noFill/>
              <a:ln w="15875">
                <a:gradFill>
                  <a:gsLst>
                    <a:gs pos="0">
                      <a:srgbClr val="1865F1"/>
                    </a:gs>
                    <a:gs pos="100000">
                      <a:srgbClr val="3B7DF3"/>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三角形">
                <a:extLst>
                  <a:ext uri="{FF2B5EF4-FFF2-40B4-BE49-F238E27FC236}">
                    <a16:creationId xmlns:a16="http://schemas.microsoft.com/office/drawing/2014/main" id="{EDBDAB33-9FDC-6879-3E93-F4055A9EB6EB}"/>
                  </a:ext>
                </a:extLst>
              </p:cNvPr>
              <p:cNvSpPr/>
              <p:nvPr/>
            </p:nvSpPr>
            <p:spPr bwMode="auto">
              <a:xfrm>
                <a:off x="3434846" y="2339023"/>
                <a:ext cx="209550" cy="209550"/>
              </a:xfrm>
              <a:custGeom>
                <a:avLst/>
                <a:gdLst>
                  <a:gd name="T0" fmla="*/ 118 w 118"/>
                  <a:gd name="T1" fmla="*/ 0 h 118"/>
                  <a:gd name="T2" fmla="*/ 118 w 118"/>
                  <a:gd name="T3" fmla="*/ 118 h 118"/>
                  <a:gd name="T4" fmla="*/ 0 w 118"/>
                  <a:gd name="T5" fmla="*/ 118 h 118"/>
                  <a:gd name="T6" fmla="*/ 118 w 118"/>
                  <a:gd name="T7" fmla="*/ 0 h 118"/>
                </a:gdLst>
                <a:ahLst/>
                <a:cxnLst>
                  <a:cxn ang="0">
                    <a:pos x="T0" y="T1"/>
                  </a:cxn>
                  <a:cxn ang="0">
                    <a:pos x="T2" y="T3"/>
                  </a:cxn>
                  <a:cxn ang="0">
                    <a:pos x="T4" y="T5"/>
                  </a:cxn>
                  <a:cxn ang="0">
                    <a:pos x="T6" y="T7"/>
                  </a:cxn>
                </a:cxnLst>
                <a:rect l="0" t="0" r="r" b="b"/>
                <a:pathLst>
                  <a:path w="118" h="118">
                    <a:moveTo>
                      <a:pt x="118" y="0"/>
                    </a:moveTo>
                    <a:lnTo>
                      <a:pt x="118" y="118"/>
                    </a:lnTo>
                    <a:lnTo>
                      <a:pt x="0" y="118"/>
                    </a:lnTo>
                    <a:lnTo>
                      <a:pt x="118" y="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ym typeface="+mn-ea"/>
                </a:endParaRPr>
              </a:p>
            </p:txBody>
          </p:sp>
          <p:sp>
            <p:nvSpPr>
              <p:cNvPr id="22" name="任意多边形: 形状 21">
                <a:extLst>
                  <a:ext uri="{FF2B5EF4-FFF2-40B4-BE49-F238E27FC236}">
                    <a16:creationId xmlns:a16="http://schemas.microsoft.com/office/drawing/2014/main" id="{B7EC333A-AE31-F761-8BA9-4B801C016C61}"/>
                  </a:ext>
                </a:extLst>
              </p:cNvPr>
              <p:cNvSpPr/>
              <p:nvPr/>
            </p:nvSpPr>
            <p:spPr>
              <a:xfrm>
                <a:off x="8178432" y="4117789"/>
                <a:ext cx="326296" cy="316629"/>
              </a:xfrm>
              <a:custGeom>
                <a:avLst/>
                <a:gdLst>
                  <a:gd name="connsiteX0" fmla="*/ 190 w 567187"/>
                  <a:gd name="connsiteY0" fmla="*/ 426581 h 550382"/>
                  <a:gd name="connsiteX1" fmla="*/ 30099 w 567187"/>
                  <a:gd name="connsiteY1" fmla="*/ 411532 h 550382"/>
                  <a:gd name="connsiteX2" fmla="*/ 30099 w 567187"/>
                  <a:gd name="connsiteY2" fmla="*/ 372956 h 550382"/>
                  <a:gd name="connsiteX3" fmla="*/ 30956 w 567187"/>
                  <a:gd name="connsiteY3" fmla="*/ 311043 h 550382"/>
                  <a:gd name="connsiteX4" fmla="*/ 72104 w 567187"/>
                  <a:gd name="connsiteY4" fmla="*/ 256084 h 550382"/>
                  <a:gd name="connsiteX5" fmla="*/ 142113 w 567187"/>
                  <a:gd name="connsiteY5" fmla="*/ 228842 h 550382"/>
                  <a:gd name="connsiteX6" fmla="*/ 147733 w 567187"/>
                  <a:gd name="connsiteY6" fmla="*/ 205315 h 550382"/>
                  <a:gd name="connsiteX7" fmla="*/ 125920 w 567187"/>
                  <a:gd name="connsiteY7" fmla="*/ 168930 h 550382"/>
                  <a:gd name="connsiteX8" fmla="*/ 119063 w 567187"/>
                  <a:gd name="connsiteY8" fmla="*/ 163120 h 550382"/>
                  <a:gd name="connsiteX9" fmla="*/ 101155 w 567187"/>
                  <a:gd name="connsiteY9" fmla="*/ 117495 h 550382"/>
                  <a:gd name="connsiteX10" fmla="*/ 103822 w 567187"/>
                  <a:gd name="connsiteY10" fmla="*/ 92730 h 550382"/>
                  <a:gd name="connsiteX11" fmla="*/ 126873 w 567187"/>
                  <a:gd name="connsiteY11" fmla="*/ 28722 h 550382"/>
                  <a:gd name="connsiteX12" fmla="*/ 220789 w 567187"/>
                  <a:gd name="connsiteY12" fmla="*/ 4624 h 550382"/>
                  <a:gd name="connsiteX13" fmla="*/ 279273 w 567187"/>
                  <a:gd name="connsiteY13" fmla="*/ 78252 h 550382"/>
                  <a:gd name="connsiteX14" fmla="*/ 280701 w 567187"/>
                  <a:gd name="connsiteY14" fmla="*/ 104732 h 550382"/>
                  <a:gd name="connsiteX15" fmla="*/ 284321 w 567187"/>
                  <a:gd name="connsiteY15" fmla="*/ 119400 h 550382"/>
                  <a:gd name="connsiteX16" fmla="*/ 266509 w 567187"/>
                  <a:gd name="connsiteY16" fmla="*/ 162929 h 550382"/>
                  <a:gd name="connsiteX17" fmla="*/ 257556 w 567187"/>
                  <a:gd name="connsiteY17" fmla="*/ 171978 h 550382"/>
                  <a:gd name="connsiteX18" fmla="*/ 241173 w 567187"/>
                  <a:gd name="connsiteY18" fmla="*/ 200267 h 550382"/>
                  <a:gd name="connsiteX19" fmla="*/ 247174 w 567187"/>
                  <a:gd name="connsiteY19" fmla="*/ 229985 h 550382"/>
                  <a:gd name="connsiteX20" fmla="*/ 271843 w 567187"/>
                  <a:gd name="connsiteY20" fmla="*/ 239701 h 550382"/>
                  <a:gd name="connsiteX21" fmla="*/ 350901 w 567187"/>
                  <a:gd name="connsiteY21" fmla="*/ 255512 h 550382"/>
                  <a:gd name="connsiteX22" fmla="*/ 363379 w 567187"/>
                  <a:gd name="connsiteY22" fmla="*/ 263894 h 550382"/>
                  <a:gd name="connsiteX23" fmla="*/ 351187 w 567187"/>
                  <a:gd name="connsiteY23" fmla="*/ 271705 h 550382"/>
                  <a:gd name="connsiteX24" fmla="*/ 292798 w 567187"/>
                  <a:gd name="connsiteY24" fmla="*/ 271705 h 550382"/>
                  <a:gd name="connsiteX25" fmla="*/ 292798 w 567187"/>
                  <a:gd name="connsiteY25" fmla="*/ 293327 h 550382"/>
                  <a:gd name="connsiteX26" fmla="*/ 457771 w 567187"/>
                  <a:gd name="connsiteY26" fmla="*/ 293327 h 550382"/>
                  <a:gd name="connsiteX27" fmla="*/ 457771 w 567187"/>
                  <a:gd name="connsiteY27" fmla="*/ 271705 h 550382"/>
                  <a:gd name="connsiteX28" fmla="*/ 405098 w 567187"/>
                  <a:gd name="connsiteY28" fmla="*/ 271705 h 550382"/>
                  <a:gd name="connsiteX29" fmla="*/ 395288 w 567187"/>
                  <a:gd name="connsiteY29" fmla="*/ 271419 h 550382"/>
                  <a:gd name="connsiteX30" fmla="*/ 386429 w 567187"/>
                  <a:gd name="connsiteY30" fmla="*/ 263513 h 550382"/>
                  <a:gd name="connsiteX31" fmla="*/ 395383 w 567187"/>
                  <a:gd name="connsiteY31" fmla="*/ 255893 h 550382"/>
                  <a:gd name="connsiteX32" fmla="*/ 428530 w 567187"/>
                  <a:gd name="connsiteY32" fmla="*/ 255417 h 550382"/>
                  <a:gd name="connsiteX33" fmla="*/ 460629 w 567187"/>
                  <a:gd name="connsiteY33" fmla="*/ 255512 h 550382"/>
                  <a:gd name="connsiteX34" fmla="*/ 474916 w 567187"/>
                  <a:gd name="connsiteY34" fmla="*/ 268943 h 550382"/>
                  <a:gd name="connsiteX35" fmla="*/ 474821 w 567187"/>
                  <a:gd name="connsiteY35" fmla="*/ 297708 h 550382"/>
                  <a:gd name="connsiteX36" fmla="*/ 471201 w 567187"/>
                  <a:gd name="connsiteY36" fmla="*/ 306661 h 550382"/>
                  <a:gd name="connsiteX37" fmla="*/ 470916 w 567187"/>
                  <a:gd name="connsiteY37" fmla="*/ 337713 h 550382"/>
                  <a:gd name="connsiteX38" fmla="*/ 474916 w 567187"/>
                  <a:gd name="connsiteY38" fmla="*/ 348762 h 550382"/>
                  <a:gd name="connsiteX39" fmla="*/ 474916 w 567187"/>
                  <a:gd name="connsiteY39" fmla="*/ 374194 h 550382"/>
                  <a:gd name="connsiteX40" fmla="*/ 471488 w 567187"/>
                  <a:gd name="connsiteY40" fmla="*/ 384195 h 550382"/>
                  <a:gd name="connsiteX41" fmla="*/ 464058 w 567187"/>
                  <a:gd name="connsiteY41" fmla="*/ 411532 h 550382"/>
                  <a:gd name="connsiteX42" fmla="*/ 538067 w 567187"/>
                  <a:gd name="connsiteY42" fmla="*/ 411532 h 550382"/>
                  <a:gd name="connsiteX43" fmla="*/ 566928 w 567187"/>
                  <a:gd name="connsiteY43" fmla="*/ 442393 h 550382"/>
                  <a:gd name="connsiteX44" fmla="*/ 549211 w 567187"/>
                  <a:gd name="connsiteY44" fmla="*/ 462681 h 550382"/>
                  <a:gd name="connsiteX45" fmla="*/ 549021 w 567187"/>
                  <a:gd name="connsiteY45" fmla="*/ 473920 h 550382"/>
                  <a:gd name="connsiteX46" fmla="*/ 541210 w 567187"/>
                  <a:gd name="connsiteY46" fmla="*/ 485732 h 550382"/>
                  <a:gd name="connsiteX47" fmla="*/ 532733 w 567187"/>
                  <a:gd name="connsiteY47" fmla="*/ 474682 h 550382"/>
                  <a:gd name="connsiteX48" fmla="*/ 532733 w 567187"/>
                  <a:gd name="connsiteY48" fmla="*/ 462586 h 550382"/>
                  <a:gd name="connsiteX49" fmla="*/ 34576 w 567187"/>
                  <a:gd name="connsiteY49" fmla="*/ 462586 h 550382"/>
                  <a:gd name="connsiteX50" fmla="*/ 34957 w 567187"/>
                  <a:gd name="connsiteY50" fmla="*/ 525927 h 550382"/>
                  <a:gd name="connsiteX51" fmla="*/ 42576 w 567187"/>
                  <a:gd name="connsiteY51" fmla="*/ 532976 h 550382"/>
                  <a:gd name="connsiteX52" fmla="*/ 52388 w 567187"/>
                  <a:gd name="connsiteY52" fmla="*/ 533261 h 550382"/>
                  <a:gd name="connsiteX53" fmla="*/ 515017 w 567187"/>
                  <a:gd name="connsiteY53" fmla="*/ 533261 h 550382"/>
                  <a:gd name="connsiteX54" fmla="*/ 533114 w 567187"/>
                  <a:gd name="connsiteY54" fmla="*/ 518116 h 550382"/>
                  <a:gd name="connsiteX55" fmla="*/ 540830 w 567187"/>
                  <a:gd name="connsiteY55" fmla="*/ 509163 h 550382"/>
                  <a:gd name="connsiteX56" fmla="*/ 548735 w 567187"/>
                  <a:gd name="connsiteY56" fmla="*/ 517926 h 550382"/>
                  <a:gd name="connsiteX57" fmla="*/ 521684 w 567187"/>
                  <a:gd name="connsiteY57" fmla="*/ 550311 h 550382"/>
                  <a:gd name="connsiteX58" fmla="*/ 44672 w 567187"/>
                  <a:gd name="connsiteY58" fmla="*/ 550311 h 550382"/>
                  <a:gd name="connsiteX59" fmla="*/ 17716 w 567187"/>
                  <a:gd name="connsiteY59" fmla="*/ 522974 h 550382"/>
                  <a:gd name="connsiteX60" fmla="*/ 17716 w 567187"/>
                  <a:gd name="connsiteY60" fmla="*/ 465729 h 550382"/>
                  <a:gd name="connsiteX61" fmla="*/ 0 w 567187"/>
                  <a:gd name="connsiteY61" fmla="*/ 448870 h 550382"/>
                  <a:gd name="connsiteX62" fmla="*/ 190 w 567187"/>
                  <a:gd name="connsiteY62" fmla="*/ 426581 h 550382"/>
                  <a:gd name="connsiteX63" fmla="*/ 159353 w 567187"/>
                  <a:gd name="connsiteY63" fmla="*/ 411056 h 550382"/>
                  <a:gd name="connsiteX64" fmla="*/ 170497 w 567187"/>
                  <a:gd name="connsiteY64" fmla="*/ 316568 h 550382"/>
                  <a:gd name="connsiteX65" fmla="*/ 169259 w 567187"/>
                  <a:gd name="connsiteY65" fmla="*/ 301994 h 550382"/>
                  <a:gd name="connsiteX66" fmla="*/ 141065 w 567187"/>
                  <a:gd name="connsiteY66" fmla="*/ 289040 h 550382"/>
                  <a:gd name="connsiteX67" fmla="*/ 123253 w 567187"/>
                  <a:gd name="connsiteY67" fmla="*/ 253798 h 550382"/>
                  <a:gd name="connsiteX68" fmla="*/ 71914 w 567187"/>
                  <a:gd name="connsiteY68" fmla="*/ 274467 h 550382"/>
                  <a:gd name="connsiteX69" fmla="*/ 47530 w 567187"/>
                  <a:gd name="connsiteY69" fmla="*/ 309043 h 550382"/>
                  <a:gd name="connsiteX70" fmla="*/ 47244 w 567187"/>
                  <a:gd name="connsiteY70" fmla="*/ 410865 h 550382"/>
                  <a:gd name="connsiteX71" fmla="*/ 85820 w 567187"/>
                  <a:gd name="connsiteY71" fmla="*/ 410865 h 550382"/>
                  <a:gd name="connsiteX72" fmla="*/ 85820 w 567187"/>
                  <a:gd name="connsiteY72" fmla="*/ 399340 h 550382"/>
                  <a:gd name="connsiteX73" fmla="*/ 85915 w 567187"/>
                  <a:gd name="connsiteY73" fmla="*/ 337427 h 550382"/>
                  <a:gd name="connsiteX74" fmla="*/ 93821 w 567187"/>
                  <a:gd name="connsiteY74" fmla="*/ 320949 h 550382"/>
                  <a:gd name="connsiteX75" fmla="*/ 102203 w 567187"/>
                  <a:gd name="connsiteY75" fmla="*/ 336856 h 550382"/>
                  <a:gd name="connsiteX76" fmla="*/ 102203 w 567187"/>
                  <a:gd name="connsiteY76" fmla="*/ 360097 h 550382"/>
                  <a:gd name="connsiteX77" fmla="*/ 102203 w 567187"/>
                  <a:gd name="connsiteY77" fmla="*/ 410960 h 550382"/>
                  <a:gd name="connsiteX78" fmla="*/ 159353 w 567187"/>
                  <a:gd name="connsiteY78" fmla="*/ 411056 h 550382"/>
                  <a:gd name="connsiteX79" fmla="*/ 141065 w 567187"/>
                  <a:gd name="connsiteY79" fmla="*/ 113018 h 550382"/>
                  <a:gd name="connsiteX80" fmla="*/ 141160 w 567187"/>
                  <a:gd name="connsiteY80" fmla="*/ 154643 h 550382"/>
                  <a:gd name="connsiteX81" fmla="*/ 194215 w 567187"/>
                  <a:gd name="connsiteY81" fmla="*/ 205030 h 550382"/>
                  <a:gd name="connsiteX82" fmla="*/ 243554 w 567187"/>
                  <a:gd name="connsiteY82" fmla="*/ 153023 h 550382"/>
                  <a:gd name="connsiteX83" fmla="*/ 243935 w 567187"/>
                  <a:gd name="connsiteY83" fmla="*/ 114447 h 550382"/>
                  <a:gd name="connsiteX84" fmla="*/ 228886 w 567187"/>
                  <a:gd name="connsiteY84" fmla="*/ 89491 h 550382"/>
                  <a:gd name="connsiteX85" fmla="*/ 212598 w 567187"/>
                  <a:gd name="connsiteY85" fmla="*/ 94254 h 550382"/>
                  <a:gd name="connsiteX86" fmla="*/ 200406 w 567187"/>
                  <a:gd name="connsiteY86" fmla="*/ 99302 h 550382"/>
                  <a:gd name="connsiteX87" fmla="*/ 141065 w 567187"/>
                  <a:gd name="connsiteY87" fmla="*/ 113018 h 550382"/>
                  <a:gd name="connsiteX88" fmla="*/ 18002 w 567187"/>
                  <a:gd name="connsiteY88" fmla="*/ 429058 h 550382"/>
                  <a:gd name="connsiteX89" fmla="*/ 30099 w 567187"/>
                  <a:gd name="connsiteY89" fmla="*/ 445727 h 550382"/>
                  <a:gd name="connsiteX90" fmla="*/ 537019 w 567187"/>
                  <a:gd name="connsiteY90" fmla="*/ 445727 h 550382"/>
                  <a:gd name="connsiteX91" fmla="*/ 548259 w 567187"/>
                  <a:gd name="connsiteY91" fmla="*/ 429058 h 550382"/>
                  <a:gd name="connsiteX92" fmla="*/ 18002 w 567187"/>
                  <a:gd name="connsiteY92" fmla="*/ 429058 h 550382"/>
                  <a:gd name="connsiteX93" fmla="*/ 262414 w 567187"/>
                  <a:gd name="connsiteY93" fmla="*/ 101112 h 550382"/>
                  <a:gd name="connsiteX94" fmla="*/ 228695 w 567187"/>
                  <a:gd name="connsiteY94" fmla="*/ 26341 h 550382"/>
                  <a:gd name="connsiteX95" fmla="*/ 143637 w 567187"/>
                  <a:gd name="connsiteY95" fmla="*/ 35294 h 550382"/>
                  <a:gd name="connsiteX96" fmla="*/ 122110 w 567187"/>
                  <a:gd name="connsiteY96" fmla="*/ 101302 h 550382"/>
                  <a:gd name="connsiteX97" fmla="*/ 140113 w 567187"/>
                  <a:gd name="connsiteY97" fmla="*/ 93206 h 550382"/>
                  <a:gd name="connsiteX98" fmla="*/ 218980 w 567187"/>
                  <a:gd name="connsiteY98" fmla="*/ 71870 h 550382"/>
                  <a:gd name="connsiteX99" fmla="*/ 238887 w 567187"/>
                  <a:gd name="connsiteY99" fmla="*/ 74823 h 550382"/>
                  <a:gd name="connsiteX100" fmla="*/ 262414 w 567187"/>
                  <a:gd name="connsiteY100" fmla="*/ 101112 h 550382"/>
                  <a:gd name="connsiteX101" fmla="*/ 215551 w 567187"/>
                  <a:gd name="connsiteY101" fmla="*/ 301328 h 550382"/>
                  <a:gd name="connsiteX102" fmla="*/ 226314 w 567187"/>
                  <a:gd name="connsiteY102" fmla="*/ 410674 h 550382"/>
                  <a:gd name="connsiteX103" fmla="*/ 263080 w 567187"/>
                  <a:gd name="connsiteY103" fmla="*/ 410674 h 550382"/>
                  <a:gd name="connsiteX104" fmla="*/ 274415 w 567187"/>
                  <a:gd name="connsiteY104" fmla="*/ 371241 h 550382"/>
                  <a:gd name="connsiteX105" fmla="*/ 274796 w 567187"/>
                  <a:gd name="connsiteY105" fmla="*/ 366955 h 550382"/>
                  <a:gd name="connsiteX106" fmla="*/ 266795 w 567187"/>
                  <a:gd name="connsiteY106" fmla="*/ 343904 h 550382"/>
                  <a:gd name="connsiteX107" fmla="*/ 272224 w 567187"/>
                  <a:gd name="connsiteY107" fmla="*/ 295327 h 550382"/>
                  <a:gd name="connsiteX108" fmla="*/ 274701 w 567187"/>
                  <a:gd name="connsiteY108" fmla="*/ 287611 h 550382"/>
                  <a:gd name="connsiteX109" fmla="*/ 274796 w 567187"/>
                  <a:gd name="connsiteY109" fmla="*/ 258656 h 550382"/>
                  <a:gd name="connsiteX110" fmla="*/ 262223 w 567187"/>
                  <a:gd name="connsiteY110" fmla="*/ 254083 h 550382"/>
                  <a:gd name="connsiteX111" fmla="*/ 243649 w 567187"/>
                  <a:gd name="connsiteY111" fmla="*/ 291040 h 550382"/>
                  <a:gd name="connsiteX112" fmla="*/ 215551 w 567187"/>
                  <a:gd name="connsiteY112" fmla="*/ 301328 h 550382"/>
                  <a:gd name="connsiteX113" fmla="*/ 281083 w 567187"/>
                  <a:gd name="connsiteY113" fmla="*/ 333046 h 550382"/>
                  <a:gd name="connsiteX114" fmla="*/ 446722 w 567187"/>
                  <a:gd name="connsiteY114" fmla="*/ 333046 h 550382"/>
                  <a:gd name="connsiteX115" fmla="*/ 446722 w 567187"/>
                  <a:gd name="connsiteY115" fmla="*/ 311805 h 550382"/>
                  <a:gd name="connsiteX116" fmla="*/ 281083 w 567187"/>
                  <a:gd name="connsiteY116" fmla="*/ 311805 h 550382"/>
                  <a:gd name="connsiteX117" fmla="*/ 281083 w 567187"/>
                  <a:gd name="connsiteY117" fmla="*/ 333046 h 550382"/>
                  <a:gd name="connsiteX118" fmla="*/ 292227 w 567187"/>
                  <a:gd name="connsiteY118" fmla="*/ 372098 h 550382"/>
                  <a:gd name="connsiteX119" fmla="*/ 457676 w 567187"/>
                  <a:gd name="connsiteY119" fmla="*/ 372098 h 550382"/>
                  <a:gd name="connsiteX120" fmla="*/ 457676 w 567187"/>
                  <a:gd name="connsiteY120" fmla="*/ 351048 h 550382"/>
                  <a:gd name="connsiteX121" fmla="*/ 292227 w 567187"/>
                  <a:gd name="connsiteY121" fmla="*/ 351048 h 550382"/>
                  <a:gd name="connsiteX122" fmla="*/ 292227 w 567187"/>
                  <a:gd name="connsiteY122" fmla="*/ 372098 h 550382"/>
                  <a:gd name="connsiteX123" fmla="*/ 446818 w 567187"/>
                  <a:gd name="connsiteY123" fmla="*/ 389815 h 550382"/>
                  <a:gd name="connsiteX124" fmla="*/ 281273 w 567187"/>
                  <a:gd name="connsiteY124" fmla="*/ 389815 h 550382"/>
                  <a:gd name="connsiteX125" fmla="*/ 281273 w 567187"/>
                  <a:gd name="connsiteY125" fmla="*/ 410960 h 550382"/>
                  <a:gd name="connsiteX126" fmla="*/ 446818 w 567187"/>
                  <a:gd name="connsiteY126" fmla="*/ 410960 h 550382"/>
                  <a:gd name="connsiteX127" fmla="*/ 446818 w 567187"/>
                  <a:gd name="connsiteY127" fmla="*/ 389815 h 550382"/>
                  <a:gd name="connsiteX128" fmla="*/ 209455 w 567187"/>
                  <a:gd name="connsiteY128" fmla="*/ 410865 h 550382"/>
                  <a:gd name="connsiteX129" fmla="*/ 198787 w 567187"/>
                  <a:gd name="connsiteY129" fmla="*/ 321330 h 550382"/>
                  <a:gd name="connsiteX130" fmla="*/ 192691 w 567187"/>
                  <a:gd name="connsiteY130" fmla="*/ 314186 h 550382"/>
                  <a:gd name="connsiteX131" fmla="*/ 186880 w 567187"/>
                  <a:gd name="connsiteY131" fmla="*/ 321711 h 550382"/>
                  <a:gd name="connsiteX132" fmla="*/ 184785 w 567187"/>
                  <a:gd name="connsiteY132" fmla="*/ 338094 h 550382"/>
                  <a:gd name="connsiteX133" fmla="*/ 176308 w 567187"/>
                  <a:gd name="connsiteY133" fmla="*/ 410865 h 550382"/>
                  <a:gd name="connsiteX134" fmla="*/ 209455 w 567187"/>
                  <a:gd name="connsiteY134" fmla="*/ 410865 h 550382"/>
                  <a:gd name="connsiteX135" fmla="*/ 217741 w 567187"/>
                  <a:gd name="connsiteY135" fmla="*/ 219603 h 550382"/>
                  <a:gd name="connsiteX136" fmla="*/ 167735 w 567187"/>
                  <a:gd name="connsiteY136" fmla="*/ 219603 h 550382"/>
                  <a:gd name="connsiteX137" fmla="*/ 193453 w 567187"/>
                  <a:gd name="connsiteY137" fmla="*/ 259894 h 550382"/>
                  <a:gd name="connsiteX138" fmla="*/ 217741 w 567187"/>
                  <a:gd name="connsiteY138" fmla="*/ 219603 h 550382"/>
                  <a:gd name="connsiteX139" fmla="*/ 139541 w 567187"/>
                  <a:gd name="connsiteY139" fmla="*/ 248749 h 550382"/>
                  <a:gd name="connsiteX140" fmla="*/ 158401 w 567187"/>
                  <a:gd name="connsiteY140" fmla="*/ 286373 h 550382"/>
                  <a:gd name="connsiteX141" fmla="*/ 172974 w 567187"/>
                  <a:gd name="connsiteY141" fmla="*/ 276086 h 550382"/>
                  <a:gd name="connsiteX142" fmla="*/ 180499 w 567187"/>
                  <a:gd name="connsiteY142" fmla="*/ 270086 h 550382"/>
                  <a:gd name="connsiteX143" fmla="*/ 166497 w 567187"/>
                  <a:gd name="connsiteY143" fmla="*/ 252750 h 550382"/>
                  <a:gd name="connsiteX144" fmla="*/ 139541 w 567187"/>
                  <a:gd name="connsiteY144" fmla="*/ 248749 h 550382"/>
                  <a:gd name="connsiteX145" fmla="*/ 247078 w 567187"/>
                  <a:gd name="connsiteY145" fmla="*/ 247130 h 550382"/>
                  <a:gd name="connsiteX146" fmla="*/ 228600 w 567187"/>
                  <a:gd name="connsiteY146" fmla="*/ 242939 h 550382"/>
                  <a:gd name="connsiteX147" fmla="*/ 204883 w 567187"/>
                  <a:gd name="connsiteY147" fmla="*/ 270657 h 550382"/>
                  <a:gd name="connsiteX148" fmla="*/ 227362 w 567187"/>
                  <a:gd name="connsiteY148" fmla="*/ 286469 h 550382"/>
                  <a:gd name="connsiteX149" fmla="*/ 247078 w 567187"/>
                  <a:gd name="connsiteY149" fmla="*/ 247130 h 550382"/>
                  <a:gd name="connsiteX150" fmla="*/ 193548 w 567187"/>
                  <a:gd name="connsiteY150" fmla="*/ 281801 h 550382"/>
                  <a:gd name="connsiteX151" fmla="*/ 180975 w 567187"/>
                  <a:gd name="connsiteY151" fmla="*/ 291612 h 550382"/>
                  <a:gd name="connsiteX152" fmla="*/ 181642 w 567187"/>
                  <a:gd name="connsiteY152" fmla="*/ 296089 h 550382"/>
                  <a:gd name="connsiteX153" fmla="*/ 199453 w 567187"/>
                  <a:gd name="connsiteY153" fmla="*/ 297327 h 550382"/>
                  <a:gd name="connsiteX154" fmla="*/ 203549 w 567187"/>
                  <a:gd name="connsiteY154" fmla="*/ 293041 h 550382"/>
                  <a:gd name="connsiteX155" fmla="*/ 193548 w 567187"/>
                  <a:gd name="connsiteY155" fmla="*/ 281801 h 550382"/>
                  <a:gd name="connsiteX156" fmla="*/ 260604 w 567187"/>
                  <a:gd name="connsiteY156" fmla="*/ 144927 h 550382"/>
                  <a:gd name="connsiteX157" fmla="*/ 265176 w 567187"/>
                  <a:gd name="connsiteY157" fmla="*/ 146641 h 550382"/>
                  <a:gd name="connsiteX158" fmla="*/ 270129 w 567187"/>
                  <a:gd name="connsiteY158" fmla="*/ 131020 h 550382"/>
                  <a:gd name="connsiteX159" fmla="*/ 263461 w 567187"/>
                  <a:gd name="connsiteY159" fmla="*/ 119972 h 550382"/>
                  <a:gd name="connsiteX160" fmla="*/ 260699 w 567187"/>
                  <a:gd name="connsiteY160" fmla="*/ 121591 h 550382"/>
                  <a:gd name="connsiteX161" fmla="*/ 260604 w 567187"/>
                  <a:gd name="connsiteY161" fmla="*/ 144927 h 550382"/>
                  <a:gd name="connsiteX162" fmla="*/ 123253 w 567187"/>
                  <a:gd name="connsiteY162" fmla="*/ 146546 h 550382"/>
                  <a:gd name="connsiteX163" fmla="*/ 123253 w 567187"/>
                  <a:gd name="connsiteY163" fmla="*/ 121019 h 550382"/>
                  <a:gd name="connsiteX164" fmla="*/ 123253 w 567187"/>
                  <a:gd name="connsiteY164" fmla="*/ 146546 h 55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67187" h="550382">
                    <a:moveTo>
                      <a:pt x="190" y="426581"/>
                    </a:moveTo>
                    <a:cubicBezTo>
                      <a:pt x="5334" y="413532"/>
                      <a:pt x="16383" y="410770"/>
                      <a:pt x="30099" y="411532"/>
                    </a:cubicBezTo>
                    <a:cubicBezTo>
                      <a:pt x="30099" y="397911"/>
                      <a:pt x="30004" y="385433"/>
                      <a:pt x="30099" y="372956"/>
                    </a:cubicBezTo>
                    <a:cubicBezTo>
                      <a:pt x="30289" y="352286"/>
                      <a:pt x="29908" y="331617"/>
                      <a:pt x="30956" y="311043"/>
                    </a:cubicBezTo>
                    <a:cubicBezTo>
                      <a:pt x="32385" y="283897"/>
                      <a:pt x="47434" y="265990"/>
                      <a:pt x="72104" y="256084"/>
                    </a:cubicBezTo>
                    <a:cubicBezTo>
                      <a:pt x="95345" y="246654"/>
                      <a:pt x="118776" y="237891"/>
                      <a:pt x="142113" y="228842"/>
                    </a:cubicBezTo>
                    <a:cubicBezTo>
                      <a:pt x="151828" y="225032"/>
                      <a:pt x="155257" y="212555"/>
                      <a:pt x="147733" y="205315"/>
                    </a:cubicBezTo>
                    <a:cubicBezTo>
                      <a:pt x="137065" y="195028"/>
                      <a:pt x="129540" y="183313"/>
                      <a:pt x="125920" y="168930"/>
                    </a:cubicBezTo>
                    <a:cubicBezTo>
                      <a:pt x="125349" y="166549"/>
                      <a:pt x="121825" y="164168"/>
                      <a:pt x="119063" y="163120"/>
                    </a:cubicBezTo>
                    <a:cubicBezTo>
                      <a:pt x="98584" y="155119"/>
                      <a:pt x="92297" y="137783"/>
                      <a:pt x="101155" y="117495"/>
                    </a:cubicBezTo>
                    <a:cubicBezTo>
                      <a:pt x="104299" y="110161"/>
                      <a:pt x="103917" y="101017"/>
                      <a:pt x="103822" y="92730"/>
                    </a:cubicBezTo>
                    <a:cubicBezTo>
                      <a:pt x="103727" y="68441"/>
                      <a:pt x="110776" y="47105"/>
                      <a:pt x="126873" y="28722"/>
                    </a:cubicBezTo>
                    <a:cubicBezTo>
                      <a:pt x="149447" y="3100"/>
                      <a:pt x="186499" y="-6616"/>
                      <a:pt x="220789" y="4624"/>
                    </a:cubicBezTo>
                    <a:cubicBezTo>
                      <a:pt x="252413" y="14911"/>
                      <a:pt x="276511" y="45105"/>
                      <a:pt x="279273" y="78252"/>
                    </a:cubicBezTo>
                    <a:cubicBezTo>
                      <a:pt x="280035" y="87015"/>
                      <a:pt x="279844" y="95969"/>
                      <a:pt x="280701" y="104732"/>
                    </a:cubicBezTo>
                    <a:cubicBezTo>
                      <a:pt x="281178" y="109685"/>
                      <a:pt x="282226" y="114828"/>
                      <a:pt x="284321" y="119400"/>
                    </a:cubicBezTo>
                    <a:cubicBezTo>
                      <a:pt x="292227" y="137021"/>
                      <a:pt x="284512" y="155595"/>
                      <a:pt x="266509" y="162929"/>
                    </a:cubicBezTo>
                    <a:cubicBezTo>
                      <a:pt x="262890" y="164453"/>
                      <a:pt x="259747" y="168454"/>
                      <a:pt x="257556" y="171978"/>
                    </a:cubicBezTo>
                    <a:cubicBezTo>
                      <a:pt x="251841" y="181312"/>
                      <a:pt x="248031" y="191981"/>
                      <a:pt x="241173" y="200267"/>
                    </a:cubicBezTo>
                    <a:cubicBezTo>
                      <a:pt x="230314" y="213507"/>
                      <a:pt x="231648" y="223985"/>
                      <a:pt x="247174" y="229985"/>
                    </a:cubicBezTo>
                    <a:cubicBezTo>
                      <a:pt x="255460" y="233224"/>
                      <a:pt x="263747" y="236081"/>
                      <a:pt x="271843" y="239701"/>
                    </a:cubicBezTo>
                    <a:cubicBezTo>
                      <a:pt x="296989" y="251036"/>
                      <a:pt x="322707" y="258846"/>
                      <a:pt x="350901" y="255512"/>
                    </a:cubicBezTo>
                    <a:cubicBezTo>
                      <a:pt x="356901" y="254845"/>
                      <a:pt x="363664" y="255322"/>
                      <a:pt x="363379" y="263894"/>
                    </a:cubicBezTo>
                    <a:cubicBezTo>
                      <a:pt x="363093" y="271514"/>
                      <a:pt x="356997" y="271705"/>
                      <a:pt x="351187" y="271705"/>
                    </a:cubicBezTo>
                    <a:cubicBezTo>
                      <a:pt x="332041" y="271705"/>
                      <a:pt x="312896" y="271705"/>
                      <a:pt x="292798" y="271705"/>
                    </a:cubicBezTo>
                    <a:cubicBezTo>
                      <a:pt x="292798" y="279039"/>
                      <a:pt x="292798" y="285802"/>
                      <a:pt x="292798" y="293327"/>
                    </a:cubicBezTo>
                    <a:cubicBezTo>
                      <a:pt x="347376" y="293327"/>
                      <a:pt x="402241" y="293327"/>
                      <a:pt x="457771" y="293327"/>
                    </a:cubicBezTo>
                    <a:cubicBezTo>
                      <a:pt x="457771" y="286754"/>
                      <a:pt x="457771" y="279896"/>
                      <a:pt x="457771" y="271705"/>
                    </a:cubicBezTo>
                    <a:cubicBezTo>
                      <a:pt x="440245" y="271705"/>
                      <a:pt x="422624" y="271705"/>
                      <a:pt x="405098" y="271705"/>
                    </a:cubicBezTo>
                    <a:cubicBezTo>
                      <a:pt x="401764" y="271705"/>
                      <a:pt x="397955" y="272657"/>
                      <a:pt x="395288" y="271419"/>
                    </a:cubicBezTo>
                    <a:cubicBezTo>
                      <a:pt x="391858" y="269800"/>
                      <a:pt x="389382" y="266276"/>
                      <a:pt x="386429" y="263513"/>
                    </a:cubicBezTo>
                    <a:cubicBezTo>
                      <a:pt x="389382" y="260846"/>
                      <a:pt x="392144" y="256179"/>
                      <a:pt x="395383" y="255893"/>
                    </a:cubicBezTo>
                    <a:cubicBezTo>
                      <a:pt x="406336" y="254941"/>
                      <a:pt x="417481" y="255417"/>
                      <a:pt x="428530" y="255417"/>
                    </a:cubicBezTo>
                    <a:cubicBezTo>
                      <a:pt x="439198" y="255417"/>
                      <a:pt x="449961" y="255417"/>
                      <a:pt x="460629" y="255512"/>
                    </a:cubicBezTo>
                    <a:cubicBezTo>
                      <a:pt x="469487" y="255607"/>
                      <a:pt x="474631" y="260084"/>
                      <a:pt x="474916" y="268943"/>
                    </a:cubicBezTo>
                    <a:cubicBezTo>
                      <a:pt x="475297" y="278563"/>
                      <a:pt x="475297" y="288088"/>
                      <a:pt x="474821" y="297708"/>
                    </a:cubicBezTo>
                    <a:cubicBezTo>
                      <a:pt x="474631" y="300756"/>
                      <a:pt x="473202" y="304376"/>
                      <a:pt x="471201" y="306661"/>
                    </a:cubicBezTo>
                    <a:cubicBezTo>
                      <a:pt x="461105" y="318282"/>
                      <a:pt x="461105" y="326474"/>
                      <a:pt x="470916" y="337713"/>
                    </a:cubicBezTo>
                    <a:cubicBezTo>
                      <a:pt x="473297" y="340475"/>
                      <a:pt x="474631" y="344952"/>
                      <a:pt x="474916" y="348762"/>
                    </a:cubicBezTo>
                    <a:cubicBezTo>
                      <a:pt x="475488" y="357239"/>
                      <a:pt x="475393" y="365716"/>
                      <a:pt x="474916" y="374194"/>
                    </a:cubicBezTo>
                    <a:cubicBezTo>
                      <a:pt x="474726" y="377718"/>
                      <a:pt x="473869" y="382766"/>
                      <a:pt x="471488" y="384195"/>
                    </a:cubicBezTo>
                    <a:cubicBezTo>
                      <a:pt x="459867" y="391053"/>
                      <a:pt x="464915" y="401149"/>
                      <a:pt x="464058" y="411532"/>
                    </a:cubicBezTo>
                    <a:cubicBezTo>
                      <a:pt x="489585" y="411532"/>
                      <a:pt x="513874" y="411532"/>
                      <a:pt x="538067" y="411532"/>
                    </a:cubicBezTo>
                    <a:cubicBezTo>
                      <a:pt x="561308" y="411532"/>
                      <a:pt x="568738" y="419628"/>
                      <a:pt x="566928" y="442393"/>
                    </a:cubicBezTo>
                    <a:cubicBezTo>
                      <a:pt x="566071" y="453537"/>
                      <a:pt x="559498" y="459538"/>
                      <a:pt x="549211" y="462681"/>
                    </a:cubicBezTo>
                    <a:cubicBezTo>
                      <a:pt x="549211" y="466682"/>
                      <a:pt x="550164" y="470777"/>
                      <a:pt x="549021" y="473920"/>
                    </a:cubicBezTo>
                    <a:cubicBezTo>
                      <a:pt x="547306" y="478397"/>
                      <a:pt x="544544" y="485065"/>
                      <a:pt x="541210" y="485732"/>
                    </a:cubicBezTo>
                    <a:cubicBezTo>
                      <a:pt x="533876" y="487256"/>
                      <a:pt x="532924" y="480493"/>
                      <a:pt x="532733" y="474682"/>
                    </a:cubicBezTo>
                    <a:cubicBezTo>
                      <a:pt x="532638" y="470777"/>
                      <a:pt x="532733" y="466777"/>
                      <a:pt x="532733" y="462586"/>
                    </a:cubicBezTo>
                    <a:cubicBezTo>
                      <a:pt x="366046" y="462586"/>
                      <a:pt x="200977" y="462586"/>
                      <a:pt x="34576" y="462586"/>
                    </a:cubicBezTo>
                    <a:cubicBezTo>
                      <a:pt x="34576" y="484112"/>
                      <a:pt x="34290" y="504972"/>
                      <a:pt x="34957" y="525927"/>
                    </a:cubicBezTo>
                    <a:cubicBezTo>
                      <a:pt x="35052" y="528403"/>
                      <a:pt x="39433" y="531642"/>
                      <a:pt x="42576" y="532976"/>
                    </a:cubicBezTo>
                    <a:cubicBezTo>
                      <a:pt x="45434" y="534214"/>
                      <a:pt x="49149" y="533261"/>
                      <a:pt x="52388" y="533261"/>
                    </a:cubicBezTo>
                    <a:cubicBezTo>
                      <a:pt x="206597" y="533261"/>
                      <a:pt x="360807" y="533261"/>
                      <a:pt x="515017" y="533261"/>
                    </a:cubicBezTo>
                    <a:cubicBezTo>
                      <a:pt x="530447" y="533261"/>
                      <a:pt x="530066" y="533166"/>
                      <a:pt x="533114" y="518116"/>
                    </a:cubicBezTo>
                    <a:cubicBezTo>
                      <a:pt x="533781" y="514687"/>
                      <a:pt x="538163" y="512116"/>
                      <a:pt x="540830" y="509163"/>
                    </a:cubicBezTo>
                    <a:cubicBezTo>
                      <a:pt x="543592" y="512020"/>
                      <a:pt x="548164" y="514592"/>
                      <a:pt x="548735" y="517926"/>
                    </a:cubicBezTo>
                    <a:cubicBezTo>
                      <a:pt x="552355" y="537928"/>
                      <a:pt x="541972" y="550311"/>
                      <a:pt x="521684" y="550311"/>
                    </a:cubicBezTo>
                    <a:cubicBezTo>
                      <a:pt x="362712" y="550406"/>
                      <a:pt x="203644" y="550406"/>
                      <a:pt x="44672" y="550311"/>
                    </a:cubicBezTo>
                    <a:cubicBezTo>
                      <a:pt x="26194" y="550311"/>
                      <a:pt x="17907" y="541548"/>
                      <a:pt x="17716" y="522974"/>
                    </a:cubicBezTo>
                    <a:cubicBezTo>
                      <a:pt x="17621" y="503067"/>
                      <a:pt x="17716" y="483160"/>
                      <a:pt x="17716" y="465729"/>
                    </a:cubicBezTo>
                    <a:cubicBezTo>
                      <a:pt x="10858" y="459157"/>
                      <a:pt x="5429" y="454013"/>
                      <a:pt x="0" y="448870"/>
                    </a:cubicBezTo>
                    <a:cubicBezTo>
                      <a:pt x="190" y="441345"/>
                      <a:pt x="190" y="434011"/>
                      <a:pt x="190" y="426581"/>
                    </a:cubicBezTo>
                    <a:close/>
                    <a:moveTo>
                      <a:pt x="159353" y="411056"/>
                    </a:moveTo>
                    <a:cubicBezTo>
                      <a:pt x="163258" y="378766"/>
                      <a:pt x="167068" y="347714"/>
                      <a:pt x="170497" y="316568"/>
                    </a:cubicBezTo>
                    <a:cubicBezTo>
                      <a:pt x="170974" y="311900"/>
                      <a:pt x="169735" y="307043"/>
                      <a:pt x="169259" y="301994"/>
                    </a:cubicBezTo>
                    <a:cubicBezTo>
                      <a:pt x="150876" y="305899"/>
                      <a:pt x="149161" y="305042"/>
                      <a:pt x="141065" y="289040"/>
                    </a:cubicBezTo>
                    <a:cubicBezTo>
                      <a:pt x="135255" y="277610"/>
                      <a:pt x="129445" y="266085"/>
                      <a:pt x="123253" y="253798"/>
                    </a:cubicBezTo>
                    <a:cubicBezTo>
                      <a:pt x="105727" y="260751"/>
                      <a:pt x="88297" y="266561"/>
                      <a:pt x="71914" y="274467"/>
                    </a:cubicBezTo>
                    <a:cubicBezTo>
                      <a:pt x="57912" y="281135"/>
                      <a:pt x="48006" y="293327"/>
                      <a:pt x="47530" y="309043"/>
                    </a:cubicBezTo>
                    <a:cubicBezTo>
                      <a:pt x="46482" y="342761"/>
                      <a:pt x="47244" y="376670"/>
                      <a:pt x="47244" y="410865"/>
                    </a:cubicBezTo>
                    <a:cubicBezTo>
                      <a:pt x="60103" y="410865"/>
                      <a:pt x="72390" y="410865"/>
                      <a:pt x="85820" y="410865"/>
                    </a:cubicBezTo>
                    <a:cubicBezTo>
                      <a:pt x="85820" y="406579"/>
                      <a:pt x="85820" y="402959"/>
                      <a:pt x="85820" y="399340"/>
                    </a:cubicBezTo>
                    <a:cubicBezTo>
                      <a:pt x="85820" y="378670"/>
                      <a:pt x="85725" y="358097"/>
                      <a:pt x="85915" y="337427"/>
                    </a:cubicBezTo>
                    <a:cubicBezTo>
                      <a:pt x="86011" y="330855"/>
                      <a:pt x="83629" y="321235"/>
                      <a:pt x="93821" y="320949"/>
                    </a:cubicBezTo>
                    <a:cubicBezTo>
                      <a:pt x="104203" y="320663"/>
                      <a:pt x="102013" y="330188"/>
                      <a:pt x="102203" y="336856"/>
                    </a:cubicBezTo>
                    <a:cubicBezTo>
                      <a:pt x="102394" y="344571"/>
                      <a:pt x="102203" y="352286"/>
                      <a:pt x="102203" y="360097"/>
                    </a:cubicBezTo>
                    <a:cubicBezTo>
                      <a:pt x="102203" y="376956"/>
                      <a:pt x="102203" y="393720"/>
                      <a:pt x="102203" y="410960"/>
                    </a:cubicBezTo>
                    <a:cubicBezTo>
                      <a:pt x="121825" y="411056"/>
                      <a:pt x="140113" y="411056"/>
                      <a:pt x="159353" y="411056"/>
                    </a:cubicBezTo>
                    <a:close/>
                    <a:moveTo>
                      <a:pt x="141065" y="113018"/>
                    </a:moveTo>
                    <a:cubicBezTo>
                      <a:pt x="141065" y="125972"/>
                      <a:pt x="140494" y="140260"/>
                      <a:pt x="141160" y="154643"/>
                    </a:cubicBezTo>
                    <a:cubicBezTo>
                      <a:pt x="142589" y="184837"/>
                      <a:pt x="165068" y="205887"/>
                      <a:pt x="194215" y="205030"/>
                    </a:cubicBezTo>
                    <a:cubicBezTo>
                      <a:pt x="222028" y="204268"/>
                      <a:pt x="242888" y="182360"/>
                      <a:pt x="243554" y="153023"/>
                    </a:cubicBezTo>
                    <a:cubicBezTo>
                      <a:pt x="243840" y="140165"/>
                      <a:pt x="242697" y="127211"/>
                      <a:pt x="243935" y="114447"/>
                    </a:cubicBezTo>
                    <a:cubicBezTo>
                      <a:pt x="245173" y="101779"/>
                      <a:pt x="236315" y="95587"/>
                      <a:pt x="228886" y="89491"/>
                    </a:cubicBezTo>
                    <a:cubicBezTo>
                      <a:pt x="226314" y="87491"/>
                      <a:pt x="218122" y="92349"/>
                      <a:pt x="212598" y="94254"/>
                    </a:cubicBezTo>
                    <a:cubicBezTo>
                      <a:pt x="208502" y="95778"/>
                      <a:pt x="204597" y="98255"/>
                      <a:pt x="200406" y="99302"/>
                    </a:cubicBezTo>
                    <a:cubicBezTo>
                      <a:pt x="181165" y="103874"/>
                      <a:pt x="161925" y="108161"/>
                      <a:pt x="141065" y="113018"/>
                    </a:cubicBezTo>
                    <a:close/>
                    <a:moveTo>
                      <a:pt x="18002" y="429058"/>
                    </a:moveTo>
                    <a:cubicBezTo>
                      <a:pt x="15621" y="445345"/>
                      <a:pt x="15907" y="445727"/>
                      <a:pt x="30099" y="445727"/>
                    </a:cubicBezTo>
                    <a:cubicBezTo>
                      <a:pt x="199072" y="445727"/>
                      <a:pt x="368046" y="445727"/>
                      <a:pt x="537019" y="445727"/>
                    </a:cubicBezTo>
                    <a:cubicBezTo>
                      <a:pt x="551307" y="445727"/>
                      <a:pt x="552545" y="443917"/>
                      <a:pt x="548259" y="429058"/>
                    </a:cubicBezTo>
                    <a:cubicBezTo>
                      <a:pt x="371856" y="429058"/>
                      <a:pt x="195263" y="429058"/>
                      <a:pt x="18002" y="429058"/>
                    </a:cubicBezTo>
                    <a:close/>
                    <a:moveTo>
                      <a:pt x="262414" y="101112"/>
                    </a:moveTo>
                    <a:cubicBezTo>
                      <a:pt x="268319" y="72537"/>
                      <a:pt x="254317" y="41295"/>
                      <a:pt x="228695" y="26341"/>
                    </a:cubicBezTo>
                    <a:cubicBezTo>
                      <a:pt x="201073" y="10244"/>
                      <a:pt x="167640" y="13863"/>
                      <a:pt x="143637" y="35294"/>
                    </a:cubicBezTo>
                    <a:cubicBezTo>
                      <a:pt x="125254" y="51868"/>
                      <a:pt x="114967" y="84729"/>
                      <a:pt x="122110" y="101302"/>
                    </a:cubicBezTo>
                    <a:cubicBezTo>
                      <a:pt x="128111" y="98445"/>
                      <a:pt x="134207" y="93111"/>
                      <a:pt x="140113" y="93206"/>
                    </a:cubicBezTo>
                    <a:cubicBezTo>
                      <a:pt x="168592" y="93587"/>
                      <a:pt x="194691" y="86253"/>
                      <a:pt x="218980" y="71870"/>
                    </a:cubicBezTo>
                    <a:cubicBezTo>
                      <a:pt x="226314" y="67584"/>
                      <a:pt x="233076" y="68441"/>
                      <a:pt x="238887" y="74823"/>
                    </a:cubicBezTo>
                    <a:cubicBezTo>
                      <a:pt x="246697" y="83491"/>
                      <a:pt x="254413" y="92158"/>
                      <a:pt x="262414" y="101112"/>
                    </a:cubicBezTo>
                    <a:close/>
                    <a:moveTo>
                      <a:pt x="215551" y="301328"/>
                    </a:moveTo>
                    <a:cubicBezTo>
                      <a:pt x="215455" y="339047"/>
                      <a:pt x="223266" y="374670"/>
                      <a:pt x="226314" y="410674"/>
                    </a:cubicBezTo>
                    <a:cubicBezTo>
                      <a:pt x="239363" y="410674"/>
                      <a:pt x="251269" y="410674"/>
                      <a:pt x="263080" y="410674"/>
                    </a:cubicBezTo>
                    <a:cubicBezTo>
                      <a:pt x="265652" y="396578"/>
                      <a:pt x="258127" y="380480"/>
                      <a:pt x="274415" y="371241"/>
                    </a:cubicBezTo>
                    <a:cubicBezTo>
                      <a:pt x="275082" y="370860"/>
                      <a:pt x="274796" y="368479"/>
                      <a:pt x="274796" y="366955"/>
                    </a:cubicBezTo>
                    <a:cubicBezTo>
                      <a:pt x="274796" y="358382"/>
                      <a:pt x="275463" y="350857"/>
                      <a:pt x="266795" y="343904"/>
                    </a:cubicBezTo>
                    <a:cubicBezTo>
                      <a:pt x="258413" y="337237"/>
                      <a:pt x="263842" y="304090"/>
                      <a:pt x="272224" y="295327"/>
                    </a:cubicBezTo>
                    <a:cubicBezTo>
                      <a:pt x="273939" y="293517"/>
                      <a:pt x="274701" y="290183"/>
                      <a:pt x="274701" y="287611"/>
                    </a:cubicBezTo>
                    <a:cubicBezTo>
                      <a:pt x="274987" y="278182"/>
                      <a:pt x="274796" y="268847"/>
                      <a:pt x="274796" y="258656"/>
                    </a:cubicBezTo>
                    <a:cubicBezTo>
                      <a:pt x="271367" y="257417"/>
                      <a:pt x="267081" y="255893"/>
                      <a:pt x="262223" y="254083"/>
                    </a:cubicBezTo>
                    <a:cubicBezTo>
                      <a:pt x="255841" y="266847"/>
                      <a:pt x="249841" y="278944"/>
                      <a:pt x="243649" y="291040"/>
                    </a:cubicBezTo>
                    <a:cubicBezTo>
                      <a:pt x="236791" y="304661"/>
                      <a:pt x="233553" y="306185"/>
                      <a:pt x="215551" y="301328"/>
                    </a:cubicBezTo>
                    <a:close/>
                    <a:moveTo>
                      <a:pt x="281083" y="333046"/>
                    </a:moveTo>
                    <a:cubicBezTo>
                      <a:pt x="336613" y="333046"/>
                      <a:pt x="391382" y="333046"/>
                      <a:pt x="446722" y="333046"/>
                    </a:cubicBezTo>
                    <a:cubicBezTo>
                      <a:pt x="446722" y="325711"/>
                      <a:pt x="446722" y="318949"/>
                      <a:pt x="446722" y="311805"/>
                    </a:cubicBezTo>
                    <a:cubicBezTo>
                      <a:pt x="391287" y="311805"/>
                      <a:pt x="336518" y="311805"/>
                      <a:pt x="281083" y="311805"/>
                    </a:cubicBezTo>
                    <a:cubicBezTo>
                      <a:pt x="281083" y="318853"/>
                      <a:pt x="281083" y="325331"/>
                      <a:pt x="281083" y="333046"/>
                    </a:cubicBezTo>
                    <a:close/>
                    <a:moveTo>
                      <a:pt x="292227" y="372098"/>
                    </a:moveTo>
                    <a:cubicBezTo>
                      <a:pt x="348329" y="372098"/>
                      <a:pt x="403003" y="372098"/>
                      <a:pt x="457676" y="372098"/>
                    </a:cubicBezTo>
                    <a:cubicBezTo>
                      <a:pt x="457676" y="364478"/>
                      <a:pt x="457676" y="357715"/>
                      <a:pt x="457676" y="351048"/>
                    </a:cubicBezTo>
                    <a:cubicBezTo>
                      <a:pt x="402145" y="351048"/>
                      <a:pt x="347472" y="351048"/>
                      <a:pt x="292227" y="351048"/>
                    </a:cubicBezTo>
                    <a:cubicBezTo>
                      <a:pt x="292227" y="358287"/>
                      <a:pt x="292227" y="364859"/>
                      <a:pt x="292227" y="372098"/>
                    </a:cubicBezTo>
                    <a:close/>
                    <a:moveTo>
                      <a:pt x="446818" y="389815"/>
                    </a:moveTo>
                    <a:cubicBezTo>
                      <a:pt x="391192" y="389815"/>
                      <a:pt x="336423" y="389815"/>
                      <a:pt x="281273" y="389815"/>
                    </a:cubicBezTo>
                    <a:cubicBezTo>
                      <a:pt x="281273" y="397244"/>
                      <a:pt x="281273" y="403912"/>
                      <a:pt x="281273" y="410960"/>
                    </a:cubicBezTo>
                    <a:cubicBezTo>
                      <a:pt x="336804" y="410960"/>
                      <a:pt x="391573" y="410960"/>
                      <a:pt x="446818" y="410960"/>
                    </a:cubicBezTo>
                    <a:cubicBezTo>
                      <a:pt x="446818" y="403816"/>
                      <a:pt x="446818" y="397340"/>
                      <a:pt x="446818" y="389815"/>
                    </a:cubicBezTo>
                    <a:close/>
                    <a:moveTo>
                      <a:pt x="209455" y="410865"/>
                    </a:moveTo>
                    <a:cubicBezTo>
                      <a:pt x="205930" y="380385"/>
                      <a:pt x="202597" y="350762"/>
                      <a:pt x="198787" y="321330"/>
                    </a:cubicBezTo>
                    <a:cubicBezTo>
                      <a:pt x="198406" y="318758"/>
                      <a:pt x="194786" y="316568"/>
                      <a:pt x="192691" y="314186"/>
                    </a:cubicBezTo>
                    <a:cubicBezTo>
                      <a:pt x="190690" y="316663"/>
                      <a:pt x="187642" y="318853"/>
                      <a:pt x="186880" y="321711"/>
                    </a:cubicBezTo>
                    <a:cubicBezTo>
                      <a:pt x="185451" y="326950"/>
                      <a:pt x="185356" y="332569"/>
                      <a:pt x="184785" y="338094"/>
                    </a:cubicBezTo>
                    <a:cubicBezTo>
                      <a:pt x="182023" y="362097"/>
                      <a:pt x="179165" y="386100"/>
                      <a:pt x="176308" y="410865"/>
                    </a:cubicBezTo>
                    <a:cubicBezTo>
                      <a:pt x="187642" y="410865"/>
                      <a:pt x="197834" y="410865"/>
                      <a:pt x="209455" y="410865"/>
                    </a:cubicBezTo>
                    <a:close/>
                    <a:moveTo>
                      <a:pt x="217741" y="219603"/>
                    </a:moveTo>
                    <a:cubicBezTo>
                      <a:pt x="200120" y="219603"/>
                      <a:pt x="184594" y="219603"/>
                      <a:pt x="167735" y="219603"/>
                    </a:cubicBezTo>
                    <a:cubicBezTo>
                      <a:pt x="168973" y="237129"/>
                      <a:pt x="184213" y="245416"/>
                      <a:pt x="193453" y="259894"/>
                    </a:cubicBezTo>
                    <a:cubicBezTo>
                      <a:pt x="200977" y="244178"/>
                      <a:pt x="218122" y="236939"/>
                      <a:pt x="217741" y="219603"/>
                    </a:cubicBezTo>
                    <a:close/>
                    <a:moveTo>
                      <a:pt x="139541" y="248749"/>
                    </a:moveTo>
                    <a:cubicBezTo>
                      <a:pt x="145637" y="261037"/>
                      <a:pt x="151828" y="273324"/>
                      <a:pt x="158401" y="286373"/>
                    </a:cubicBezTo>
                    <a:cubicBezTo>
                      <a:pt x="164020" y="282468"/>
                      <a:pt x="168592" y="279325"/>
                      <a:pt x="172974" y="276086"/>
                    </a:cubicBezTo>
                    <a:cubicBezTo>
                      <a:pt x="175355" y="274372"/>
                      <a:pt x="177546" y="272467"/>
                      <a:pt x="180499" y="270086"/>
                    </a:cubicBezTo>
                    <a:cubicBezTo>
                      <a:pt x="175641" y="264085"/>
                      <a:pt x="171069" y="258370"/>
                      <a:pt x="166497" y="252750"/>
                    </a:cubicBezTo>
                    <a:cubicBezTo>
                      <a:pt x="155734" y="239606"/>
                      <a:pt x="155638" y="239606"/>
                      <a:pt x="139541" y="248749"/>
                    </a:cubicBezTo>
                    <a:close/>
                    <a:moveTo>
                      <a:pt x="247078" y="247130"/>
                    </a:moveTo>
                    <a:cubicBezTo>
                      <a:pt x="239744" y="245320"/>
                      <a:pt x="231172" y="240748"/>
                      <a:pt x="228600" y="242939"/>
                    </a:cubicBezTo>
                    <a:cubicBezTo>
                      <a:pt x="219646" y="250845"/>
                      <a:pt x="212788" y="261037"/>
                      <a:pt x="204883" y="270657"/>
                    </a:cubicBezTo>
                    <a:cubicBezTo>
                      <a:pt x="213455" y="276658"/>
                      <a:pt x="220027" y="281325"/>
                      <a:pt x="227362" y="286469"/>
                    </a:cubicBezTo>
                    <a:cubicBezTo>
                      <a:pt x="233934" y="273324"/>
                      <a:pt x="239934" y="261227"/>
                      <a:pt x="247078" y="247130"/>
                    </a:cubicBezTo>
                    <a:close/>
                    <a:moveTo>
                      <a:pt x="193548" y="281801"/>
                    </a:moveTo>
                    <a:cubicBezTo>
                      <a:pt x="188595" y="285707"/>
                      <a:pt x="184785" y="288659"/>
                      <a:pt x="180975" y="291612"/>
                    </a:cubicBezTo>
                    <a:cubicBezTo>
                      <a:pt x="181165" y="293136"/>
                      <a:pt x="181451" y="294565"/>
                      <a:pt x="181642" y="296089"/>
                    </a:cubicBezTo>
                    <a:cubicBezTo>
                      <a:pt x="187547" y="296565"/>
                      <a:pt x="193548" y="297422"/>
                      <a:pt x="199453" y="297327"/>
                    </a:cubicBezTo>
                    <a:cubicBezTo>
                      <a:pt x="200882" y="297327"/>
                      <a:pt x="203740" y="293327"/>
                      <a:pt x="203549" y="293041"/>
                    </a:cubicBezTo>
                    <a:cubicBezTo>
                      <a:pt x="200596" y="289231"/>
                      <a:pt x="197167" y="285802"/>
                      <a:pt x="193548" y="281801"/>
                    </a:cubicBezTo>
                    <a:close/>
                    <a:moveTo>
                      <a:pt x="260604" y="144927"/>
                    </a:moveTo>
                    <a:cubicBezTo>
                      <a:pt x="262128" y="145498"/>
                      <a:pt x="263652" y="146070"/>
                      <a:pt x="265176" y="146641"/>
                    </a:cubicBezTo>
                    <a:cubicBezTo>
                      <a:pt x="266986" y="141403"/>
                      <a:pt x="270129" y="136259"/>
                      <a:pt x="270129" y="131020"/>
                    </a:cubicBezTo>
                    <a:cubicBezTo>
                      <a:pt x="270129" y="127306"/>
                      <a:pt x="265843" y="123686"/>
                      <a:pt x="263461" y="119972"/>
                    </a:cubicBezTo>
                    <a:cubicBezTo>
                      <a:pt x="262509" y="120543"/>
                      <a:pt x="261651" y="121115"/>
                      <a:pt x="260699" y="121591"/>
                    </a:cubicBezTo>
                    <a:cubicBezTo>
                      <a:pt x="260604" y="129401"/>
                      <a:pt x="260604" y="137212"/>
                      <a:pt x="260604" y="144927"/>
                    </a:cubicBezTo>
                    <a:close/>
                    <a:moveTo>
                      <a:pt x="123253" y="146546"/>
                    </a:moveTo>
                    <a:cubicBezTo>
                      <a:pt x="123253" y="137498"/>
                      <a:pt x="123253" y="129497"/>
                      <a:pt x="123253" y="121019"/>
                    </a:cubicBezTo>
                    <a:cubicBezTo>
                      <a:pt x="110014" y="129020"/>
                      <a:pt x="110014" y="138069"/>
                      <a:pt x="123253" y="146546"/>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任意多边形: 形状 22">
                <a:extLst>
                  <a:ext uri="{FF2B5EF4-FFF2-40B4-BE49-F238E27FC236}">
                    <a16:creationId xmlns:a16="http://schemas.microsoft.com/office/drawing/2014/main" id="{9CEE3CFB-6F03-6468-3776-C7DD7244011A}"/>
                  </a:ext>
                </a:extLst>
              </p:cNvPr>
              <p:cNvSpPr/>
              <p:nvPr/>
            </p:nvSpPr>
            <p:spPr>
              <a:xfrm>
                <a:off x="8398709" y="4108449"/>
                <a:ext cx="95628" cy="26899"/>
              </a:xfrm>
              <a:custGeom>
                <a:avLst/>
                <a:gdLst>
                  <a:gd name="connsiteX0" fmla="*/ 144215 w 166227"/>
                  <a:gd name="connsiteY0" fmla="*/ 0 h 46757"/>
                  <a:gd name="connsiteX1" fmla="*/ 148977 w 166227"/>
                  <a:gd name="connsiteY1" fmla="*/ 2191 h 46757"/>
                  <a:gd name="connsiteX2" fmla="*/ 166122 w 166227"/>
                  <a:gd name="connsiteY2" fmla="*/ 26003 h 46757"/>
                  <a:gd name="connsiteX3" fmla="*/ 143738 w 166227"/>
                  <a:gd name="connsiteY3" fmla="*/ 46482 h 46757"/>
                  <a:gd name="connsiteX4" fmla="*/ 114973 w 166227"/>
                  <a:gd name="connsiteY4" fmla="*/ 46672 h 46757"/>
                  <a:gd name="connsiteX5" fmla="*/ 32010 w 166227"/>
                  <a:gd name="connsiteY5" fmla="*/ 46672 h 46757"/>
                  <a:gd name="connsiteX6" fmla="*/ 387 w 166227"/>
                  <a:gd name="connsiteY6" fmla="*/ 27908 h 46757"/>
                  <a:gd name="connsiteX7" fmla="*/ 22390 w 166227"/>
                  <a:gd name="connsiteY7" fmla="*/ 0 h 46757"/>
                  <a:gd name="connsiteX8" fmla="*/ 144215 w 166227"/>
                  <a:gd name="connsiteY8" fmla="*/ 0 h 46757"/>
                  <a:gd name="connsiteX9" fmla="*/ 83254 w 166227"/>
                  <a:gd name="connsiteY9" fmla="*/ 17717 h 46757"/>
                  <a:gd name="connsiteX10" fmla="*/ 28105 w 166227"/>
                  <a:gd name="connsiteY10" fmla="*/ 18002 h 46757"/>
                  <a:gd name="connsiteX11" fmla="*/ 16770 w 166227"/>
                  <a:gd name="connsiteY11" fmla="*/ 23813 h 46757"/>
                  <a:gd name="connsiteX12" fmla="*/ 27533 w 166227"/>
                  <a:gd name="connsiteY12" fmla="*/ 30194 h 46757"/>
                  <a:gd name="connsiteX13" fmla="*/ 137833 w 166227"/>
                  <a:gd name="connsiteY13" fmla="*/ 30194 h 46757"/>
                  <a:gd name="connsiteX14" fmla="*/ 148977 w 166227"/>
                  <a:gd name="connsiteY14" fmla="*/ 24289 h 46757"/>
                  <a:gd name="connsiteX15" fmla="*/ 137261 w 166227"/>
                  <a:gd name="connsiteY15" fmla="*/ 18097 h 46757"/>
                  <a:gd name="connsiteX16" fmla="*/ 83254 w 166227"/>
                  <a:gd name="connsiteY16" fmla="*/ 17717 h 46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227" h="46757">
                    <a:moveTo>
                      <a:pt x="144215" y="0"/>
                    </a:moveTo>
                    <a:cubicBezTo>
                      <a:pt x="145834" y="762"/>
                      <a:pt x="147358" y="1619"/>
                      <a:pt x="148977" y="2191"/>
                    </a:cubicBezTo>
                    <a:cubicBezTo>
                      <a:pt x="160312" y="5810"/>
                      <a:pt x="167170" y="15240"/>
                      <a:pt x="166122" y="26003"/>
                    </a:cubicBezTo>
                    <a:cubicBezTo>
                      <a:pt x="164979" y="37433"/>
                      <a:pt x="156216" y="45815"/>
                      <a:pt x="143738" y="46482"/>
                    </a:cubicBezTo>
                    <a:cubicBezTo>
                      <a:pt x="134213" y="46958"/>
                      <a:pt x="124593" y="46672"/>
                      <a:pt x="114973" y="46672"/>
                    </a:cubicBezTo>
                    <a:cubicBezTo>
                      <a:pt x="87350" y="46672"/>
                      <a:pt x="59632" y="46672"/>
                      <a:pt x="32010" y="46672"/>
                    </a:cubicBezTo>
                    <a:cubicBezTo>
                      <a:pt x="12103" y="46672"/>
                      <a:pt x="2482" y="40958"/>
                      <a:pt x="387" y="27908"/>
                    </a:cubicBezTo>
                    <a:cubicBezTo>
                      <a:pt x="-1709" y="14859"/>
                      <a:pt x="4578" y="6858"/>
                      <a:pt x="22390" y="0"/>
                    </a:cubicBezTo>
                    <a:cubicBezTo>
                      <a:pt x="62966" y="0"/>
                      <a:pt x="103638" y="0"/>
                      <a:pt x="144215" y="0"/>
                    </a:cubicBezTo>
                    <a:close/>
                    <a:moveTo>
                      <a:pt x="83254" y="17717"/>
                    </a:moveTo>
                    <a:cubicBezTo>
                      <a:pt x="64871" y="17717"/>
                      <a:pt x="46488" y="17335"/>
                      <a:pt x="28105" y="18002"/>
                    </a:cubicBezTo>
                    <a:cubicBezTo>
                      <a:pt x="24295" y="18097"/>
                      <a:pt x="20580" y="21717"/>
                      <a:pt x="16770" y="23813"/>
                    </a:cubicBezTo>
                    <a:cubicBezTo>
                      <a:pt x="20390" y="26003"/>
                      <a:pt x="23914" y="30099"/>
                      <a:pt x="27533" y="30194"/>
                    </a:cubicBezTo>
                    <a:cubicBezTo>
                      <a:pt x="64300" y="30671"/>
                      <a:pt x="101066" y="30671"/>
                      <a:pt x="137833" y="30194"/>
                    </a:cubicBezTo>
                    <a:cubicBezTo>
                      <a:pt x="141548" y="30194"/>
                      <a:pt x="145262" y="26384"/>
                      <a:pt x="148977" y="24289"/>
                    </a:cubicBezTo>
                    <a:cubicBezTo>
                      <a:pt x="145072" y="22098"/>
                      <a:pt x="141262" y="18193"/>
                      <a:pt x="137261" y="18097"/>
                    </a:cubicBezTo>
                    <a:cubicBezTo>
                      <a:pt x="119354" y="17335"/>
                      <a:pt x="101352" y="17717"/>
                      <a:pt x="83254" y="1771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任意多边形: 形状 23">
                <a:extLst>
                  <a:ext uri="{FF2B5EF4-FFF2-40B4-BE49-F238E27FC236}">
                    <a16:creationId xmlns:a16="http://schemas.microsoft.com/office/drawing/2014/main" id="{D18F3CB0-2ABF-26DC-466F-7FE394EF65FA}"/>
                  </a:ext>
                </a:extLst>
              </p:cNvPr>
              <p:cNvSpPr/>
              <p:nvPr/>
            </p:nvSpPr>
            <p:spPr>
              <a:xfrm>
                <a:off x="8398766" y="4159957"/>
                <a:ext cx="95621" cy="26351"/>
              </a:xfrm>
              <a:custGeom>
                <a:avLst/>
                <a:gdLst>
                  <a:gd name="connsiteX0" fmla="*/ 82489 w 166214"/>
                  <a:gd name="connsiteY0" fmla="*/ 45720 h 45804"/>
                  <a:gd name="connsiteX1" fmla="*/ 26101 w 166214"/>
                  <a:gd name="connsiteY1" fmla="*/ 45720 h 45804"/>
                  <a:gd name="connsiteX2" fmla="*/ 3 w 166214"/>
                  <a:gd name="connsiteY2" fmla="*/ 23336 h 45804"/>
                  <a:gd name="connsiteX3" fmla="*/ 25434 w 166214"/>
                  <a:gd name="connsiteY3" fmla="*/ 286 h 45804"/>
                  <a:gd name="connsiteX4" fmla="*/ 140497 w 166214"/>
                  <a:gd name="connsiteY4" fmla="*/ 286 h 45804"/>
                  <a:gd name="connsiteX5" fmla="*/ 166214 w 166214"/>
                  <a:gd name="connsiteY5" fmla="*/ 23241 h 45804"/>
                  <a:gd name="connsiteX6" fmla="*/ 140020 w 166214"/>
                  <a:gd name="connsiteY6" fmla="*/ 45720 h 45804"/>
                  <a:gd name="connsiteX7" fmla="*/ 82489 w 166214"/>
                  <a:gd name="connsiteY7" fmla="*/ 45720 h 45804"/>
                  <a:gd name="connsiteX8" fmla="*/ 82108 w 166214"/>
                  <a:gd name="connsiteY8" fmla="*/ 16764 h 45804"/>
                  <a:gd name="connsiteX9" fmla="*/ 28006 w 166214"/>
                  <a:gd name="connsiteY9" fmla="*/ 17050 h 45804"/>
                  <a:gd name="connsiteX10" fmla="*/ 16767 w 166214"/>
                  <a:gd name="connsiteY10" fmla="*/ 22765 h 45804"/>
                  <a:gd name="connsiteX11" fmla="*/ 27625 w 166214"/>
                  <a:gd name="connsiteY11" fmla="*/ 29146 h 45804"/>
                  <a:gd name="connsiteX12" fmla="*/ 137925 w 166214"/>
                  <a:gd name="connsiteY12" fmla="*/ 29146 h 45804"/>
                  <a:gd name="connsiteX13" fmla="*/ 148974 w 166214"/>
                  <a:gd name="connsiteY13" fmla="*/ 23146 h 45804"/>
                  <a:gd name="connsiteX14" fmla="*/ 137258 w 166214"/>
                  <a:gd name="connsiteY14" fmla="*/ 16954 h 45804"/>
                  <a:gd name="connsiteX15" fmla="*/ 82108 w 166214"/>
                  <a:gd name="connsiteY15" fmla="*/ 16764 h 4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14" h="45804">
                    <a:moveTo>
                      <a:pt x="82489" y="45720"/>
                    </a:moveTo>
                    <a:cubicBezTo>
                      <a:pt x="63725" y="45720"/>
                      <a:pt x="44866" y="45911"/>
                      <a:pt x="26101" y="45720"/>
                    </a:cubicBezTo>
                    <a:cubicBezTo>
                      <a:pt x="10004" y="45529"/>
                      <a:pt x="193" y="36957"/>
                      <a:pt x="3" y="23336"/>
                    </a:cubicBezTo>
                    <a:cubicBezTo>
                      <a:pt x="-188" y="9716"/>
                      <a:pt x="9242" y="476"/>
                      <a:pt x="25434" y="286"/>
                    </a:cubicBezTo>
                    <a:cubicBezTo>
                      <a:pt x="63820" y="-95"/>
                      <a:pt x="102111" y="-95"/>
                      <a:pt x="140497" y="286"/>
                    </a:cubicBezTo>
                    <a:cubicBezTo>
                      <a:pt x="156499" y="476"/>
                      <a:pt x="166309" y="9906"/>
                      <a:pt x="166214" y="23241"/>
                    </a:cubicBezTo>
                    <a:cubicBezTo>
                      <a:pt x="166024" y="36576"/>
                      <a:pt x="155832" y="45529"/>
                      <a:pt x="140020" y="45720"/>
                    </a:cubicBezTo>
                    <a:cubicBezTo>
                      <a:pt x="120780" y="45911"/>
                      <a:pt x="101634" y="45720"/>
                      <a:pt x="82489" y="45720"/>
                    </a:cubicBezTo>
                    <a:close/>
                    <a:moveTo>
                      <a:pt x="82108" y="16764"/>
                    </a:moveTo>
                    <a:cubicBezTo>
                      <a:pt x="64106" y="16764"/>
                      <a:pt x="46008" y="16383"/>
                      <a:pt x="28006" y="17050"/>
                    </a:cubicBezTo>
                    <a:cubicBezTo>
                      <a:pt x="24196" y="17145"/>
                      <a:pt x="20482" y="20765"/>
                      <a:pt x="16767" y="22765"/>
                    </a:cubicBezTo>
                    <a:cubicBezTo>
                      <a:pt x="20386" y="24956"/>
                      <a:pt x="23910" y="29051"/>
                      <a:pt x="27625" y="29146"/>
                    </a:cubicBezTo>
                    <a:cubicBezTo>
                      <a:pt x="64392" y="29623"/>
                      <a:pt x="101158" y="29623"/>
                      <a:pt x="137925" y="29146"/>
                    </a:cubicBezTo>
                    <a:cubicBezTo>
                      <a:pt x="141640" y="29146"/>
                      <a:pt x="145354" y="25241"/>
                      <a:pt x="148974" y="23146"/>
                    </a:cubicBezTo>
                    <a:cubicBezTo>
                      <a:pt x="145068" y="20955"/>
                      <a:pt x="141163" y="17145"/>
                      <a:pt x="137258" y="16954"/>
                    </a:cubicBezTo>
                    <a:cubicBezTo>
                      <a:pt x="118875" y="16383"/>
                      <a:pt x="100491" y="16764"/>
                      <a:pt x="82108" y="16764"/>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任意多边形: 形状 24">
                <a:extLst>
                  <a:ext uri="{FF2B5EF4-FFF2-40B4-BE49-F238E27FC236}">
                    <a16:creationId xmlns:a16="http://schemas.microsoft.com/office/drawing/2014/main" id="{56038201-9975-10A4-602B-81D67FD400FC}"/>
                  </a:ext>
                </a:extLst>
              </p:cNvPr>
              <p:cNvSpPr/>
              <p:nvPr/>
            </p:nvSpPr>
            <p:spPr>
              <a:xfrm>
                <a:off x="8398816" y="4210877"/>
                <a:ext cx="95639" cy="26367"/>
              </a:xfrm>
              <a:custGeom>
                <a:avLst/>
                <a:gdLst>
                  <a:gd name="connsiteX0" fmla="*/ 82783 w 166245"/>
                  <a:gd name="connsiteY0" fmla="*/ 45792 h 45833"/>
                  <a:gd name="connsiteX1" fmla="*/ 26396 w 166245"/>
                  <a:gd name="connsiteY1" fmla="*/ 45792 h 45833"/>
                  <a:gd name="connsiteX2" fmla="*/ 11 w 166245"/>
                  <a:gd name="connsiteY2" fmla="*/ 23789 h 45833"/>
                  <a:gd name="connsiteX3" fmla="*/ 25062 w 166245"/>
                  <a:gd name="connsiteY3" fmla="*/ 357 h 45833"/>
                  <a:gd name="connsiteX4" fmla="*/ 141267 w 166245"/>
                  <a:gd name="connsiteY4" fmla="*/ 357 h 45833"/>
                  <a:gd name="connsiteX5" fmla="*/ 166222 w 166245"/>
                  <a:gd name="connsiteY5" fmla="*/ 24075 h 45833"/>
                  <a:gd name="connsiteX6" fmla="*/ 140410 w 166245"/>
                  <a:gd name="connsiteY6" fmla="*/ 45792 h 45833"/>
                  <a:gd name="connsiteX7" fmla="*/ 82783 w 166245"/>
                  <a:gd name="connsiteY7" fmla="*/ 45792 h 45833"/>
                  <a:gd name="connsiteX8" fmla="*/ 83355 w 166245"/>
                  <a:gd name="connsiteY8" fmla="*/ 16835 h 45833"/>
                  <a:gd name="connsiteX9" fmla="*/ 27062 w 166245"/>
                  <a:gd name="connsiteY9" fmla="*/ 17121 h 45833"/>
                  <a:gd name="connsiteX10" fmla="*/ 16585 w 166245"/>
                  <a:gd name="connsiteY10" fmla="*/ 22550 h 45833"/>
                  <a:gd name="connsiteX11" fmla="*/ 27157 w 166245"/>
                  <a:gd name="connsiteY11" fmla="*/ 29123 h 45833"/>
                  <a:gd name="connsiteX12" fmla="*/ 138600 w 166245"/>
                  <a:gd name="connsiteY12" fmla="*/ 29123 h 45833"/>
                  <a:gd name="connsiteX13" fmla="*/ 148982 w 166245"/>
                  <a:gd name="connsiteY13" fmla="*/ 22455 h 45833"/>
                  <a:gd name="connsiteX14" fmla="*/ 138505 w 166245"/>
                  <a:gd name="connsiteY14" fmla="*/ 17121 h 45833"/>
                  <a:gd name="connsiteX15" fmla="*/ 83355 w 166245"/>
                  <a:gd name="connsiteY15" fmla="*/ 16835 h 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45" h="45833">
                    <a:moveTo>
                      <a:pt x="82783" y="45792"/>
                    </a:moveTo>
                    <a:cubicBezTo>
                      <a:pt x="64019" y="45792"/>
                      <a:pt x="45160" y="45887"/>
                      <a:pt x="26396" y="45792"/>
                    </a:cubicBezTo>
                    <a:cubicBezTo>
                      <a:pt x="10203" y="45696"/>
                      <a:pt x="297" y="37314"/>
                      <a:pt x="11" y="23789"/>
                    </a:cubicBezTo>
                    <a:cubicBezTo>
                      <a:pt x="-370" y="10168"/>
                      <a:pt x="9060" y="548"/>
                      <a:pt x="25062" y="357"/>
                    </a:cubicBezTo>
                    <a:cubicBezTo>
                      <a:pt x="63733" y="-119"/>
                      <a:pt x="102500" y="-119"/>
                      <a:pt x="141267" y="357"/>
                    </a:cubicBezTo>
                    <a:cubicBezTo>
                      <a:pt x="156888" y="548"/>
                      <a:pt x="166794" y="10835"/>
                      <a:pt x="166222" y="24075"/>
                    </a:cubicBezTo>
                    <a:cubicBezTo>
                      <a:pt x="165651" y="37029"/>
                      <a:pt x="155650" y="45601"/>
                      <a:pt x="140410" y="45792"/>
                    </a:cubicBezTo>
                    <a:cubicBezTo>
                      <a:pt x="121074" y="45887"/>
                      <a:pt x="101929" y="45792"/>
                      <a:pt x="82783" y="45792"/>
                    </a:cubicBezTo>
                    <a:close/>
                    <a:moveTo>
                      <a:pt x="83355" y="16835"/>
                    </a:moveTo>
                    <a:cubicBezTo>
                      <a:pt x="64591" y="16835"/>
                      <a:pt x="45827" y="16550"/>
                      <a:pt x="27062" y="17121"/>
                    </a:cubicBezTo>
                    <a:cubicBezTo>
                      <a:pt x="23538" y="17217"/>
                      <a:pt x="20014" y="20646"/>
                      <a:pt x="16585" y="22550"/>
                    </a:cubicBezTo>
                    <a:cubicBezTo>
                      <a:pt x="20109" y="24837"/>
                      <a:pt x="23633" y="29123"/>
                      <a:pt x="27157" y="29123"/>
                    </a:cubicBezTo>
                    <a:cubicBezTo>
                      <a:pt x="64305" y="29599"/>
                      <a:pt x="101453" y="29599"/>
                      <a:pt x="138600" y="29123"/>
                    </a:cubicBezTo>
                    <a:cubicBezTo>
                      <a:pt x="142124" y="29123"/>
                      <a:pt x="145458" y="24741"/>
                      <a:pt x="148982" y="22455"/>
                    </a:cubicBezTo>
                    <a:cubicBezTo>
                      <a:pt x="145458" y="20550"/>
                      <a:pt x="142029" y="17217"/>
                      <a:pt x="138505" y="17121"/>
                    </a:cubicBezTo>
                    <a:cubicBezTo>
                      <a:pt x="120122" y="16454"/>
                      <a:pt x="101738" y="16835"/>
                      <a:pt x="83355" y="16835"/>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任意多边形: 形状 25">
                <a:extLst>
                  <a:ext uri="{FF2B5EF4-FFF2-40B4-BE49-F238E27FC236}">
                    <a16:creationId xmlns:a16="http://schemas.microsoft.com/office/drawing/2014/main" id="{FEF114DF-28EB-D9B2-348F-845DA736771C}"/>
                  </a:ext>
                </a:extLst>
              </p:cNvPr>
              <p:cNvSpPr/>
              <p:nvPr/>
            </p:nvSpPr>
            <p:spPr>
              <a:xfrm>
                <a:off x="8358930" y="4162587"/>
                <a:ext cx="28110" cy="22474"/>
              </a:xfrm>
              <a:custGeom>
                <a:avLst/>
                <a:gdLst>
                  <a:gd name="connsiteX0" fmla="*/ 19145 w 48863"/>
                  <a:gd name="connsiteY0" fmla="*/ 20098 h 39065"/>
                  <a:gd name="connsiteX1" fmla="*/ 35624 w 48863"/>
                  <a:gd name="connsiteY1" fmla="*/ 2096 h 39065"/>
                  <a:gd name="connsiteX2" fmla="*/ 48863 w 48863"/>
                  <a:gd name="connsiteY2" fmla="*/ 0 h 39065"/>
                  <a:gd name="connsiteX3" fmla="*/ 46958 w 48863"/>
                  <a:gd name="connsiteY3" fmla="*/ 13145 h 39065"/>
                  <a:gd name="connsiteX4" fmla="*/ 25527 w 48863"/>
                  <a:gd name="connsiteY4" fmla="*/ 35147 h 39065"/>
                  <a:gd name="connsiteX5" fmla="*/ 10192 w 48863"/>
                  <a:gd name="connsiteY5" fmla="*/ 35338 h 39065"/>
                  <a:gd name="connsiteX6" fmla="*/ 1905 w 48863"/>
                  <a:gd name="connsiteY6" fmla="*/ 26670 h 39065"/>
                  <a:gd name="connsiteX7" fmla="*/ 0 w 48863"/>
                  <a:gd name="connsiteY7" fmla="*/ 13240 h 39065"/>
                  <a:gd name="connsiteX8" fmla="*/ 12668 w 48863"/>
                  <a:gd name="connsiteY8" fmla="*/ 14573 h 39065"/>
                  <a:gd name="connsiteX9" fmla="*/ 19145 w 48863"/>
                  <a:gd name="connsiteY9" fmla="*/ 20098 h 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863" h="39065">
                    <a:moveTo>
                      <a:pt x="19145" y="20098"/>
                    </a:moveTo>
                    <a:cubicBezTo>
                      <a:pt x="24670" y="13811"/>
                      <a:pt x="29433" y="7049"/>
                      <a:pt x="35624" y="2096"/>
                    </a:cubicBezTo>
                    <a:cubicBezTo>
                      <a:pt x="38672" y="-381"/>
                      <a:pt x="44387" y="572"/>
                      <a:pt x="48863" y="0"/>
                    </a:cubicBezTo>
                    <a:cubicBezTo>
                      <a:pt x="48292" y="4477"/>
                      <a:pt x="49340" y="10192"/>
                      <a:pt x="46958" y="13145"/>
                    </a:cubicBezTo>
                    <a:cubicBezTo>
                      <a:pt x="40577" y="21146"/>
                      <a:pt x="32671" y="27813"/>
                      <a:pt x="25527" y="35147"/>
                    </a:cubicBezTo>
                    <a:cubicBezTo>
                      <a:pt x="20479" y="40291"/>
                      <a:pt x="15431" y="40386"/>
                      <a:pt x="10192" y="35338"/>
                    </a:cubicBezTo>
                    <a:cubicBezTo>
                      <a:pt x="7334" y="32576"/>
                      <a:pt x="3429" y="30099"/>
                      <a:pt x="1905" y="26670"/>
                    </a:cubicBezTo>
                    <a:cubicBezTo>
                      <a:pt x="191" y="22670"/>
                      <a:pt x="572" y="17717"/>
                      <a:pt x="0" y="13240"/>
                    </a:cubicBezTo>
                    <a:cubicBezTo>
                      <a:pt x="4191" y="13621"/>
                      <a:pt x="8573" y="13621"/>
                      <a:pt x="12668" y="14573"/>
                    </a:cubicBezTo>
                    <a:cubicBezTo>
                      <a:pt x="14478" y="15050"/>
                      <a:pt x="15907" y="17240"/>
                      <a:pt x="19145" y="2009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任意多边形: 形状 26">
                <a:extLst>
                  <a:ext uri="{FF2B5EF4-FFF2-40B4-BE49-F238E27FC236}">
                    <a16:creationId xmlns:a16="http://schemas.microsoft.com/office/drawing/2014/main" id="{17D00E43-DA74-52B1-FB8B-628CC223C303}"/>
                  </a:ext>
                </a:extLst>
              </p:cNvPr>
              <p:cNvSpPr/>
              <p:nvPr/>
            </p:nvSpPr>
            <p:spPr>
              <a:xfrm>
                <a:off x="8359095" y="4214699"/>
                <a:ext cx="28056" cy="22434"/>
              </a:xfrm>
              <a:custGeom>
                <a:avLst/>
                <a:gdLst>
                  <a:gd name="connsiteX0" fmla="*/ 18574 w 48768"/>
                  <a:gd name="connsiteY0" fmla="*/ 19907 h 38996"/>
                  <a:gd name="connsiteX1" fmla="*/ 35528 w 48768"/>
                  <a:gd name="connsiteY1" fmla="*/ 1714 h 38996"/>
                  <a:gd name="connsiteX2" fmla="*/ 48768 w 48768"/>
                  <a:gd name="connsiteY2" fmla="*/ 0 h 38996"/>
                  <a:gd name="connsiteX3" fmla="*/ 46482 w 48768"/>
                  <a:gd name="connsiteY3" fmla="*/ 13240 h 38996"/>
                  <a:gd name="connsiteX4" fmla="*/ 24956 w 48768"/>
                  <a:gd name="connsiteY4" fmla="*/ 35242 h 38996"/>
                  <a:gd name="connsiteX5" fmla="*/ 9716 w 48768"/>
                  <a:gd name="connsiteY5" fmla="*/ 34957 h 38996"/>
                  <a:gd name="connsiteX6" fmla="*/ 1429 w 48768"/>
                  <a:gd name="connsiteY6" fmla="*/ 26289 h 38996"/>
                  <a:gd name="connsiteX7" fmla="*/ 0 w 48768"/>
                  <a:gd name="connsiteY7" fmla="*/ 12859 h 38996"/>
                  <a:gd name="connsiteX8" fmla="*/ 12573 w 48768"/>
                  <a:gd name="connsiteY8" fmla="*/ 14668 h 38996"/>
                  <a:gd name="connsiteX9" fmla="*/ 18574 w 48768"/>
                  <a:gd name="connsiteY9" fmla="*/ 19907 h 3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68" h="38996">
                    <a:moveTo>
                      <a:pt x="18574" y="19907"/>
                    </a:moveTo>
                    <a:cubicBezTo>
                      <a:pt x="24479" y="13335"/>
                      <a:pt x="29242" y="6667"/>
                      <a:pt x="35528" y="1714"/>
                    </a:cubicBezTo>
                    <a:cubicBezTo>
                      <a:pt x="38576" y="-667"/>
                      <a:pt x="44291" y="476"/>
                      <a:pt x="48768" y="0"/>
                    </a:cubicBezTo>
                    <a:cubicBezTo>
                      <a:pt x="48101" y="4477"/>
                      <a:pt x="48959" y="10192"/>
                      <a:pt x="46482" y="13240"/>
                    </a:cubicBezTo>
                    <a:cubicBezTo>
                      <a:pt x="40100" y="21241"/>
                      <a:pt x="32195" y="28004"/>
                      <a:pt x="24956" y="35242"/>
                    </a:cubicBezTo>
                    <a:cubicBezTo>
                      <a:pt x="19717" y="40481"/>
                      <a:pt x="14764" y="40100"/>
                      <a:pt x="9716" y="34957"/>
                    </a:cubicBezTo>
                    <a:cubicBezTo>
                      <a:pt x="6953" y="32099"/>
                      <a:pt x="2858" y="29718"/>
                      <a:pt x="1429" y="26289"/>
                    </a:cubicBezTo>
                    <a:cubicBezTo>
                      <a:pt x="-190" y="22288"/>
                      <a:pt x="381" y="17431"/>
                      <a:pt x="0" y="12859"/>
                    </a:cubicBezTo>
                    <a:cubicBezTo>
                      <a:pt x="4191" y="13430"/>
                      <a:pt x="8477" y="13716"/>
                      <a:pt x="12573" y="14668"/>
                    </a:cubicBezTo>
                    <a:cubicBezTo>
                      <a:pt x="14097" y="14954"/>
                      <a:pt x="15335" y="16954"/>
                      <a:pt x="18574" y="1990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任意多边形: 形状 27">
                <a:extLst>
                  <a:ext uri="{FF2B5EF4-FFF2-40B4-BE49-F238E27FC236}">
                    <a16:creationId xmlns:a16="http://schemas.microsoft.com/office/drawing/2014/main" id="{587F5167-251C-7DB3-4D7F-1E3E1A3D61FA}"/>
                  </a:ext>
                </a:extLst>
              </p:cNvPr>
              <p:cNvSpPr/>
              <p:nvPr/>
            </p:nvSpPr>
            <p:spPr>
              <a:xfrm>
                <a:off x="8358985" y="4110839"/>
                <a:ext cx="28275" cy="22244"/>
              </a:xfrm>
              <a:custGeom>
                <a:avLst/>
                <a:gdLst>
                  <a:gd name="connsiteX0" fmla="*/ 19050 w 49149"/>
                  <a:gd name="connsiteY0" fmla="*/ 19848 h 38665"/>
                  <a:gd name="connsiteX1" fmla="*/ 35909 w 49149"/>
                  <a:gd name="connsiteY1" fmla="*/ 1370 h 38665"/>
                  <a:gd name="connsiteX2" fmla="*/ 49149 w 49149"/>
                  <a:gd name="connsiteY2" fmla="*/ 131 h 38665"/>
                  <a:gd name="connsiteX3" fmla="*/ 46958 w 49149"/>
                  <a:gd name="connsiteY3" fmla="*/ 12514 h 38665"/>
                  <a:gd name="connsiteX4" fmla="*/ 25432 w 49149"/>
                  <a:gd name="connsiteY4" fmla="*/ 34612 h 38665"/>
                  <a:gd name="connsiteX5" fmla="*/ 10096 w 49149"/>
                  <a:gd name="connsiteY5" fmla="*/ 34993 h 38665"/>
                  <a:gd name="connsiteX6" fmla="*/ 1810 w 49149"/>
                  <a:gd name="connsiteY6" fmla="*/ 26325 h 38665"/>
                  <a:gd name="connsiteX7" fmla="*/ 0 w 49149"/>
                  <a:gd name="connsiteY7" fmla="*/ 12895 h 38665"/>
                  <a:gd name="connsiteX8" fmla="*/ 12763 w 49149"/>
                  <a:gd name="connsiteY8" fmla="*/ 14324 h 38665"/>
                  <a:gd name="connsiteX9" fmla="*/ 19050 w 49149"/>
                  <a:gd name="connsiteY9" fmla="*/ 19848 h 3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149" h="38665">
                    <a:moveTo>
                      <a:pt x="19050" y="19848"/>
                    </a:moveTo>
                    <a:cubicBezTo>
                      <a:pt x="24955" y="13181"/>
                      <a:pt x="29718" y="6323"/>
                      <a:pt x="35909" y="1370"/>
                    </a:cubicBezTo>
                    <a:cubicBezTo>
                      <a:pt x="38862" y="-916"/>
                      <a:pt x="44672" y="417"/>
                      <a:pt x="49149" y="131"/>
                    </a:cubicBezTo>
                    <a:cubicBezTo>
                      <a:pt x="48482" y="4322"/>
                      <a:pt x="49339" y="9656"/>
                      <a:pt x="46958" y="12514"/>
                    </a:cubicBezTo>
                    <a:cubicBezTo>
                      <a:pt x="40481" y="20420"/>
                      <a:pt x="32576" y="27278"/>
                      <a:pt x="25432" y="34612"/>
                    </a:cubicBezTo>
                    <a:cubicBezTo>
                      <a:pt x="20384" y="39755"/>
                      <a:pt x="15335" y="40136"/>
                      <a:pt x="10096" y="34993"/>
                    </a:cubicBezTo>
                    <a:cubicBezTo>
                      <a:pt x="7239" y="32135"/>
                      <a:pt x="3334" y="29754"/>
                      <a:pt x="1810" y="26325"/>
                    </a:cubicBezTo>
                    <a:cubicBezTo>
                      <a:pt x="95" y="22325"/>
                      <a:pt x="476" y="17372"/>
                      <a:pt x="0" y="12895"/>
                    </a:cubicBezTo>
                    <a:cubicBezTo>
                      <a:pt x="4286" y="13371"/>
                      <a:pt x="8572" y="13466"/>
                      <a:pt x="12763" y="14324"/>
                    </a:cubicBezTo>
                    <a:cubicBezTo>
                      <a:pt x="14288" y="14705"/>
                      <a:pt x="15526" y="16705"/>
                      <a:pt x="19050" y="1984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8" name="文本框 17">
              <a:extLst>
                <a:ext uri="{FF2B5EF4-FFF2-40B4-BE49-F238E27FC236}">
                  <a16:creationId xmlns:a16="http://schemas.microsoft.com/office/drawing/2014/main" id="{1527F81A-EF4E-2453-1E72-087935A7C141}"/>
                </a:ext>
              </a:extLst>
            </p:cNvPr>
            <p:cNvSpPr txBox="1"/>
            <p:nvPr/>
          </p:nvSpPr>
          <p:spPr>
            <a:xfrm>
              <a:off x="3667531" y="2704007"/>
              <a:ext cx="4856939" cy="1526187"/>
            </a:xfrm>
            <a:prstGeom prst="rect">
              <a:avLst/>
            </a:prstGeom>
            <a:noFill/>
          </p:spPr>
          <p:txBody>
            <a:bodyPr wrap="square" rtlCol="0">
              <a:noAutofit/>
            </a:bodyPr>
            <a:lstStyle/>
            <a:p>
              <a:pPr algn="dist">
                <a:lnSpc>
                  <a:spcPct val="150000"/>
                </a:lnSpc>
              </a:pPr>
              <a:r>
                <a:rPr lang="zh-CN" altLang="en-US" sz="1600" b="1" dirty="0">
                  <a:latin typeface="Arial" panose="020B0604020202020204" pitchFamily="34" charset="0"/>
                  <a:ea typeface="微软雅黑" panose="020B0503020204020204" pitchFamily="34" charset="-122"/>
                </a:rPr>
                <a:t>国内前沿聚焦大数据与深度学习融合，近三年国内研究在系统实现、语义挖掘和知识图谱应用上取得显著进展。 </a:t>
              </a:r>
              <a:endParaRPr lang="en-US" sz="1600" b="1" dirty="0">
                <a:latin typeface="Arial" panose="020B0604020202020204" pitchFamily="34" charset="0"/>
                <a:ea typeface="微软雅黑" panose="020B0503020204020204" pitchFamily="34" charset="-122"/>
              </a:endParaRPr>
            </a:p>
          </p:txBody>
        </p:sp>
      </p:grpSp>
    </p:spTree>
    <p:custDataLst>
      <p:tags r:id="rId1"/>
    </p:custDataLst>
    <p:extLst>
      <p:ext uri="{BB962C8B-B14F-4D97-AF65-F5344CB8AC3E}">
        <p14:creationId xmlns:p14="http://schemas.microsoft.com/office/powerpoint/2010/main" val="1078330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68175-3CC6-385F-1E84-19731FAB9D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0592D54-AB56-FD28-013F-FCEAE545B0C0}"/>
              </a:ext>
            </a:extLst>
          </p:cNvPr>
          <p:cNvSpPr>
            <a:spLocks noGrp="1"/>
          </p:cNvSpPr>
          <p:nvPr>
            <p:ph type="title"/>
          </p:nvPr>
        </p:nvSpPr>
        <p:spPr/>
        <p:txBody>
          <a:bodyPr wrap="square">
            <a:normAutofit/>
          </a:bodyPr>
          <a:lstStyle/>
          <a:p>
            <a:pPr lvl="0"/>
            <a:r>
              <a:rPr lang="en-US" dirty="0">
                <a:latin typeface="+mn-ea"/>
                <a:ea typeface="+mn-ea"/>
              </a:rPr>
              <a:t>03.</a:t>
            </a:r>
            <a:r>
              <a:rPr lang="zh-CN" altLang="en-US" dirty="0">
                <a:latin typeface="+mn-ea"/>
                <a:ea typeface="+mn-ea"/>
              </a:rPr>
              <a:t>研究目标与问题</a:t>
            </a:r>
            <a:endParaRPr lang="en-US" dirty="0">
              <a:latin typeface="+mn-ea"/>
              <a:ea typeface="+mn-ea"/>
            </a:endParaRPr>
          </a:p>
        </p:txBody>
      </p:sp>
    </p:spTree>
    <p:custDataLst>
      <p:tags r:id="rId1"/>
    </p:custDataLst>
    <p:extLst>
      <p:ext uri="{BB962C8B-B14F-4D97-AF65-F5344CB8AC3E}">
        <p14:creationId xmlns:p14="http://schemas.microsoft.com/office/powerpoint/2010/main" val="516949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CE32D-9D0B-21A7-E422-F000F674F62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53B167F-9239-522F-84D4-62F7B2BFE9AD}"/>
              </a:ext>
            </a:extLst>
          </p:cNvPr>
          <p:cNvGrpSpPr/>
          <p:nvPr/>
        </p:nvGrpSpPr>
        <p:grpSpPr>
          <a:xfrm>
            <a:off x="514350" y="3430444"/>
            <a:ext cx="3524250" cy="2401937"/>
            <a:chOff x="571500" y="2887712"/>
            <a:chExt cx="3524250" cy="2401937"/>
          </a:xfrm>
        </p:grpSpPr>
        <p:pic>
          <p:nvPicPr>
            <p:cNvPr id="3" name="Google Shape;236;p22" descr="image.png">
              <a:extLst>
                <a:ext uri="{FF2B5EF4-FFF2-40B4-BE49-F238E27FC236}">
                  <a16:creationId xmlns:a16="http://schemas.microsoft.com/office/drawing/2014/main" id="{AFE77BA6-2687-5CEA-51C1-1C3C0DECBBB2}"/>
                </a:ext>
              </a:extLst>
            </p:cNvPr>
            <p:cNvPicPr preferRelativeResize="0"/>
            <p:nvPr/>
          </p:nvPicPr>
          <p:blipFill rotWithShape="1">
            <a:blip r:embed="rId5">
              <a:alphaModFix/>
            </a:blip>
            <a:srcRect/>
            <a:stretch/>
          </p:blipFill>
          <p:spPr>
            <a:xfrm>
              <a:off x="571500" y="2887712"/>
              <a:ext cx="3524250" cy="2401937"/>
            </a:xfrm>
            <a:prstGeom prst="rect">
              <a:avLst/>
            </a:prstGeom>
            <a:noFill/>
            <a:ln>
              <a:noFill/>
            </a:ln>
          </p:spPr>
        </p:pic>
        <p:sp>
          <p:nvSpPr>
            <p:cNvPr id="4" name="Google Shape;240;p22">
              <a:extLst>
                <a:ext uri="{FF2B5EF4-FFF2-40B4-BE49-F238E27FC236}">
                  <a16:creationId xmlns:a16="http://schemas.microsoft.com/office/drawing/2014/main" id="{01C4626A-1641-B08E-7AC5-79D902CD18A0}"/>
                </a:ext>
              </a:extLst>
            </p:cNvPr>
            <p:cNvSpPr txBox="1"/>
            <p:nvPr/>
          </p:nvSpPr>
          <p:spPr>
            <a:xfrm>
              <a:off x="866775" y="3121223"/>
              <a:ext cx="3080385" cy="615553"/>
            </a:xfrm>
            <a:prstGeom prst="rect">
              <a:avLst/>
            </a:prstGeom>
            <a:noFill/>
            <a:ln>
              <a:noFill/>
            </a:ln>
          </p:spPr>
          <p:txBody>
            <a:bodyPr spcFirstLastPara="1" wrap="square" lIns="0" tIns="0" rIns="0" bIns="0" anchor="t" anchorCtr="0">
              <a:spAutoFit/>
            </a:bodyPr>
            <a:lstStyle/>
            <a:p>
              <a:pPr lvl="0" algn="just"/>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01.</a:t>
              </a:r>
              <a:r>
                <a:rPr lang="zh-CN" altLang="en-US" sz="1950" b="1" dirty="0">
                  <a:solidFill>
                    <a:srgbClr val="00F3FF"/>
                  </a:solidFill>
                  <a:latin typeface="Arial" panose="020B0604020202020204" pitchFamily="34" charset="0"/>
                  <a:ea typeface="微软雅黑" panose="020B0503020204020204" pitchFamily="34" charset="-122"/>
                </a:rPr>
                <a:t>大数据预处理与内存优化策略</a:t>
              </a:r>
              <a:endParaRPr sz="1950" b="1" dirty="0">
                <a:solidFill>
                  <a:srgbClr val="00F3FF"/>
                </a:solidFill>
                <a:latin typeface="Arial" panose="020B0604020202020204" pitchFamily="34" charset="0"/>
                <a:ea typeface="微软雅黑" panose="020B0503020204020204" pitchFamily="34" charset="-122"/>
              </a:endParaRPr>
            </a:p>
          </p:txBody>
        </p:sp>
        <p:sp>
          <p:nvSpPr>
            <p:cNvPr id="5" name="Google Shape;241;p22">
              <a:extLst>
                <a:ext uri="{FF2B5EF4-FFF2-40B4-BE49-F238E27FC236}">
                  <a16:creationId xmlns:a16="http://schemas.microsoft.com/office/drawing/2014/main" id="{ABDFCE70-E05F-D133-2359-523785B92866}"/>
                </a:ext>
              </a:extLst>
            </p:cNvPr>
            <p:cNvSpPr txBox="1"/>
            <p:nvPr/>
          </p:nvSpPr>
          <p:spPr>
            <a:xfrm>
              <a:off x="866775" y="3858139"/>
              <a:ext cx="2933700" cy="1181862"/>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bg1"/>
                  </a:solidFill>
                  <a:latin typeface="微软雅黑" panose="020B0503020204020204" pitchFamily="34" charset="-122"/>
                  <a:ea typeface="微软雅黑" panose="020B0503020204020204" pitchFamily="34" charset="-122"/>
                </a:rPr>
                <a:t>在资源受限环境下，研究基于</a:t>
              </a:r>
              <a:r>
                <a:rPr lang="en-US" altLang="zh-CN" sz="1600" b="1" dirty="0">
                  <a:solidFill>
                    <a:schemeClr val="bg1"/>
                  </a:solidFill>
                  <a:latin typeface="微软雅黑" panose="020B0503020204020204" pitchFamily="34" charset="-122"/>
                  <a:ea typeface="微软雅黑" panose="020B0503020204020204" pitchFamily="34" charset="-122"/>
                </a:rPr>
                <a:t>Spark</a:t>
              </a:r>
              <a:r>
                <a:rPr lang="zh-CN" altLang="en-US" sz="1600" b="1" dirty="0">
                  <a:solidFill>
                    <a:schemeClr val="bg1"/>
                  </a:solidFill>
                  <a:latin typeface="微软雅黑" panose="020B0503020204020204" pitchFamily="34" charset="-122"/>
                  <a:ea typeface="微软雅黑" panose="020B0503020204020204" pitchFamily="34" charset="-122"/>
                </a:rPr>
                <a:t>的特征分片，计算与数据类型下采样技术，缓解维数灾难。</a:t>
              </a:r>
              <a:endParaRPr b="1" dirty="0">
                <a:solidFill>
                  <a:schemeClr val="bg1"/>
                </a:solidFill>
                <a:latin typeface="微软雅黑" panose="020B0503020204020204" pitchFamily="34" charset="-122"/>
                <a:ea typeface="微软雅黑" panose="020B0503020204020204" pitchFamily="34" charset="-122"/>
              </a:endParaRPr>
            </a:p>
          </p:txBody>
        </p:sp>
      </p:grpSp>
      <p:grpSp>
        <p:nvGrpSpPr>
          <p:cNvPr id="6" name="组合 5">
            <a:extLst>
              <a:ext uri="{FF2B5EF4-FFF2-40B4-BE49-F238E27FC236}">
                <a16:creationId xmlns:a16="http://schemas.microsoft.com/office/drawing/2014/main" id="{F1C62442-CD36-9688-0D84-89789DCD9141}"/>
              </a:ext>
            </a:extLst>
          </p:cNvPr>
          <p:cNvGrpSpPr/>
          <p:nvPr/>
        </p:nvGrpSpPr>
        <p:grpSpPr>
          <a:xfrm>
            <a:off x="4314825" y="3430444"/>
            <a:ext cx="3524250" cy="2401937"/>
            <a:chOff x="4333875" y="2887712"/>
            <a:chExt cx="3524250" cy="2401937"/>
          </a:xfrm>
        </p:grpSpPr>
        <p:pic>
          <p:nvPicPr>
            <p:cNvPr id="7" name="Google Shape;237;p22" descr="image.png">
              <a:extLst>
                <a:ext uri="{FF2B5EF4-FFF2-40B4-BE49-F238E27FC236}">
                  <a16:creationId xmlns:a16="http://schemas.microsoft.com/office/drawing/2014/main" id="{192ADBB4-FC5F-67E0-DA6B-14C13B8DC8E8}"/>
                </a:ext>
              </a:extLst>
            </p:cNvPr>
            <p:cNvPicPr preferRelativeResize="0"/>
            <p:nvPr/>
          </p:nvPicPr>
          <p:blipFill rotWithShape="1">
            <a:blip r:embed="rId5">
              <a:alphaModFix/>
            </a:blip>
            <a:srcRect/>
            <a:stretch/>
          </p:blipFill>
          <p:spPr>
            <a:xfrm>
              <a:off x="4333875" y="2887712"/>
              <a:ext cx="3524250" cy="2401937"/>
            </a:xfrm>
            <a:prstGeom prst="rect">
              <a:avLst/>
            </a:prstGeom>
            <a:noFill/>
            <a:ln>
              <a:noFill/>
            </a:ln>
          </p:spPr>
        </p:pic>
        <p:sp>
          <p:nvSpPr>
            <p:cNvPr id="8" name="Google Shape;243;p22">
              <a:extLst>
                <a:ext uri="{FF2B5EF4-FFF2-40B4-BE49-F238E27FC236}">
                  <a16:creationId xmlns:a16="http://schemas.microsoft.com/office/drawing/2014/main" id="{D5F4D075-CF61-007B-554A-383055FC418E}"/>
                </a:ext>
              </a:extLst>
            </p:cNvPr>
            <p:cNvSpPr txBox="1"/>
            <p:nvPr/>
          </p:nvSpPr>
          <p:spPr>
            <a:xfrm>
              <a:off x="4629150" y="3125420"/>
              <a:ext cx="3080385" cy="307777"/>
            </a:xfrm>
            <a:prstGeom prst="rect">
              <a:avLst/>
            </a:prstGeom>
            <a:noFill/>
            <a:ln>
              <a:noFill/>
            </a:ln>
          </p:spPr>
          <p:txBody>
            <a:bodyPr spcFirstLastPara="1" wrap="square" lIns="0" tIns="0" rIns="0" bIns="0" anchor="t" anchorCtr="0">
              <a:spAutoFit/>
            </a:bodyPr>
            <a:lstStyle/>
            <a:p>
              <a:pPr lvl="0"/>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02.</a:t>
              </a:r>
              <a:r>
                <a:rPr lang="zh-CN" altLang="en-US" sz="1950" b="1" dirty="0">
                  <a:solidFill>
                    <a:srgbClr val="00F3FF"/>
                  </a:solidFill>
                  <a:latin typeface="Arial" panose="020B0604020202020204" pitchFamily="34" charset="0"/>
                  <a:ea typeface="微软雅黑" panose="020B0503020204020204" pitchFamily="34" charset="-122"/>
                </a:rPr>
                <a:t>混合推荐模型迭代</a:t>
              </a:r>
              <a:endParaRPr dirty="0">
                <a:latin typeface="Arial" panose="020B0604020202020204" pitchFamily="34" charset="0"/>
                <a:ea typeface="微软雅黑" panose="020B0503020204020204" pitchFamily="34" charset="-122"/>
              </a:endParaRPr>
            </a:p>
          </p:txBody>
        </p:sp>
        <p:sp>
          <p:nvSpPr>
            <p:cNvPr id="9" name="Google Shape;244;p22">
              <a:extLst>
                <a:ext uri="{FF2B5EF4-FFF2-40B4-BE49-F238E27FC236}">
                  <a16:creationId xmlns:a16="http://schemas.microsoft.com/office/drawing/2014/main" id="{89717324-BDB2-09F0-5164-C463CB9CE8FE}"/>
                </a:ext>
              </a:extLst>
            </p:cNvPr>
            <p:cNvSpPr txBox="1"/>
            <p:nvPr/>
          </p:nvSpPr>
          <p:spPr>
            <a:xfrm>
              <a:off x="4629150" y="3589684"/>
              <a:ext cx="2933700" cy="1575816"/>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bg1"/>
                  </a:solidFill>
                  <a:latin typeface="微软雅黑" panose="020B0503020204020204" pitchFamily="34" charset="-122"/>
                  <a:ea typeface="微软雅黑" panose="020B0503020204020204" pitchFamily="34" charset="-122"/>
                </a:rPr>
                <a:t>实现基于矩阵分解的初筛与基于</a:t>
              </a:r>
              <a:r>
                <a:rPr lang="en-US" altLang="zh-CN" sz="1600" b="1" dirty="0" err="1">
                  <a:solidFill>
                    <a:schemeClr val="bg1"/>
                  </a:solidFill>
                  <a:latin typeface="微软雅黑" panose="020B0503020204020204" pitchFamily="34" charset="-122"/>
                  <a:ea typeface="微软雅黑" panose="020B0503020204020204" pitchFamily="34" charset="-122"/>
                </a:rPr>
                <a:t>DeepFM</a:t>
              </a:r>
              <a:r>
                <a:rPr lang="zh-CN" altLang="en-US" sz="1600" b="1" dirty="0">
                  <a:solidFill>
                    <a:schemeClr val="bg1"/>
                  </a:solidFill>
                  <a:latin typeface="微软雅黑" panose="020B0503020204020204" pitchFamily="34" charset="-122"/>
                  <a:ea typeface="微软雅黑" panose="020B0503020204020204" pitchFamily="34" charset="-122"/>
                </a:rPr>
                <a:t>的精排。重点研究用 户实时搜索行为对静态画像的动态修正逻辑。</a:t>
              </a:r>
              <a:endParaRPr b="1" dirty="0">
                <a:solidFill>
                  <a:schemeClr val="bg1"/>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41DA2E5C-96AF-1789-73D5-C5DA6565203E}"/>
              </a:ext>
            </a:extLst>
          </p:cNvPr>
          <p:cNvGrpSpPr/>
          <p:nvPr/>
        </p:nvGrpSpPr>
        <p:grpSpPr>
          <a:xfrm>
            <a:off x="8096250" y="3430444"/>
            <a:ext cx="3524250" cy="2401937"/>
            <a:chOff x="8096250" y="2887712"/>
            <a:chExt cx="3524250" cy="2401937"/>
          </a:xfrm>
        </p:grpSpPr>
        <p:pic>
          <p:nvPicPr>
            <p:cNvPr id="11" name="Google Shape;238;p22" descr="image.png">
              <a:extLst>
                <a:ext uri="{FF2B5EF4-FFF2-40B4-BE49-F238E27FC236}">
                  <a16:creationId xmlns:a16="http://schemas.microsoft.com/office/drawing/2014/main" id="{4DAF645E-8A02-2647-955C-E4A9D42EFA4D}"/>
                </a:ext>
              </a:extLst>
            </p:cNvPr>
            <p:cNvPicPr preferRelativeResize="0"/>
            <p:nvPr/>
          </p:nvPicPr>
          <p:blipFill rotWithShape="1">
            <a:blip r:embed="rId5">
              <a:alphaModFix/>
            </a:blip>
            <a:srcRect/>
            <a:stretch/>
          </p:blipFill>
          <p:spPr>
            <a:xfrm>
              <a:off x="8096250" y="2887712"/>
              <a:ext cx="3524250" cy="2401937"/>
            </a:xfrm>
            <a:prstGeom prst="rect">
              <a:avLst/>
            </a:prstGeom>
            <a:noFill/>
            <a:ln>
              <a:noFill/>
            </a:ln>
          </p:spPr>
        </p:pic>
        <p:sp>
          <p:nvSpPr>
            <p:cNvPr id="12" name="Google Shape;246;p22">
              <a:extLst>
                <a:ext uri="{FF2B5EF4-FFF2-40B4-BE49-F238E27FC236}">
                  <a16:creationId xmlns:a16="http://schemas.microsoft.com/office/drawing/2014/main" id="{3BE9EF43-E8C5-19FB-D4EF-D3A4D7DBAD90}"/>
                </a:ext>
              </a:extLst>
            </p:cNvPr>
            <p:cNvSpPr txBox="1"/>
            <p:nvPr/>
          </p:nvSpPr>
          <p:spPr>
            <a:xfrm>
              <a:off x="8391525" y="3128917"/>
              <a:ext cx="3080385"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03. </a:t>
              </a: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动态画像</a:t>
              </a:r>
              <a:r>
                <a:rPr lang="zh-CN" alt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构建</a:t>
              </a:r>
              <a:endParaRPr dirty="0">
                <a:latin typeface="Arial" panose="020B0604020202020204" pitchFamily="34" charset="0"/>
                <a:ea typeface="微软雅黑" panose="020B0503020204020204" pitchFamily="34" charset="-122"/>
              </a:endParaRPr>
            </a:p>
          </p:txBody>
        </p:sp>
        <p:sp>
          <p:nvSpPr>
            <p:cNvPr id="13" name="Google Shape;247;p22">
              <a:extLst>
                <a:ext uri="{FF2B5EF4-FFF2-40B4-BE49-F238E27FC236}">
                  <a16:creationId xmlns:a16="http://schemas.microsoft.com/office/drawing/2014/main" id="{52C78CDB-0E70-D37C-342E-3A1E694662F7}"/>
                </a:ext>
              </a:extLst>
            </p:cNvPr>
            <p:cNvSpPr txBox="1"/>
            <p:nvPr/>
          </p:nvSpPr>
          <p:spPr>
            <a:xfrm>
              <a:off x="8391525" y="3589684"/>
              <a:ext cx="2933700" cy="1600438"/>
            </a:xfrm>
            <a:prstGeom prst="rect">
              <a:avLst/>
            </a:prstGeom>
            <a:noFill/>
            <a:ln>
              <a:noFill/>
            </a:ln>
          </p:spPr>
          <p:txBody>
            <a:bodyPr spcFirstLastPara="1" wrap="square" lIns="0" tIns="0" rIns="0" bIns="0" anchor="t" anchorCtr="0">
              <a:spAutoFit/>
            </a:bodyPr>
            <a:lstStyle/>
            <a:p>
              <a:pPr lvl="0" algn="just">
                <a:lnSpc>
                  <a:spcPct val="130000"/>
                </a:lnSpc>
              </a:pPr>
              <a:r>
                <a:rPr lang="zh-CN" altLang="en-US" sz="1600" b="1" dirty="0">
                  <a:solidFill>
                    <a:schemeClr val="bg1"/>
                  </a:solidFill>
                  <a:latin typeface="微软雅黑" panose="020B0503020204020204" pitchFamily="34" charset="-122"/>
                  <a:ea typeface="微软雅黑" panose="020B0503020204020204" pitchFamily="34" charset="-122"/>
                </a:rPr>
                <a:t>依托流式计算实时分析搜索、播放等行为，通过深度学习构建动态画像；利用在线学习机制捕捉兴趣漂移，实现对用户潜在心理偏好的精准建模与实时修正。</a:t>
              </a:r>
              <a:endParaRPr sz="1600" b="1" dirty="0">
                <a:solidFill>
                  <a:schemeClr val="bg1"/>
                </a:solidFill>
                <a:latin typeface="微软雅黑" panose="020B0503020204020204" pitchFamily="34" charset="-122"/>
                <a:ea typeface="微软雅黑" panose="020B0503020204020204" pitchFamily="34" charset="-122"/>
              </a:endParaRPr>
            </a:p>
          </p:txBody>
        </p:sp>
      </p:grpSp>
      <p:sp>
        <p:nvSpPr>
          <p:cNvPr id="14" name="Google Shape;248;p22">
            <a:extLst>
              <a:ext uri="{FF2B5EF4-FFF2-40B4-BE49-F238E27FC236}">
                <a16:creationId xmlns:a16="http://schemas.microsoft.com/office/drawing/2014/main" id="{F9F45E01-D21D-2F29-FC92-D56FADF33717}"/>
              </a:ext>
            </a:extLst>
          </p:cNvPr>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latin typeface="微软雅黑" panose="020B0503020204020204" pitchFamily="34" charset="-122"/>
                <a:ea typeface="微软雅黑" panose="020B0503020204020204" pitchFamily="34" charset="-122"/>
                <a:cs typeface="Inter"/>
                <a:sym typeface="Inter"/>
              </a:rPr>
              <a:t>核心研究目标</a:t>
            </a:r>
            <a:endParaRPr sz="2850" b="1" spc="1000" dirty="0">
              <a:latin typeface="微软雅黑" panose="020B0503020204020204" pitchFamily="34" charset="-122"/>
              <a:ea typeface="微软雅黑" panose="020B0503020204020204" pitchFamily="34" charset="-122"/>
            </a:endParaRPr>
          </a:p>
        </p:txBody>
      </p:sp>
      <p:sp>
        <p:nvSpPr>
          <p:cNvPr id="15" name="Google Shape;249;p22">
            <a:extLst>
              <a:ext uri="{FF2B5EF4-FFF2-40B4-BE49-F238E27FC236}">
                <a16:creationId xmlns:a16="http://schemas.microsoft.com/office/drawing/2014/main" id="{1D33FBC9-6F28-4BC9-33F6-D520054AD29A}"/>
              </a:ext>
            </a:extLst>
          </p:cNvPr>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6" name="组合 15">
            <a:extLst>
              <a:ext uri="{FF2B5EF4-FFF2-40B4-BE49-F238E27FC236}">
                <a16:creationId xmlns:a16="http://schemas.microsoft.com/office/drawing/2014/main" id="{A610BCBF-CAD1-ABFE-9518-A8B32A636BB9}"/>
              </a:ext>
            </a:extLst>
          </p:cNvPr>
          <p:cNvGrpSpPr/>
          <p:nvPr>
            <p:custDataLst>
              <p:tags r:id="rId2"/>
            </p:custDataLst>
          </p:nvPr>
        </p:nvGrpSpPr>
        <p:grpSpPr>
          <a:xfrm>
            <a:off x="579201" y="1717833"/>
            <a:ext cx="11109798" cy="866954"/>
            <a:chOff x="3434846" y="2339023"/>
            <a:chExt cx="5322309" cy="2179956"/>
          </a:xfrm>
        </p:grpSpPr>
        <p:grpSp>
          <p:nvGrpSpPr>
            <p:cNvPr id="17" name="组合 16">
              <a:extLst>
                <a:ext uri="{FF2B5EF4-FFF2-40B4-BE49-F238E27FC236}">
                  <a16:creationId xmlns:a16="http://schemas.microsoft.com/office/drawing/2014/main" id="{A22DC6B4-CBCC-1AC7-5733-DD6E28219BDB}"/>
                </a:ext>
              </a:extLst>
            </p:cNvPr>
            <p:cNvGrpSpPr/>
            <p:nvPr/>
          </p:nvGrpSpPr>
          <p:grpSpPr>
            <a:xfrm>
              <a:off x="3434846" y="2339023"/>
              <a:ext cx="5322309" cy="2179956"/>
              <a:chOff x="3434846" y="2339023"/>
              <a:chExt cx="5322309" cy="2179956"/>
            </a:xfrm>
          </p:grpSpPr>
          <p:sp>
            <p:nvSpPr>
              <p:cNvPr id="19" name="矩形">
                <a:extLst>
                  <a:ext uri="{FF2B5EF4-FFF2-40B4-BE49-F238E27FC236}">
                    <a16:creationId xmlns:a16="http://schemas.microsoft.com/office/drawing/2014/main" id="{B518D36B-3E71-73D6-1160-AF090606B705}"/>
                  </a:ext>
                </a:extLst>
              </p:cNvPr>
              <p:cNvSpPr/>
              <p:nvPr/>
            </p:nvSpPr>
            <p:spPr bwMode="auto">
              <a:xfrm>
                <a:off x="3435480" y="2339024"/>
                <a:ext cx="5321675" cy="2179955"/>
              </a:xfrm>
              <a:custGeom>
                <a:avLst/>
                <a:gdLst>
                  <a:gd name="T0" fmla="*/ 3125 w 3125"/>
                  <a:gd name="T1" fmla="*/ 1280 h 1280"/>
                  <a:gd name="T2" fmla="*/ 0 w 3125"/>
                  <a:gd name="T3" fmla="*/ 1280 h 1280"/>
                  <a:gd name="T4" fmla="*/ 0 w 3125"/>
                  <a:gd name="T5" fmla="*/ 123 h 1280"/>
                  <a:gd name="T6" fmla="*/ 9 w 3125"/>
                  <a:gd name="T7" fmla="*/ 123 h 1280"/>
                  <a:gd name="T8" fmla="*/ 9 w 3125"/>
                  <a:gd name="T9" fmla="*/ 1272 h 1280"/>
                  <a:gd name="T10" fmla="*/ 3115 w 3125"/>
                  <a:gd name="T11" fmla="*/ 1272 h 1280"/>
                  <a:gd name="T12" fmla="*/ 3115 w 3125"/>
                  <a:gd name="T13" fmla="*/ 9 h 1280"/>
                  <a:gd name="T14" fmla="*/ 123 w 3125"/>
                  <a:gd name="T15" fmla="*/ 9 h 1280"/>
                  <a:gd name="T16" fmla="*/ 123 w 3125"/>
                  <a:gd name="T17" fmla="*/ 0 h 1280"/>
                  <a:gd name="T18" fmla="*/ 3125 w 3125"/>
                  <a:gd name="T19" fmla="*/ 0 h 1280"/>
                  <a:gd name="T20" fmla="*/ 3125 w 3125"/>
                  <a:gd name="T21" fmla="*/ 1280 h 1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5" h="1280">
                    <a:moveTo>
                      <a:pt x="3125" y="1280"/>
                    </a:moveTo>
                    <a:lnTo>
                      <a:pt x="0" y="1280"/>
                    </a:lnTo>
                    <a:lnTo>
                      <a:pt x="0" y="123"/>
                    </a:lnTo>
                    <a:lnTo>
                      <a:pt x="9" y="123"/>
                    </a:lnTo>
                    <a:lnTo>
                      <a:pt x="9" y="1272"/>
                    </a:lnTo>
                    <a:lnTo>
                      <a:pt x="3115" y="1272"/>
                    </a:lnTo>
                    <a:lnTo>
                      <a:pt x="3115" y="9"/>
                    </a:lnTo>
                    <a:lnTo>
                      <a:pt x="123" y="9"/>
                    </a:lnTo>
                    <a:lnTo>
                      <a:pt x="123" y="0"/>
                    </a:lnTo>
                    <a:lnTo>
                      <a:pt x="3125" y="0"/>
                    </a:lnTo>
                    <a:lnTo>
                      <a:pt x="3125" y="128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20" name="矩形 226">
                <a:extLst>
                  <a:ext uri="{FF2B5EF4-FFF2-40B4-BE49-F238E27FC236}">
                    <a16:creationId xmlns:a16="http://schemas.microsoft.com/office/drawing/2014/main" id="{290D7576-96E2-D16A-05CC-87FC622CE1B7}"/>
                  </a:ext>
                </a:extLst>
              </p:cNvPr>
              <p:cNvSpPr/>
              <p:nvPr/>
            </p:nvSpPr>
            <p:spPr>
              <a:xfrm>
                <a:off x="3530600" y="2422524"/>
                <a:ext cx="5129782" cy="2011895"/>
              </a:xfrm>
              <a:custGeom>
                <a:avLst/>
                <a:gdLst>
                  <a:gd name="connsiteX0" fmla="*/ 0 w 5128129"/>
                  <a:gd name="connsiteY0" fmla="*/ 0 h 2010840"/>
                  <a:gd name="connsiteX1" fmla="*/ 5128129 w 5128129"/>
                  <a:gd name="connsiteY1" fmla="*/ 0 h 2010840"/>
                  <a:gd name="connsiteX2" fmla="*/ 5128129 w 5128129"/>
                  <a:gd name="connsiteY2" fmla="*/ 2010840 h 2010840"/>
                  <a:gd name="connsiteX3" fmla="*/ 0 w 5128129"/>
                  <a:gd name="connsiteY3" fmla="*/ 2010840 h 2010840"/>
                  <a:gd name="connsiteX4" fmla="*/ 0 w 5128129"/>
                  <a:gd name="connsiteY4" fmla="*/ 0 h 2010840"/>
                  <a:gd name="connsiteX0-1" fmla="*/ 1653 w 5129782"/>
                  <a:gd name="connsiteY0-2" fmla="*/ 0 h 2010840"/>
                  <a:gd name="connsiteX1-3" fmla="*/ 5129782 w 5129782"/>
                  <a:gd name="connsiteY1-4" fmla="*/ 0 h 2010840"/>
                  <a:gd name="connsiteX2-5" fmla="*/ 5129782 w 5129782"/>
                  <a:gd name="connsiteY2-6" fmla="*/ 2010840 h 2010840"/>
                  <a:gd name="connsiteX3-7" fmla="*/ 1653 w 5129782"/>
                  <a:gd name="connsiteY3-8" fmla="*/ 2010840 h 2010840"/>
                  <a:gd name="connsiteX4-9" fmla="*/ 0 w 5129782"/>
                  <a:gd name="connsiteY4-10" fmla="*/ 71970 h 2010840"/>
                  <a:gd name="connsiteX5" fmla="*/ 1653 w 5129782"/>
                  <a:gd name="connsiteY5" fmla="*/ 0 h 2010840"/>
                  <a:gd name="connsiteX0-11" fmla="*/ 1653 w 5129782"/>
                  <a:gd name="connsiteY0-12" fmla="*/ 1055 h 2011895"/>
                  <a:gd name="connsiteX1-13" fmla="*/ 79375 w 5129782"/>
                  <a:gd name="connsiteY1-14" fmla="*/ 0 h 2011895"/>
                  <a:gd name="connsiteX2-15" fmla="*/ 5129782 w 5129782"/>
                  <a:gd name="connsiteY2-16" fmla="*/ 1055 h 2011895"/>
                  <a:gd name="connsiteX3-17" fmla="*/ 5129782 w 5129782"/>
                  <a:gd name="connsiteY3-18" fmla="*/ 2011895 h 2011895"/>
                  <a:gd name="connsiteX4-19" fmla="*/ 1653 w 5129782"/>
                  <a:gd name="connsiteY4-20" fmla="*/ 2011895 h 2011895"/>
                  <a:gd name="connsiteX5-21" fmla="*/ 0 w 5129782"/>
                  <a:gd name="connsiteY5-22" fmla="*/ 73025 h 2011895"/>
                  <a:gd name="connsiteX6" fmla="*/ 1653 w 5129782"/>
                  <a:gd name="connsiteY6" fmla="*/ 1055 h 2011895"/>
                  <a:gd name="connsiteX0-23" fmla="*/ 52453 w 5129782"/>
                  <a:gd name="connsiteY0-24" fmla="*/ 35980 h 2011895"/>
                  <a:gd name="connsiteX1-25" fmla="*/ 79375 w 5129782"/>
                  <a:gd name="connsiteY1-26" fmla="*/ 0 h 2011895"/>
                  <a:gd name="connsiteX2-27" fmla="*/ 5129782 w 5129782"/>
                  <a:gd name="connsiteY2-28" fmla="*/ 1055 h 2011895"/>
                  <a:gd name="connsiteX3-29" fmla="*/ 5129782 w 5129782"/>
                  <a:gd name="connsiteY3-30" fmla="*/ 2011895 h 2011895"/>
                  <a:gd name="connsiteX4-31" fmla="*/ 1653 w 5129782"/>
                  <a:gd name="connsiteY4-32" fmla="*/ 2011895 h 2011895"/>
                  <a:gd name="connsiteX5-33" fmla="*/ 0 w 5129782"/>
                  <a:gd name="connsiteY5-34" fmla="*/ 73025 h 2011895"/>
                  <a:gd name="connsiteX6-35" fmla="*/ 52453 w 5129782"/>
                  <a:gd name="connsiteY6-36" fmla="*/ 35980 h 20118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5129782" h="2011895">
                    <a:moveTo>
                      <a:pt x="52453" y="35980"/>
                    </a:moveTo>
                    <a:lnTo>
                      <a:pt x="79375" y="0"/>
                    </a:lnTo>
                    <a:lnTo>
                      <a:pt x="5129782" y="1055"/>
                    </a:lnTo>
                    <a:lnTo>
                      <a:pt x="5129782" y="2011895"/>
                    </a:lnTo>
                    <a:lnTo>
                      <a:pt x="1653" y="2011895"/>
                    </a:lnTo>
                    <a:lnTo>
                      <a:pt x="0" y="73025"/>
                    </a:lnTo>
                    <a:lnTo>
                      <a:pt x="52453" y="35980"/>
                    </a:lnTo>
                    <a:close/>
                  </a:path>
                </a:pathLst>
              </a:custGeom>
              <a:noFill/>
              <a:ln w="15875">
                <a:gradFill>
                  <a:gsLst>
                    <a:gs pos="0">
                      <a:srgbClr val="1865F1"/>
                    </a:gs>
                    <a:gs pos="100000">
                      <a:srgbClr val="3B7DF3"/>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三角形">
                <a:extLst>
                  <a:ext uri="{FF2B5EF4-FFF2-40B4-BE49-F238E27FC236}">
                    <a16:creationId xmlns:a16="http://schemas.microsoft.com/office/drawing/2014/main" id="{AE6B6263-90BE-6DC8-9BC9-85ECEBA744D2}"/>
                  </a:ext>
                </a:extLst>
              </p:cNvPr>
              <p:cNvSpPr/>
              <p:nvPr/>
            </p:nvSpPr>
            <p:spPr bwMode="auto">
              <a:xfrm>
                <a:off x="3434846" y="2339023"/>
                <a:ext cx="209550" cy="209550"/>
              </a:xfrm>
              <a:custGeom>
                <a:avLst/>
                <a:gdLst>
                  <a:gd name="T0" fmla="*/ 118 w 118"/>
                  <a:gd name="T1" fmla="*/ 0 h 118"/>
                  <a:gd name="T2" fmla="*/ 118 w 118"/>
                  <a:gd name="T3" fmla="*/ 118 h 118"/>
                  <a:gd name="T4" fmla="*/ 0 w 118"/>
                  <a:gd name="T5" fmla="*/ 118 h 118"/>
                  <a:gd name="T6" fmla="*/ 118 w 118"/>
                  <a:gd name="T7" fmla="*/ 0 h 118"/>
                </a:gdLst>
                <a:ahLst/>
                <a:cxnLst>
                  <a:cxn ang="0">
                    <a:pos x="T0" y="T1"/>
                  </a:cxn>
                  <a:cxn ang="0">
                    <a:pos x="T2" y="T3"/>
                  </a:cxn>
                  <a:cxn ang="0">
                    <a:pos x="T4" y="T5"/>
                  </a:cxn>
                  <a:cxn ang="0">
                    <a:pos x="T6" y="T7"/>
                  </a:cxn>
                </a:cxnLst>
                <a:rect l="0" t="0" r="r" b="b"/>
                <a:pathLst>
                  <a:path w="118" h="118">
                    <a:moveTo>
                      <a:pt x="118" y="0"/>
                    </a:moveTo>
                    <a:lnTo>
                      <a:pt x="118" y="118"/>
                    </a:lnTo>
                    <a:lnTo>
                      <a:pt x="0" y="118"/>
                    </a:lnTo>
                    <a:lnTo>
                      <a:pt x="118" y="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ym typeface="+mn-ea"/>
                </a:endParaRPr>
              </a:p>
            </p:txBody>
          </p:sp>
          <p:sp>
            <p:nvSpPr>
              <p:cNvPr id="22" name="任意多边形: 形状 21">
                <a:extLst>
                  <a:ext uri="{FF2B5EF4-FFF2-40B4-BE49-F238E27FC236}">
                    <a16:creationId xmlns:a16="http://schemas.microsoft.com/office/drawing/2014/main" id="{81F8D301-A746-5E3C-C044-8A45003845D7}"/>
                  </a:ext>
                </a:extLst>
              </p:cNvPr>
              <p:cNvSpPr/>
              <p:nvPr/>
            </p:nvSpPr>
            <p:spPr>
              <a:xfrm>
                <a:off x="8178432" y="4117789"/>
                <a:ext cx="326296" cy="316629"/>
              </a:xfrm>
              <a:custGeom>
                <a:avLst/>
                <a:gdLst>
                  <a:gd name="connsiteX0" fmla="*/ 190 w 567187"/>
                  <a:gd name="connsiteY0" fmla="*/ 426581 h 550382"/>
                  <a:gd name="connsiteX1" fmla="*/ 30099 w 567187"/>
                  <a:gd name="connsiteY1" fmla="*/ 411532 h 550382"/>
                  <a:gd name="connsiteX2" fmla="*/ 30099 w 567187"/>
                  <a:gd name="connsiteY2" fmla="*/ 372956 h 550382"/>
                  <a:gd name="connsiteX3" fmla="*/ 30956 w 567187"/>
                  <a:gd name="connsiteY3" fmla="*/ 311043 h 550382"/>
                  <a:gd name="connsiteX4" fmla="*/ 72104 w 567187"/>
                  <a:gd name="connsiteY4" fmla="*/ 256084 h 550382"/>
                  <a:gd name="connsiteX5" fmla="*/ 142113 w 567187"/>
                  <a:gd name="connsiteY5" fmla="*/ 228842 h 550382"/>
                  <a:gd name="connsiteX6" fmla="*/ 147733 w 567187"/>
                  <a:gd name="connsiteY6" fmla="*/ 205315 h 550382"/>
                  <a:gd name="connsiteX7" fmla="*/ 125920 w 567187"/>
                  <a:gd name="connsiteY7" fmla="*/ 168930 h 550382"/>
                  <a:gd name="connsiteX8" fmla="*/ 119063 w 567187"/>
                  <a:gd name="connsiteY8" fmla="*/ 163120 h 550382"/>
                  <a:gd name="connsiteX9" fmla="*/ 101155 w 567187"/>
                  <a:gd name="connsiteY9" fmla="*/ 117495 h 550382"/>
                  <a:gd name="connsiteX10" fmla="*/ 103822 w 567187"/>
                  <a:gd name="connsiteY10" fmla="*/ 92730 h 550382"/>
                  <a:gd name="connsiteX11" fmla="*/ 126873 w 567187"/>
                  <a:gd name="connsiteY11" fmla="*/ 28722 h 550382"/>
                  <a:gd name="connsiteX12" fmla="*/ 220789 w 567187"/>
                  <a:gd name="connsiteY12" fmla="*/ 4624 h 550382"/>
                  <a:gd name="connsiteX13" fmla="*/ 279273 w 567187"/>
                  <a:gd name="connsiteY13" fmla="*/ 78252 h 550382"/>
                  <a:gd name="connsiteX14" fmla="*/ 280701 w 567187"/>
                  <a:gd name="connsiteY14" fmla="*/ 104732 h 550382"/>
                  <a:gd name="connsiteX15" fmla="*/ 284321 w 567187"/>
                  <a:gd name="connsiteY15" fmla="*/ 119400 h 550382"/>
                  <a:gd name="connsiteX16" fmla="*/ 266509 w 567187"/>
                  <a:gd name="connsiteY16" fmla="*/ 162929 h 550382"/>
                  <a:gd name="connsiteX17" fmla="*/ 257556 w 567187"/>
                  <a:gd name="connsiteY17" fmla="*/ 171978 h 550382"/>
                  <a:gd name="connsiteX18" fmla="*/ 241173 w 567187"/>
                  <a:gd name="connsiteY18" fmla="*/ 200267 h 550382"/>
                  <a:gd name="connsiteX19" fmla="*/ 247174 w 567187"/>
                  <a:gd name="connsiteY19" fmla="*/ 229985 h 550382"/>
                  <a:gd name="connsiteX20" fmla="*/ 271843 w 567187"/>
                  <a:gd name="connsiteY20" fmla="*/ 239701 h 550382"/>
                  <a:gd name="connsiteX21" fmla="*/ 350901 w 567187"/>
                  <a:gd name="connsiteY21" fmla="*/ 255512 h 550382"/>
                  <a:gd name="connsiteX22" fmla="*/ 363379 w 567187"/>
                  <a:gd name="connsiteY22" fmla="*/ 263894 h 550382"/>
                  <a:gd name="connsiteX23" fmla="*/ 351187 w 567187"/>
                  <a:gd name="connsiteY23" fmla="*/ 271705 h 550382"/>
                  <a:gd name="connsiteX24" fmla="*/ 292798 w 567187"/>
                  <a:gd name="connsiteY24" fmla="*/ 271705 h 550382"/>
                  <a:gd name="connsiteX25" fmla="*/ 292798 w 567187"/>
                  <a:gd name="connsiteY25" fmla="*/ 293327 h 550382"/>
                  <a:gd name="connsiteX26" fmla="*/ 457771 w 567187"/>
                  <a:gd name="connsiteY26" fmla="*/ 293327 h 550382"/>
                  <a:gd name="connsiteX27" fmla="*/ 457771 w 567187"/>
                  <a:gd name="connsiteY27" fmla="*/ 271705 h 550382"/>
                  <a:gd name="connsiteX28" fmla="*/ 405098 w 567187"/>
                  <a:gd name="connsiteY28" fmla="*/ 271705 h 550382"/>
                  <a:gd name="connsiteX29" fmla="*/ 395288 w 567187"/>
                  <a:gd name="connsiteY29" fmla="*/ 271419 h 550382"/>
                  <a:gd name="connsiteX30" fmla="*/ 386429 w 567187"/>
                  <a:gd name="connsiteY30" fmla="*/ 263513 h 550382"/>
                  <a:gd name="connsiteX31" fmla="*/ 395383 w 567187"/>
                  <a:gd name="connsiteY31" fmla="*/ 255893 h 550382"/>
                  <a:gd name="connsiteX32" fmla="*/ 428530 w 567187"/>
                  <a:gd name="connsiteY32" fmla="*/ 255417 h 550382"/>
                  <a:gd name="connsiteX33" fmla="*/ 460629 w 567187"/>
                  <a:gd name="connsiteY33" fmla="*/ 255512 h 550382"/>
                  <a:gd name="connsiteX34" fmla="*/ 474916 w 567187"/>
                  <a:gd name="connsiteY34" fmla="*/ 268943 h 550382"/>
                  <a:gd name="connsiteX35" fmla="*/ 474821 w 567187"/>
                  <a:gd name="connsiteY35" fmla="*/ 297708 h 550382"/>
                  <a:gd name="connsiteX36" fmla="*/ 471201 w 567187"/>
                  <a:gd name="connsiteY36" fmla="*/ 306661 h 550382"/>
                  <a:gd name="connsiteX37" fmla="*/ 470916 w 567187"/>
                  <a:gd name="connsiteY37" fmla="*/ 337713 h 550382"/>
                  <a:gd name="connsiteX38" fmla="*/ 474916 w 567187"/>
                  <a:gd name="connsiteY38" fmla="*/ 348762 h 550382"/>
                  <a:gd name="connsiteX39" fmla="*/ 474916 w 567187"/>
                  <a:gd name="connsiteY39" fmla="*/ 374194 h 550382"/>
                  <a:gd name="connsiteX40" fmla="*/ 471488 w 567187"/>
                  <a:gd name="connsiteY40" fmla="*/ 384195 h 550382"/>
                  <a:gd name="connsiteX41" fmla="*/ 464058 w 567187"/>
                  <a:gd name="connsiteY41" fmla="*/ 411532 h 550382"/>
                  <a:gd name="connsiteX42" fmla="*/ 538067 w 567187"/>
                  <a:gd name="connsiteY42" fmla="*/ 411532 h 550382"/>
                  <a:gd name="connsiteX43" fmla="*/ 566928 w 567187"/>
                  <a:gd name="connsiteY43" fmla="*/ 442393 h 550382"/>
                  <a:gd name="connsiteX44" fmla="*/ 549211 w 567187"/>
                  <a:gd name="connsiteY44" fmla="*/ 462681 h 550382"/>
                  <a:gd name="connsiteX45" fmla="*/ 549021 w 567187"/>
                  <a:gd name="connsiteY45" fmla="*/ 473920 h 550382"/>
                  <a:gd name="connsiteX46" fmla="*/ 541210 w 567187"/>
                  <a:gd name="connsiteY46" fmla="*/ 485732 h 550382"/>
                  <a:gd name="connsiteX47" fmla="*/ 532733 w 567187"/>
                  <a:gd name="connsiteY47" fmla="*/ 474682 h 550382"/>
                  <a:gd name="connsiteX48" fmla="*/ 532733 w 567187"/>
                  <a:gd name="connsiteY48" fmla="*/ 462586 h 550382"/>
                  <a:gd name="connsiteX49" fmla="*/ 34576 w 567187"/>
                  <a:gd name="connsiteY49" fmla="*/ 462586 h 550382"/>
                  <a:gd name="connsiteX50" fmla="*/ 34957 w 567187"/>
                  <a:gd name="connsiteY50" fmla="*/ 525927 h 550382"/>
                  <a:gd name="connsiteX51" fmla="*/ 42576 w 567187"/>
                  <a:gd name="connsiteY51" fmla="*/ 532976 h 550382"/>
                  <a:gd name="connsiteX52" fmla="*/ 52388 w 567187"/>
                  <a:gd name="connsiteY52" fmla="*/ 533261 h 550382"/>
                  <a:gd name="connsiteX53" fmla="*/ 515017 w 567187"/>
                  <a:gd name="connsiteY53" fmla="*/ 533261 h 550382"/>
                  <a:gd name="connsiteX54" fmla="*/ 533114 w 567187"/>
                  <a:gd name="connsiteY54" fmla="*/ 518116 h 550382"/>
                  <a:gd name="connsiteX55" fmla="*/ 540830 w 567187"/>
                  <a:gd name="connsiteY55" fmla="*/ 509163 h 550382"/>
                  <a:gd name="connsiteX56" fmla="*/ 548735 w 567187"/>
                  <a:gd name="connsiteY56" fmla="*/ 517926 h 550382"/>
                  <a:gd name="connsiteX57" fmla="*/ 521684 w 567187"/>
                  <a:gd name="connsiteY57" fmla="*/ 550311 h 550382"/>
                  <a:gd name="connsiteX58" fmla="*/ 44672 w 567187"/>
                  <a:gd name="connsiteY58" fmla="*/ 550311 h 550382"/>
                  <a:gd name="connsiteX59" fmla="*/ 17716 w 567187"/>
                  <a:gd name="connsiteY59" fmla="*/ 522974 h 550382"/>
                  <a:gd name="connsiteX60" fmla="*/ 17716 w 567187"/>
                  <a:gd name="connsiteY60" fmla="*/ 465729 h 550382"/>
                  <a:gd name="connsiteX61" fmla="*/ 0 w 567187"/>
                  <a:gd name="connsiteY61" fmla="*/ 448870 h 550382"/>
                  <a:gd name="connsiteX62" fmla="*/ 190 w 567187"/>
                  <a:gd name="connsiteY62" fmla="*/ 426581 h 550382"/>
                  <a:gd name="connsiteX63" fmla="*/ 159353 w 567187"/>
                  <a:gd name="connsiteY63" fmla="*/ 411056 h 550382"/>
                  <a:gd name="connsiteX64" fmla="*/ 170497 w 567187"/>
                  <a:gd name="connsiteY64" fmla="*/ 316568 h 550382"/>
                  <a:gd name="connsiteX65" fmla="*/ 169259 w 567187"/>
                  <a:gd name="connsiteY65" fmla="*/ 301994 h 550382"/>
                  <a:gd name="connsiteX66" fmla="*/ 141065 w 567187"/>
                  <a:gd name="connsiteY66" fmla="*/ 289040 h 550382"/>
                  <a:gd name="connsiteX67" fmla="*/ 123253 w 567187"/>
                  <a:gd name="connsiteY67" fmla="*/ 253798 h 550382"/>
                  <a:gd name="connsiteX68" fmla="*/ 71914 w 567187"/>
                  <a:gd name="connsiteY68" fmla="*/ 274467 h 550382"/>
                  <a:gd name="connsiteX69" fmla="*/ 47530 w 567187"/>
                  <a:gd name="connsiteY69" fmla="*/ 309043 h 550382"/>
                  <a:gd name="connsiteX70" fmla="*/ 47244 w 567187"/>
                  <a:gd name="connsiteY70" fmla="*/ 410865 h 550382"/>
                  <a:gd name="connsiteX71" fmla="*/ 85820 w 567187"/>
                  <a:gd name="connsiteY71" fmla="*/ 410865 h 550382"/>
                  <a:gd name="connsiteX72" fmla="*/ 85820 w 567187"/>
                  <a:gd name="connsiteY72" fmla="*/ 399340 h 550382"/>
                  <a:gd name="connsiteX73" fmla="*/ 85915 w 567187"/>
                  <a:gd name="connsiteY73" fmla="*/ 337427 h 550382"/>
                  <a:gd name="connsiteX74" fmla="*/ 93821 w 567187"/>
                  <a:gd name="connsiteY74" fmla="*/ 320949 h 550382"/>
                  <a:gd name="connsiteX75" fmla="*/ 102203 w 567187"/>
                  <a:gd name="connsiteY75" fmla="*/ 336856 h 550382"/>
                  <a:gd name="connsiteX76" fmla="*/ 102203 w 567187"/>
                  <a:gd name="connsiteY76" fmla="*/ 360097 h 550382"/>
                  <a:gd name="connsiteX77" fmla="*/ 102203 w 567187"/>
                  <a:gd name="connsiteY77" fmla="*/ 410960 h 550382"/>
                  <a:gd name="connsiteX78" fmla="*/ 159353 w 567187"/>
                  <a:gd name="connsiteY78" fmla="*/ 411056 h 550382"/>
                  <a:gd name="connsiteX79" fmla="*/ 141065 w 567187"/>
                  <a:gd name="connsiteY79" fmla="*/ 113018 h 550382"/>
                  <a:gd name="connsiteX80" fmla="*/ 141160 w 567187"/>
                  <a:gd name="connsiteY80" fmla="*/ 154643 h 550382"/>
                  <a:gd name="connsiteX81" fmla="*/ 194215 w 567187"/>
                  <a:gd name="connsiteY81" fmla="*/ 205030 h 550382"/>
                  <a:gd name="connsiteX82" fmla="*/ 243554 w 567187"/>
                  <a:gd name="connsiteY82" fmla="*/ 153023 h 550382"/>
                  <a:gd name="connsiteX83" fmla="*/ 243935 w 567187"/>
                  <a:gd name="connsiteY83" fmla="*/ 114447 h 550382"/>
                  <a:gd name="connsiteX84" fmla="*/ 228886 w 567187"/>
                  <a:gd name="connsiteY84" fmla="*/ 89491 h 550382"/>
                  <a:gd name="connsiteX85" fmla="*/ 212598 w 567187"/>
                  <a:gd name="connsiteY85" fmla="*/ 94254 h 550382"/>
                  <a:gd name="connsiteX86" fmla="*/ 200406 w 567187"/>
                  <a:gd name="connsiteY86" fmla="*/ 99302 h 550382"/>
                  <a:gd name="connsiteX87" fmla="*/ 141065 w 567187"/>
                  <a:gd name="connsiteY87" fmla="*/ 113018 h 550382"/>
                  <a:gd name="connsiteX88" fmla="*/ 18002 w 567187"/>
                  <a:gd name="connsiteY88" fmla="*/ 429058 h 550382"/>
                  <a:gd name="connsiteX89" fmla="*/ 30099 w 567187"/>
                  <a:gd name="connsiteY89" fmla="*/ 445727 h 550382"/>
                  <a:gd name="connsiteX90" fmla="*/ 537019 w 567187"/>
                  <a:gd name="connsiteY90" fmla="*/ 445727 h 550382"/>
                  <a:gd name="connsiteX91" fmla="*/ 548259 w 567187"/>
                  <a:gd name="connsiteY91" fmla="*/ 429058 h 550382"/>
                  <a:gd name="connsiteX92" fmla="*/ 18002 w 567187"/>
                  <a:gd name="connsiteY92" fmla="*/ 429058 h 550382"/>
                  <a:gd name="connsiteX93" fmla="*/ 262414 w 567187"/>
                  <a:gd name="connsiteY93" fmla="*/ 101112 h 550382"/>
                  <a:gd name="connsiteX94" fmla="*/ 228695 w 567187"/>
                  <a:gd name="connsiteY94" fmla="*/ 26341 h 550382"/>
                  <a:gd name="connsiteX95" fmla="*/ 143637 w 567187"/>
                  <a:gd name="connsiteY95" fmla="*/ 35294 h 550382"/>
                  <a:gd name="connsiteX96" fmla="*/ 122110 w 567187"/>
                  <a:gd name="connsiteY96" fmla="*/ 101302 h 550382"/>
                  <a:gd name="connsiteX97" fmla="*/ 140113 w 567187"/>
                  <a:gd name="connsiteY97" fmla="*/ 93206 h 550382"/>
                  <a:gd name="connsiteX98" fmla="*/ 218980 w 567187"/>
                  <a:gd name="connsiteY98" fmla="*/ 71870 h 550382"/>
                  <a:gd name="connsiteX99" fmla="*/ 238887 w 567187"/>
                  <a:gd name="connsiteY99" fmla="*/ 74823 h 550382"/>
                  <a:gd name="connsiteX100" fmla="*/ 262414 w 567187"/>
                  <a:gd name="connsiteY100" fmla="*/ 101112 h 550382"/>
                  <a:gd name="connsiteX101" fmla="*/ 215551 w 567187"/>
                  <a:gd name="connsiteY101" fmla="*/ 301328 h 550382"/>
                  <a:gd name="connsiteX102" fmla="*/ 226314 w 567187"/>
                  <a:gd name="connsiteY102" fmla="*/ 410674 h 550382"/>
                  <a:gd name="connsiteX103" fmla="*/ 263080 w 567187"/>
                  <a:gd name="connsiteY103" fmla="*/ 410674 h 550382"/>
                  <a:gd name="connsiteX104" fmla="*/ 274415 w 567187"/>
                  <a:gd name="connsiteY104" fmla="*/ 371241 h 550382"/>
                  <a:gd name="connsiteX105" fmla="*/ 274796 w 567187"/>
                  <a:gd name="connsiteY105" fmla="*/ 366955 h 550382"/>
                  <a:gd name="connsiteX106" fmla="*/ 266795 w 567187"/>
                  <a:gd name="connsiteY106" fmla="*/ 343904 h 550382"/>
                  <a:gd name="connsiteX107" fmla="*/ 272224 w 567187"/>
                  <a:gd name="connsiteY107" fmla="*/ 295327 h 550382"/>
                  <a:gd name="connsiteX108" fmla="*/ 274701 w 567187"/>
                  <a:gd name="connsiteY108" fmla="*/ 287611 h 550382"/>
                  <a:gd name="connsiteX109" fmla="*/ 274796 w 567187"/>
                  <a:gd name="connsiteY109" fmla="*/ 258656 h 550382"/>
                  <a:gd name="connsiteX110" fmla="*/ 262223 w 567187"/>
                  <a:gd name="connsiteY110" fmla="*/ 254083 h 550382"/>
                  <a:gd name="connsiteX111" fmla="*/ 243649 w 567187"/>
                  <a:gd name="connsiteY111" fmla="*/ 291040 h 550382"/>
                  <a:gd name="connsiteX112" fmla="*/ 215551 w 567187"/>
                  <a:gd name="connsiteY112" fmla="*/ 301328 h 550382"/>
                  <a:gd name="connsiteX113" fmla="*/ 281083 w 567187"/>
                  <a:gd name="connsiteY113" fmla="*/ 333046 h 550382"/>
                  <a:gd name="connsiteX114" fmla="*/ 446722 w 567187"/>
                  <a:gd name="connsiteY114" fmla="*/ 333046 h 550382"/>
                  <a:gd name="connsiteX115" fmla="*/ 446722 w 567187"/>
                  <a:gd name="connsiteY115" fmla="*/ 311805 h 550382"/>
                  <a:gd name="connsiteX116" fmla="*/ 281083 w 567187"/>
                  <a:gd name="connsiteY116" fmla="*/ 311805 h 550382"/>
                  <a:gd name="connsiteX117" fmla="*/ 281083 w 567187"/>
                  <a:gd name="connsiteY117" fmla="*/ 333046 h 550382"/>
                  <a:gd name="connsiteX118" fmla="*/ 292227 w 567187"/>
                  <a:gd name="connsiteY118" fmla="*/ 372098 h 550382"/>
                  <a:gd name="connsiteX119" fmla="*/ 457676 w 567187"/>
                  <a:gd name="connsiteY119" fmla="*/ 372098 h 550382"/>
                  <a:gd name="connsiteX120" fmla="*/ 457676 w 567187"/>
                  <a:gd name="connsiteY120" fmla="*/ 351048 h 550382"/>
                  <a:gd name="connsiteX121" fmla="*/ 292227 w 567187"/>
                  <a:gd name="connsiteY121" fmla="*/ 351048 h 550382"/>
                  <a:gd name="connsiteX122" fmla="*/ 292227 w 567187"/>
                  <a:gd name="connsiteY122" fmla="*/ 372098 h 550382"/>
                  <a:gd name="connsiteX123" fmla="*/ 446818 w 567187"/>
                  <a:gd name="connsiteY123" fmla="*/ 389815 h 550382"/>
                  <a:gd name="connsiteX124" fmla="*/ 281273 w 567187"/>
                  <a:gd name="connsiteY124" fmla="*/ 389815 h 550382"/>
                  <a:gd name="connsiteX125" fmla="*/ 281273 w 567187"/>
                  <a:gd name="connsiteY125" fmla="*/ 410960 h 550382"/>
                  <a:gd name="connsiteX126" fmla="*/ 446818 w 567187"/>
                  <a:gd name="connsiteY126" fmla="*/ 410960 h 550382"/>
                  <a:gd name="connsiteX127" fmla="*/ 446818 w 567187"/>
                  <a:gd name="connsiteY127" fmla="*/ 389815 h 550382"/>
                  <a:gd name="connsiteX128" fmla="*/ 209455 w 567187"/>
                  <a:gd name="connsiteY128" fmla="*/ 410865 h 550382"/>
                  <a:gd name="connsiteX129" fmla="*/ 198787 w 567187"/>
                  <a:gd name="connsiteY129" fmla="*/ 321330 h 550382"/>
                  <a:gd name="connsiteX130" fmla="*/ 192691 w 567187"/>
                  <a:gd name="connsiteY130" fmla="*/ 314186 h 550382"/>
                  <a:gd name="connsiteX131" fmla="*/ 186880 w 567187"/>
                  <a:gd name="connsiteY131" fmla="*/ 321711 h 550382"/>
                  <a:gd name="connsiteX132" fmla="*/ 184785 w 567187"/>
                  <a:gd name="connsiteY132" fmla="*/ 338094 h 550382"/>
                  <a:gd name="connsiteX133" fmla="*/ 176308 w 567187"/>
                  <a:gd name="connsiteY133" fmla="*/ 410865 h 550382"/>
                  <a:gd name="connsiteX134" fmla="*/ 209455 w 567187"/>
                  <a:gd name="connsiteY134" fmla="*/ 410865 h 550382"/>
                  <a:gd name="connsiteX135" fmla="*/ 217741 w 567187"/>
                  <a:gd name="connsiteY135" fmla="*/ 219603 h 550382"/>
                  <a:gd name="connsiteX136" fmla="*/ 167735 w 567187"/>
                  <a:gd name="connsiteY136" fmla="*/ 219603 h 550382"/>
                  <a:gd name="connsiteX137" fmla="*/ 193453 w 567187"/>
                  <a:gd name="connsiteY137" fmla="*/ 259894 h 550382"/>
                  <a:gd name="connsiteX138" fmla="*/ 217741 w 567187"/>
                  <a:gd name="connsiteY138" fmla="*/ 219603 h 550382"/>
                  <a:gd name="connsiteX139" fmla="*/ 139541 w 567187"/>
                  <a:gd name="connsiteY139" fmla="*/ 248749 h 550382"/>
                  <a:gd name="connsiteX140" fmla="*/ 158401 w 567187"/>
                  <a:gd name="connsiteY140" fmla="*/ 286373 h 550382"/>
                  <a:gd name="connsiteX141" fmla="*/ 172974 w 567187"/>
                  <a:gd name="connsiteY141" fmla="*/ 276086 h 550382"/>
                  <a:gd name="connsiteX142" fmla="*/ 180499 w 567187"/>
                  <a:gd name="connsiteY142" fmla="*/ 270086 h 550382"/>
                  <a:gd name="connsiteX143" fmla="*/ 166497 w 567187"/>
                  <a:gd name="connsiteY143" fmla="*/ 252750 h 550382"/>
                  <a:gd name="connsiteX144" fmla="*/ 139541 w 567187"/>
                  <a:gd name="connsiteY144" fmla="*/ 248749 h 550382"/>
                  <a:gd name="connsiteX145" fmla="*/ 247078 w 567187"/>
                  <a:gd name="connsiteY145" fmla="*/ 247130 h 550382"/>
                  <a:gd name="connsiteX146" fmla="*/ 228600 w 567187"/>
                  <a:gd name="connsiteY146" fmla="*/ 242939 h 550382"/>
                  <a:gd name="connsiteX147" fmla="*/ 204883 w 567187"/>
                  <a:gd name="connsiteY147" fmla="*/ 270657 h 550382"/>
                  <a:gd name="connsiteX148" fmla="*/ 227362 w 567187"/>
                  <a:gd name="connsiteY148" fmla="*/ 286469 h 550382"/>
                  <a:gd name="connsiteX149" fmla="*/ 247078 w 567187"/>
                  <a:gd name="connsiteY149" fmla="*/ 247130 h 550382"/>
                  <a:gd name="connsiteX150" fmla="*/ 193548 w 567187"/>
                  <a:gd name="connsiteY150" fmla="*/ 281801 h 550382"/>
                  <a:gd name="connsiteX151" fmla="*/ 180975 w 567187"/>
                  <a:gd name="connsiteY151" fmla="*/ 291612 h 550382"/>
                  <a:gd name="connsiteX152" fmla="*/ 181642 w 567187"/>
                  <a:gd name="connsiteY152" fmla="*/ 296089 h 550382"/>
                  <a:gd name="connsiteX153" fmla="*/ 199453 w 567187"/>
                  <a:gd name="connsiteY153" fmla="*/ 297327 h 550382"/>
                  <a:gd name="connsiteX154" fmla="*/ 203549 w 567187"/>
                  <a:gd name="connsiteY154" fmla="*/ 293041 h 550382"/>
                  <a:gd name="connsiteX155" fmla="*/ 193548 w 567187"/>
                  <a:gd name="connsiteY155" fmla="*/ 281801 h 550382"/>
                  <a:gd name="connsiteX156" fmla="*/ 260604 w 567187"/>
                  <a:gd name="connsiteY156" fmla="*/ 144927 h 550382"/>
                  <a:gd name="connsiteX157" fmla="*/ 265176 w 567187"/>
                  <a:gd name="connsiteY157" fmla="*/ 146641 h 550382"/>
                  <a:gd name="connsiteX158" fmla="*/ 270129 w 567187"/>
                  <a:gd name="connsiteY158" fmla="*/ 131020 h 550382"/>
                  <a:gd name="connsiteX159" fmla="*/ 263461 w 567187"/>
                  <a:gd name="connsiteY159" fmla="*/ 119972 h 550382"/>
                  <a:gd name="connsiteX160" fmla="*/ 260699 w 567187"/>
                  <a:gd name="connsiteY160" fmla="*/ 121591 h 550382"/>
                  <a:gd name="connsiteX161" fmla="*/ 260604 w 567187"/>
                  <a:gd name="connsiteY161" fmla="*/ 144927 h 550382"/>
                  <a:gd name="connsiteX162" fmla="*/ 123253 w 567187"/>
                  <a:gd name="connsiteY162" fmla="*/ 146546 h 550382"/>
                  <a:gd name="connsiteX163" fmla="*/ 123253 w 567187"/>
                  <a:gd name="connsiteY163" fmla="*/ 121019 h 550382"/>
                  <a:gd name="connsiteX164" fmla="*/ 123253 w 567187"/>
                  <a:gd name="connsiteY164" fmla="*/ 146546 h 55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67187" h="550382">
                    <a:moveTo>
                      <a:pt x="190" y="426581"/>
                    </a:moveTo>
                    <a:cubicBezTo>
                      <a:pt x="5334" y="413532"/>
                      <a:pt x="16383" y="410770"/>
                      <a:pt x="30099" y="411532"/>
                    </a:cubicBezTo>
                    <a:cubicBezTo>
                      <a:pt x="30099" y="397911"/>
                      <a:pt x="30004" y="385433"/>
                      <a:pt x="30099" y="372956"/>
                    </a:cubicBezTo>
                    <a:cubicBezTo>
                      <a:pt x="30289" y="352286"/>
                      <a:pt x="29908" y="331617"/>
                      <a:pt x="30956" y="311043"/>
                    </a:cubicBezTo>
                    <a:cubicBezTo>
                      <a:pt x="32385" y="283897"/>
                      <a:pt x="47434" y="265990"/>
                      <a:pt x="72104" y="256084"/>
                    </a:cubicBezTo>
                    <a:cubicBezTo>
                      <a:pt x="95345" y="246654"/>
                      <a:pt x="118776" y="237891"/>
                      <a:pt x="142113" y="228842"/>
                    </a:cubicBezTo>
                    <a:cubicBezTo>
                      <a:pt x="151828" y="225032"/>
                      <a:pt x="155257" y="212555"/>
                      <a:pt x="147733" y="205315"/>
                    </a:cubicBezTo>
                    <a:cubicBezTo>
                      <a:pt x="137065" y="195028"/>
                      <a:pt x="129540" y="183313"/>
                      <a:pt x="125920" y="168930"/>
                    </a:cubicBezTo>
                    <a:cubicBezTo>
                      <a:pt x="125349" y="166549"/>
                      <a:pt x="121825" y="164168"/>
                      <a:pt x="119063" y="163120"/>
                    </a:cubicBezTo>
                    <a:cubicBezTo>
                      <a:pt x="98584" y="155119"/>
                      <a:pt x="92297" y="137783"/>
                      <a:pt x="101155" y="117495"/>
                    </a:cubicBezTo>
                    <a:cubicBezTo>
                      <a:pt x="104299" y="110161"/>
                      <a:pt x="103917" y="101017"/>
                      <a:pt x="103822" y="92730"/>
                    </a:cubicBezTo>
                    <a:cubicBezTo>
                      <a:pt x="103727" y="68441"/>
                      <a:pt x="110776" y="47105"/>
                      <a:pt x="126873" y="28722"/>
                    </a:cubicBezTo>
                    <a:cubicBezTo>
                      <a:pt x="149447" y="3100"/>
                      <a:pt x="186499" y="-6616"/>
                      <a:pt x="220789" y="4624"/>
                    </a:cubicBezTo>
                    <a:cubicBezTo>
                      <a:pt x="252413" y="14911"/>
                      <a:pt x="276511" y="45105"/>
                      <a:pt x="279273" y="78252"/>
                    </a:cubicBezTo>
                    <a:cubicBezTo>
                      <a:pt x="280035" y="87015"/>
                      <a:pt x="279844" y="95969"/>
                      <a:pt x="280701" y="104732"/>
                    </a:cubicBezTo>
                    <a:cubicBezTo>
                      <a:pt x="281178" y="109685"/>
                      <a:pt x="282226" y="114828"/>
                      <a:pt x="284321" y="119400"/>
                    </a:cubicBezTo>
                    <a:cubicBezTo>
                      <a:pt x="292227" y="137021"/>
                      <a:pt x="284512" y="155595"/>
                      <a:pt x="266509" y="162929"/>
                    </a:cubicBezTo>
                    <a:cubicBezTo>
                      <a:pt x="262890" y="164453"/>
                      <a:pt x="259747" y="168454"/>
                      <a:pt x="257556" y="171978"/>
                    </a:cubicBezTo>
                    <a:cubicBezTo>
                      <a:pt x="251841" y="181312"/>
                      <a:pt x="248031" y="191981"/>
                      <a:pt x="241173" y="200267"/>
                    </a:cubicBezTo>
                    <a:cubicBezTo>
                      <a:pt x="230314" y="213507"/>
                      <a:pt x="231648" y="223985"/>
                      <a:pt x="247174" y="229985"/>
                    </a:cubicBezTo>
                    <a:cubicBezTo>
                      <a:pt x="255460" y="233224"/>
                      <a:pt x="263747" y="236081"/>
                      <a:pt x="271843" y="239701"/>
                    </a:cubicBezTo>
                    <a:cubicBezTo>
                      <a:pt x="296989" y="251036"/>
                      <a:pt x="322707" y="258846"/>
                      <a:pt x="350901" y="255512"/>
                    </a:cubicBezTo>
                    <a:cubicBezTo>
                      <a:pt x="356901" y="254845"/>
                      <a:pt x="363664" y="255322"/>
                      <a:pt x="363379" y="263894"/>
                    </a:cubicBezTo>
                    <a:cubicBezTo>
                      <a:pt x="363093" y="271514"/>
                      <a:pt x="356997" y="271705"/>
                      <a:pt x="351187" y="271705"/>
                    </a:cubicBezTo>
                    <a:cubicBezTo>
                      <a:pt x="332041" y="271705"/>
                      <a:pt x="312896" y="271705"/>
                      <a:pt x="292798" y="271705"/>
                    </a:cubicBezTo>
                    <a:cubicBezTo>
                      <a:pt x="292798" y="279039"/>
                      <a:pt x="292798" y="285802"/>
                      <a:pt x="292798" y="293327"/>
                    </a:cubicBezTo>
                    <a:cubicBezTo>
                      <a:pt x="347376" y="293327"/>
                      <a:pt x="402241" y="293327"/>
                      <a:pt x="457771" y="293327"/>
                    </a:cubicBezTo>
                    <a:cubicBezTo>
                      <a:pt x="457771" y="286754"/>
                      <a:pt x="457771" y="279896"/>
                      <a:pt x="457771" y="271705"/>
                    </a:cubicBezTo>
                    <a:cubicBezTo>
                      <a:pt x="440245" y="271705"/>
                      <a:pt x="422624" y="271705"/>
                      <a:pt x="405098" y="271705"/>
                    </a:cubicBezTo>
                    <a:cubicBezTo>
                      <a:pt x="401764" y="271705"/>
                      <a:pt x="397955" y="272657"/>
                      <a:pt x="395288" y="271419"/>
                    </a:cubicBezTo>
                    <a:cubicBezTo>
                      <a:pt x="391858" y="269800"/>
                      <a:pt x="389382" y="266276"/>
                      <a:pt x="386429" y="263513"/>
                    </a:cubicBezTo>
                    <a:cubicBezTo>
                      <a:pt x="389382" y="260846"/>
                      <a:pt x="392144" y="256179"/>
                      <a:pt x="395383" y="255893"/>
                    </a:cubicBezTo>
                    <a:cubicBezTo>
                      <a:pt x="406336" y="254941"/>
                      <a:pt x="417481" y="255417"/>
                      <a:pt x="428530" y="255417"/>
                    </a:cubicBezTo>
                    <a:cubicBezTo>
                      <a:pt x="439198" y="255417"/>
                      <a:pt x="449961" y="255417"/>
                      <a:pt x="460629" y="255512"/>
                    </a:cubicBezTo>
                    <a:cubicBezTo>
                      <a:pt x="469487" y="255607"/>
                      <a:pt x="474631" y="260084"/>
                      <a:pt x="474916" y="268943"/>
                    </a:cubicBezTo>
                    <a:cubicBezTo>
                      <a:pt x="475297" y="278563"/>
                      <a:pt x="475297" y="288088"/>
                      <a:pt x="474821" y="297708"/>
                    </a:cubicBezTo>
                    <a:cubicBezTo>
                      <a:pt x="474631" y="300756"/>
                      <a:pt x="473202" y="304376"/>
                      <a:pt x="471201" y="306661"/>
                    </a:cubicBezTo>
                    <a:cubicBezTo>
                      <a:pt x="461105" y="318282"/>
                      <a:pt x="461105" y="326474"/>
                      <a:pt x="470916" y="337713"/>
                    </a:cubicBezTo>
                    <a:cubicBezTo>
                      <a:pt x="473297" y="340475"/>
                      <a:pt x="474631" y="344952"/>
                      <a:pt x="474916" y="348762"/>
                    </a:cubicBezTo>
                    <a:cubicBezTo>
                      <a:pt x="475488" y="357239"/>
                      <a:pt x="475393" y="365716"/>
                      <a:pt x="474916" y="374194"/>
                    </a:cubicBezTo>
                    <a:cubicBezTo>
                      <a:pt x="474726" y="377718"/>
                      <a:pt x="473869" y="382766"/>
                      <a:pt x="471488" y="384195"/>
                    </a:cubicBezTo>
                    <a:cubicBezTo>
                      <a:pt x="459867" y="391053"/>
                      <a:pt x="464915" y="401149"/>
                      <a:pt x="464058" y="411532"/>
                    </a:cubicBezTo>
                    <a:cubicBezTo>
                      <a:pt x="489585" y="411532"/>
                      <a:pt x="513874" y="411532"/>
                      <a:pt x="538067" y="411532"/>
                    </a:cubicBezTo>
                    <a:cubicBezTo>
                      <a:pt x="561308" y="411532"/>
                      <a:pt x="568738" y="419628"/>
                      <a:pt x="566928" y="442393"/>
                    </a:cubicBezTo>
                    <a:cubicBezTo>
                      <a:pt x="566071" y="453537"/>
                      <a:pt x="559498" y="459538"/>
                      <a:pt x="549211" y="462681"/>
                    </a:cubicBezTo>
                    <a:cubicBezTo>
                      <a:pt x="549211" y="466682"/>
                      <a:pt x="550164" y="470777"/>
                      <a:pt x="549021" y="473920"/>
                    </a:cubicBezTo>
                    <a:cubicBezTo>
                      <a:pt x="547306" y="478397"/>
                      <a:pt x="544544" y="485065"/>
                      <a:pt x="541210" y="485732"/>
                    </a:cubicBezTo>
                    <a:cubicBezTo>
                      <a:pt x="533876" y="487256"/>
                      <a:pt x="532924" y="480493"/>
                      <a:pt x="532733" y="474682"/>
                    </a:cubicBezTo>
                    <a:cubicBezTo>
                      <a:pt x="532638" y="470777"/>
                      <a:pt x="532733" y="466777"/>
                      <a:pt x="532733" y="462586"/>
                    </a:cubicBezTo>
                    <a:cubicBezTo>
                      <a:pt x="366046" y="462586"/>
                      <a:pt x="200977" y="462586"/>
                      <a:pt x="34576" y="462586"/>
                    </a:cubicBezTo>
                    <a:cubicBezTo>
                      <a:pt x="34576" y="484112"/>
                      <a:pt x="34290" y="504972"/>
                      <a:pt x="34957" y="525927"/>
                    </a:cubicBezTo>
                    <a:cubicBezTo>
                      <a:pt x="35052" y="528403"/>
                      <a:pt x="39433" y="531642"/>
                      <a:pt x="42576" y="532976"/>
                    </a:cubicBezTo>
                    <a:cubicBezTo>
                      <a:pt x="45434" y="534214"/>
                      <a:pt x="49149" y="533261"/>
                      <a:pt x="52388" y="533261"/>
                    </a:cubicBezTo>
                    <a:cubicBezTo>
                      <a:pt x="206597" y="533261"/>
                      <a:pt x="360807" y="533261"/>
                      <a:pt x="515017" y="533261"/>
                    </a:cubicBezTo>
                    <a:cubicBezTo>
                      <a:pt x="530447" y="533261"/>
                      <a:pt x="530066" y="533166"/>
                      <a:pt x="533114" y="518116"/>
                    </a:cubicBezTo>
                    <a:cubicBezTo>
                      <a:pt x="533781" y="514687"/>
                      <a:pt x="538163" y="512116"/>
                      <a:pt x="540830" y="509163"/>
                    </a:cubicBezTo>
                    <a:cubicBezTo>
                      <a:pt x="543592" y="512020"/>
                      <a:pt x="548164" y="514592"/>
                      <a:pt x="548735" y="517926"/>
                    </a:cubicBezTo>
                    <a:cubicBezTo>
                      <a:pt x="552355" y="537928"/>
                      <a:pt x="541972" y="550311"/>
                      <a:pt x="521684" y="550311"/>
                    </a:cubicBezTo>
                    <a:cubicBezTo>
                      <a:pt x="362712" y="550406"/>
                      <a:pt x="203644" y="550406"/>
                      <a:pt x="44672" y="550311"/>
                    </a:cubicBezTo>
                    <a:cubicBezTo>
                      <a:pt x="26194" y="550311"/>
                      <a:pt x="17907" y="541548"/>
                      <a:pt x="17716" y="522974"/>
                    </a:cubicBezTo>
                    <a:cubicBezTo>
                      <a:pt x="17621" y="503067"/>
                      <a:pt x="17716" y="483160"/>
                      <a:pt x="17716" y="465729"/>
                    </a:cubicBezTo>
                    <a:cubicBezTo>
                      <a:pt x="10858" y="459157"/>
                      <a:pt x="5429" y="454013"/>
                      <a:pt x="0" y="448870"/>
                    </a:cubicBezTo>
                    <a:cubicBezTo>
                      <a:pt x="190" y="441345"/>
                      <a:pt x="190" y="434011"/>
                      <a:pt x="190" y="426581"/>
                    </a:cubicBezTo>
                    <a:close/>
                    <a:moveTo>
                      <a:pt x="159353" y="411056"/>
                    </a:moveTo>
                    <a:cubicBezTo>
                      <a:pt x="163258" y="378766"/>
                      <a:pt x="167068" y="347714"/>
                      <a:pt x="170497" y="316568"/>
                    </a:cubicBezTo>
                    <a:cubicBezTo>
                      <a:pt x="170974" y="311900"/>
                      <a:pt x="169735" y="307043"/>
                      <a:pt x="169259" y="301994"/>
                    </a:cubicBezTo>
                    <a:cubicBezTo>
                      <a:pt x="150876" y="305899"/>
                      <a:pt x="149161" y="305042"/>
                      <a:pt x="141065" y="289040"/>
                    </a:cubicBezTo>
                    <a:cubicBezTo>
                      <a:pt x="135255" y="277610"/>
                      <a:pt x="129445" y="266085"/>
                      <a:pt x="123253" y="253798"/>
                    </a:cubicBezTo>
                    <a:cubicBezTo>
                      <a:pt x="105727" y="260751"/>
                      <a:pt x="88297" y="266561"/>
                      <a:pt x="71914" y="274467"/>
                    </a:cubicBezTo>
                    <a:cubicBezTo>
                      <a:pt x="57912" y="281135"/>
                      <a:pt x="48006" y="293327"/>
                      <a:pt x="47530" y="309043"/>
                    </a:cubicBezTo>
                    <a:cubicBezTo>
                      <a:pt x="46482" y="342761"/>
                      <a:pt x="47244" y="376670"/>
                      <a:pt x="47244" y="410865"/>
                    </a:cubicBezTo>
                    <a:cubicBezTo>
                      <a:pt x="60103" y="410865"/>
                      <a:pt x="72390" y="410865"/>
                      <a:pt x="85820" y="410865"/>
                    </a:cubicBezTo>
                    <a:cubicBezTo>
                      <a:pt x="85820" y="406579"/>
                      <a:pt x="85820" y="402959"/>
                      <a:pt x="85820" y="399340"/>
                    </a:cubicBezTo>
                    <a:cubicBezTo>
                      <a:pt x="85820" y="378670"/>
                      <a:pt x="85725" y="358097"/>
                      <a:pt x="85915" y="337427"/>
                    </a:cubicBezTo>
                    <a:cubicBezTo>
                      <a:pt x="86011" y="330855"/>
                      <a:pt x="83629" y="321235"/>
                      <a:pt x="93821" y="320949"/>
                    </a:cubicBezTo>
                    <a:cubicBezTo>
                      <a:pt x="104203" y="320663"/>
                      <a:pt x="102013" y="330188"/>
                      <a:pt x="102203" y="336856"/>
                    </a:cubicBezTo>
                    <a:cubicBezTo>
                      <a:pt x="102394" y="344571"/>
                      <a:pt x="102203" y="352286"/>
                      <a:pt x="102203" y="360097"/>
                    </a:cubicBezTo>
                    <a:cubicBezTo>
                      <a:pt x="102203" y="376956"/>
                      <a:pt x="102203" y="393720"/>
                      <a:pt x="102203" y="410960"/>
                    </a:cubicBezTo>
                    <a:cubicBezTo>
                      <a:pt x="121825" y="411056"/>
                      <a:pt x="140113" y="411056"/>
                      <a:pt x="159353" y="411056"/>
                    </a:cubicBezTo>
                    <a:close/>
                    <a:moveTo>
                      <a:pt x="141065" y="113018"/>
                    </a:moveTo>
                    <a:cubicBezTo>
                      <a:pt x="141065" y="125972"/>
                      <a:pt x="140494" y="140260"/>
                      <a:pt x="141160" y="154643"/>
                    </a:cubicBezTo>
                    <a:cubicBezTo>
                      <a:pt x="142589" y="184837"/>
                      <a:pt x="165068" y="205887"/>
                      <a:pt x="194215" y="205030"/>
                    </a:cubicBezTo>
                    <a:cubicBezTo>
                      <a:pt x="222028" y="204268"/>
                      <a:pt x="242888" y="182360"/>
                      <a:pt x="243554" y="153023"/>
                    </a:cubicBezTo>
                    <a:cubicBezTo>
                      <a:pt x="243840" y="140165"/>
                      <a:pt x="242697" y="127211"/>
                      <a:pt x="243935" y="114447"/>
                    </a:cubicBezTo>
                    <a:cubicBezTo>
                      <a:pt x="245173" y="101779"/>
                      <a:pt x="236315" y="95587"/>
                      <a:pt x="228886" y="89491"/>
                    </a:cubicBezTo>
                    <a:cubicBezTo>
                      <a:pt x="226314" y="87491"/>
                      <a:pt x="218122" y="92349"/>
                      <a:pt x="212598" y="94254"/>
                    </a:cubicBezTo>
                    <a:cubicBezTo>
                      <a:pt x="208502" y="95778"/>
                      <a:pt x="204597" y="98255"/>
                      <a:pt x="200406" y="99302"/>
                    </a:cubicBezTo>
                    <a:cubicBezTo>
                      <a:pt x="181165" y="103874"/>
                      <a:pt x="161925" y="108161"/>
                      <a:pt x="141065" y="113018"/>
                    </a:cubicBezTo>
                    <a:close/>
                    <a:moveTo>
                      <a:pt x="18002" y="429058"/>
                    </a:moveTo>
                    <a:cubicBezTo>
                      <a:pt x="15621" y="445345"/>
                      <a:pt x="15907" y="445727"/>
                      <a:pt x="30099" y="445727"/>
                    </a:cubicBezTo>
                    <a:cubicBezTo>
                      <a:pt x="199072" y="445727"/>
                      <a:pt x="368046" y="445727"/>
                      <a:pt x="537019" y="445727"/>
                    </a:cubicBezTo>
                    <a:cubicBezTo>
                      <a:pt x="551307" y="445727"/>
                      <a:pt x="552545" y="443917"/>
                      <a:pt x="548259" y="429058"/>
                    </a:cubicBezTo>
                    <a:cubicBezTo>
                      <a:pt x="371856" y="429058"/>
                      <a:pt x="195263" y="429058"/>
                      <a:pt x="18002" y="429058"/>
                    </a:cubicBezTo>
                    <a:close/>
                    <a:moveTo>
                      <a:pt x="262414" y="101112"/>
                    </a:moveTo>
                    <a:cubicBezTo>
                      <a:pt x="268319" y="72537"/>
                      <a:pt x="254317" y="41295"/>
                      <a:pt x="228695" y="26341"/>
                    </a:cubicBezTo>
                    <a:cubicBezTo>
                      <a:pt x="201073" y="10244"/>
                      <a:pt x="167640" y="13863"/>
                      <a:pt x="143637" y="35294"/>
                    </a:cubicBezTo>
                    <a:cubicBezTo>
                      <a:pt x="125254" y="51868"/>
                      <a:pt x="114967" y="84729"/>
                      <a:pt x="122110" y="101302"/>
                    </a:cubicBezTo>
                    <a:cubicBezTo>
                      <a:pt x="128111" y="98445"/>
                      <a:pt x="134207" y="93111"/>
                      <a:pt x="140113" y="93206"/>
                    </a:cubicBezTo>
                    <a:cubicBezTo>
                      <a:pt x="168592" y="93587"/>
                      <a:pt x="194691" y="86253"/>
                      <a:pt x="218980" y="71870"/>
                    </a:cubicBezTo>
                    <a:cubicBezTo>
                      <a:pt x="226314" y="67584"/>
                      <a:pt x="233076" y="68441"/>
                      <a:pt x="238887" y="74823"/>
                    </a:cubicBezTo>
                    <a:cubicBezTo>
                      <a:pt x="246697" y="83491"/>
                      <a:pt x="254413" y="92158"/>
                      <a:pt x="262414" y="101112"/>
                    </a:cubicBezTo>
                    <a:close/>
                    <a:moveTo>
                      <a:pt x="215551" y="301328"/>
                    </a:moveTo>
                    <a:cubicBezTo>
                      <a:pt x="215455" y="339047"/>
                      <a:pt x="223266" y="374670"/>
                      <a:pt x="226314" y="410674"/>
                    </a:cubicBezTo>
                    <a:cubicBezTo>
                      <a:pt x="239363" y="410674"/>
                      <a:pt x="251269" y="410674"/>
                      <a:pt x="263080" y="410674"/>
                    </a:cubicBezTo>
                    <a:cubicBezTo>
                      <a:pt x="265652" y="396578"/>
                      <a:pt x="258127" y="380480"/>
                      <a:pt x="274415" y="371241"/>
                    </a:cubicBezTo>
                    <a:cubicBezTo>
                      <a:pt x="275082" y="370860"/>
                      <a:pt x="274796" y="368479"/>
                      <a:pt x="274796" y="366955"/>
                    </a:cubicBezTo>
                    <a:cubicBezTo>
                      <a:pt x="274796" y="358382"/>
                      <a:pt x="275463" y="350857"/>
                      <a:pt x="266795" y="343904"/>
                    </a:cubicBezTo>
                    <a:cubicBezTo>
                      <a:pt x="258413" y="337237"/>
                      <a:pt x="263842" y="304090"/>
                      <a:pt x="272224" y="295327"/>
                    </a:cubicBezTo>
                    <a:cubicBezTo>
                      <a:pt x="273939" y="293517"/>
                      <a:pt x="274701" y="290183"/>
                      <a:pt x="274701" y="287611"/>
                    </a:cubicBezTo>
                    <a:cubicBezTo>
                      <a:pt x="274987" y="278182"/>
                      <a:pt x="274796" y="268847"/>
                      <a:pt x="274796" y="258656"/>
                    </a:cubicBezTo>
                    <a:cubicBezTo>
                      <a:pt x="271367" y="257417"/>
                      <a:pt x="267081" y="255893"/>
                      <a:pt x="262223" y="254083"/>
                    </a:cubicBezTo>
                    <a:cubicBezTo>
                      <a:pt x="255841" y="266847"/>
                      <a:pt x="249841" y="278944"/>
                      <a:pt x="243649" y="291040"/>
                    </a:cubicBezTo>
                    <a:cubicBezTo>
                      <a:pt x="236791" y="304661"/>
                      <a:pt x="233553" y="306185"/>
                      <a:pt x="215551" y="301328"/>
                    </a:cubicBezTo>
                    <a:close/>
                    <a:moveTo>
                      <a:pt x="281083" y="333046"/>
                    </a:moveTo>
                    <a:cubicBezTo>
                      <a:pt x="336613" y="333046"/>
                      <a:pt x="391382" y="333046"/>
                      <a:pt x="446722" y="333046"/>
                    </a:cubicBezTo>
                    <a:cubicBezTo>
                      <a:pt x="446722" y="325711"/>
                      <a:pt x="446722" y="318949"/>
                      <a:pt x="446722" y="311805"/>
                    </a:cubicBezTo>
                    <a:cubicBezTo>
                      <a:pt x="391287" y="311805"/>
                      <a:pt x="336518" y="311805"/>
                      <a:pt x="281083" y="311805"/>
                    </a:cubicBezTo>
                    <a:cubicBezTo>
                      <a:pt x="281083" y="318853"/>
                      <a:pt x="281083" y="325331"/>
                      <a:pt x="281083" y="333046"/>
                    </a:cubicBezTo>
                    <a:close/>
                    <a:moveTo>
                      <a:pt x="292227" y="372098"/>
                    </a:moveTo>
                    <a:cubicBezTo>
                      <a:pt x="348329" y="372098"/>
                      <a:pt x="403003" y="372098"/>
                      <a:pt x="457676" y="372098"/>
                    </a:cubicBezTo>
                    <a:cubicBezTo>
                      <a:pt x="457676" y="364478"/>
                      <a:pt x="457676" y="357715"/>
                      <a:pt x="457676" y="351048"/>
                    </a:cubicBezTo>
                    <a:cubicBezTo>
                      <a:pt x="402145" y="351048"/>
                      <a:pt x="347472" y="351048"/>
                      <a:pt x="292227" y="351048"/>
                    </a:cubicBezTo>
                    <a:cubicBezTo>
                      <a:pt x="292227" y="358287"/>
                      <a:pt x="292227" y="364859"/>
                      <a:pt x="292227" y="372098"/>
                    </a:cubicBezTo>
                    <a:close/>
                    <a:moveTo>
                      <a:pt x="446818" y="389815"/>
                    </a:moveTo>
                    <a:cubicBezTo>
                      <a:pt x="391192" y="389815"/>
                      <a:pt x="336423" y="389815"/>
                      <a:pt x="281273" y="389815"/>
                    </a:cubicBezTo>
                    <a:cubicBezTo>
                      <a:pt x="281273" y="397244"/>
                      <a:pt x="281273" y="403912"/>
                      <a:pt x="281273" y="410960"/>
                    </a:cubicBezTo>
                    <a:cubicBezTo>
                      <a:pt x="336804" y="410960"/>
                      <a:pt x="391573" y="410960"/>
                      <a:pt x="446818" y="410960"/>
                    </a:cubicBezTo>
                    <a:cubicBezTo>
                      <a:pt x="446818" y="403816"/>
                      <a:pt x="446818" y="397340"/>
                      <a:pt x="446818" y="389815"/>
                    </a:cubicBezTo>
                    <a:close/>
                    <a:moveTo>
                      <a:pt x="209455" y="410865"/>
                    </a:moveTo>
                    <a:cubicBezTo>
                      <a:pt x="205930" y="380385"/>
                      <a:pt x="202597" y="350762"/>
                      <a:pt x="198787" y="321330"/>
                    </a:cubicBezTo>
                    <a:cubicBezTo>
                      <a:pt x="198406" y="318758"/>
                      <a:pt x="194786" y="316568"/>
                      <a:pt x="192691" y="314186"/>
                    </a:cubicBezTo>
                    <a:cubicBezTo>
                      <a:pt x="190690" y="316663"/>
                      <a:pt x="187642" y="318853"/>
                      <a:pt x="186880" y="321711"/>
                    </a:cubicBezTo>
                    <a:cubicBezTo>
                      <a:pt x="185451" y="326950"/>
                      <a:pt x="185356" y="332569"/>
                      <a:pt x="184785" y="338094"/>
                    </a:cubicBezTo>
                    <a:cubicBezTo>
                      <a:pt x="182023" y="362097"/>
                      <a:pt x="179165" y="386100"/>
                      <a:pt x="176308" y="410865"/>
                    </a:cubicBezTo>
                    <a:cubicBezTo>
                      <a:pt x="187642" y="410865"/>
                      <a:pt x="197834" y="410865"/>
                      <a:pt x="209455" y="410865"/>
                    </a:cubicBezTo>
                    <a:close/>
                    <a:moveTo>
                      <a:pt x="217741" y="219603"/>
                    </a:moveTo>
                    <a:cubicBezTo>
                      <a:pt x="200120" y="219603"/>
                      <a:pt x="184594" y="219603"/>
                      <a:pt x="167735" y="219603"/>
                    </a:cubicBezTo>
                    <a:cubicBezTo>
                      <a:pt x="168973" y="237129"/>
                      <a:pt x="184213" y="245416"/>
                      <a:pt x="193453" y="259894"/>
                    </a:cubicBezTo>
                    <a:cubicBezTo>
                      <a:pt x="200977" y="244178"/>
                      <a:pt x="218122" y="236939"/>
                      <a:pt x="217741" y="219603"/>
                    </a:cubicBezTo>
                    <a:close/>
                    <a:moveTo>
                      <a:pt x="139541" y="248749"/>
                    </a:moveTo>
                    <a:cubicBezTo>
                      <a:pt x="145637" y="261037"/>
                      <a:pt x="151828" y="273324"/>
                      <a:pt x="158401" y="286373"/>
                    </a:cubicBezTo>
                    <a:cubicBezTo>
                      <a:pt x="164020" y="282468"/>
                      <a:pt x="168592" y="279325"/>
                      <a:pt x="172974" y="276086"/>
                    </a:cubicBezTo>
                    <a:cubicBezTo>
                      <a:pt x="175355" y="274372"/>
                      <a:pt x="177546" y="272467"/>
                      <a:pt x="180499" y="270086"/>
                    </a:cubicBezTo>
                    <a:cubicBezTo>
                      <a:pt x="175641" y="264085"/>
                      <a:pt x="171069" y="258370"/>
                      <a:pt x="166497" y="252750"/>
                    </a:cubicBezTo>
                    <a:cubicBezTo>
                      <a:pt x="155734" y="239606"/>
                      <a:pt x="155638" y="239606"/>
                      <a:pt x="139541" y="248749"/>
                    </a:cubicBezTo>
                    <a:close/>
                    <a:moveTo>
                      <a:pt x="247078" y="247130"/>
                    </a:moveTo>
                    <a:cubicBezTo>
                      <a:pt x="239744" y="245320"/>
                      <a:pt x="231172" y="240748"/>
                      <a:pt x="228600" y="242939"/>
                    </a:cubicBezTo>
                    <a:cubicBezTo>
                      <a:pt x="219646" y="250845"/>
                      <a:pt x="212788" y="261037"/>
                      <a:pt x="204883" y="270657"/>
                    </a:cubicBezTo>
                    <a:cubicBezTo>
                      <a:pt x="213455" y="276658"/>
                      <a:pt x="220027" y="281325"/>
                      <a:pt x="227362" y="286469"/>
                    </a:cubicBezTo>
                    <a:cubicBezTo>
                      <a:pt x="233934" y="273324"/>
                      <a:pt x="239934" y="261227"/>
                      <a:pt x="247078" y="247130"/>
                    </a:cubicBezTo>
                    <a:close/>
                    <a:moveTo>
                      <a:pt x="193548" y="281801"/>
                    </a:moveTo>
                    <a:cubicBezTo>
                      <a:pt x="188595" y="285707"/>
                      <a:pt x="184785" y="288659"/>
                      <a:pt x="180975" y="291612"/>
                    </a:cubicBezTo>
                    <a:cubicBezTo>
                      <a:pt x="181165" y="293136"/>
                      <a:pt x="181451" y="294565"/>
                      <a:pt x="181642" y="296089"/>
                    </a:cubicBezTo>
                    <a:cubicBezTo>
                      <a:pt x="187547" y="296565"/>
                      <a:pt x="193548" y="297422"/>
                      <a:pt x="199453" y="297327"/>
                    </a:cubicBezTo>
                    <a:cubicBezTo>
                      <a:pt x="200882" y="297327"/>
                      <a:pt x="203740" y="293327"/>
                      <a:pt x="203549" y="293041"/>
                    </a:cubicBezTo>
                    <a:cubicBezTo>
                      <a:pt x="200596" y="289231"/>
                      <a:pt x="197167" y="285802"/>
                      <a:pt x="193548" y="281801"/>
                    </a:cubicBezTo>
                    <a:close/>
                    <a:moveTo>
                      <a:pt x="260604" y="144927"/>
                    </a:moveTo>
                    <a:cubicBezTo>
                      <a:pt x="262128" y="145498"/>
                      <a:pt x="263652" y="146070"/>
                      <a:pt x="265176" y="146641"/>
                    </a:cubicBezTo>
                    <a:cubicBezTo>
                      <a:pt x="266986" y="141403"/>
                      <a:pt x="270129" y="136259"/>
                      <a:pt x="270129" y="131020"/>
                    </a:cubicBezTo>
                    <a:cubicBezTo>
                      <a:pt x="270129" y="127306"/>
                      <a:pt x="265843" y="123686"/>
                      <a:pt x="263461" y="119972"/>
                    </a:cubicBezTo>
                    <a:cubicBezTo>
                      <a:pt x="262509" y="120543"/>
                      <a:pt x="261651" y="121115"/>
                      <a:pt x="260699" y="121591"/>
                    </a:cubicBezTo>
                    <a:cubicBezTo>
                      <a:pt x="260604" y="129401"/>
                      <a:pt x="260604" y="137212"/>
                      <a:pt x="260604" y="144927"/>
                    </a:cubicBezTo>
                    <a:close/>
                    <a:moveTo>
                      <a:pt x="123253" y="146546"/>
                    </a:moveTo>
                    <a:cubicBezTo>
                      <a:pt x="123253" y="137498"/>
                      <a:pt x="123253" y="129497"/>
                      <a:pt x="123253" y="121019"/>
                    </a:cubicBezTo>
                    <a:cubicBezTo>
                      <a:pt x="110014" y="129020"/>
                      <a:pt x="110014" y="138069"/>
                      <a:pt x="123253" y="146546"/>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任意多边形: 形状 22">
                <a:extLst>
                  <a:ext uri="{FF2B5EF4-FFF2-40B4-BE49-F238E27FC236}">
                    <a16:creationId xmlns:a16="http://schemas.microsoft.com/office/drawing/2014/main" id="{704AED03-E4E1-2F24-B2E8-9CEC9294F6C7}"/>
                  </a:ext>
                </a:extLst>
              </p:cNvPr>
              <p:cNvSpPr/>
              <p:nvPr/>
            </p:nvSpPr>
            <p:spPr>
              <a:xfrm>
                <a:off x="8398709" y="4108449"/>
                <a:ext cx="95628" cy="26899"/>
              </a:xfrm>
              <a:custGeom>
                <a:avLst/>
                <a:gdLst>
                  <a:gd name="connsiteX0" fmla="*/ 144215 w 166227"/>
                  <a:gd name="connsiteY0" fmla="*/ 0 h 46757"/>
                  <a:gd name="connsiteX1" fmla="*/ 148977 w 166227"/>
                  <a:gd name="connsiteY1" fmla="*/ 2191 h 46757"/>
                  <a:gd name="connsiteX2" fmla="*/ 166122 w 166227"/>
                  <a:gd name="connsiteY2" fmla="*/ 26003 h 46757"/>
                  <a:gd name="connsiteX3" fmla="*/ 143738 w 166227"/>
                  <a:gd name="connsiteY3" fmla="*/ 46482 h 46757"/>
                  <a:gd name="connsiteX4" fmla="*/ 114973 w 166227"/>
                  <a:gd name="connsiteY4" fmla="*/ 46672 h 46757"/>
                  <a:gd name="connsiteX5" fmla="*/ 32010 w 166227"/>
                  <a:gd name="connsiteY5" fmla="*/ 46672 h 46757"/>
                  <a:gd name="connsiteX6" fmla="*/ 387 w 166227"/>
                  <a:gd name="connsiteY6" fmla="*/ 27908 h 46757"/>
                  <a:gd name="connsiteX7" fmla="*/ 22390 w 166227"/>
                  <a:gd name="connsiteY7" fmla="*/ 0 h 46757"/>
                  <a:gd name="connsiteX8" fmla="*/ 144215 w 166227"/>
                  <a:gd name="connsiteY8" fmla="*/ 0 h 46757"/>
                  <a:gd name="connsiteX9" fmla="*/ 83254 w 166227"/>
                  <a:gd name="connsiteY9" fmla="*/ 17717 h 46757"/>
                  <a:gd name="connsiteX10" fmla="*/ 28105 w 166227"/>
                  <a:gd name="connsiteY10" fmla="*/ 18002 h 46757"/>
                  <a:gd name="connsiteX11" fmla="*/ 16770 w 166227"/>
                  <a:gd name="connsiteY11" fmla="*/ 23813 h 46757"/>
                  <a:gd name="connsiteX12" fmla="*/ 27533 w 166227"/>
                  <a:gd name="connsiteY12" fmla="*/ 30194 h 46757"/>
                  <a:gd name="connsiteX13" fmla="*/ 137833 w 166227"/>
                  <a:gd name="connsiteY13" fmla="*/ 30194 h 46757"/>
                  <a:gd name="connsiteX14" fmla="*/ 148977 w 166227"/>
                  <a:gd name="connsiteY14" fmla="*/ 24289 h 46757"/>
                  <a:gd name="connsiteX15" fmla="*/ 137261 w 166227"/>
                  <a:gd name="connsiteY15" fmla="*/ 18097 h 46757"/>
                  <a:gd name="connsiteX16" fmla="*/ 83254 w 166227"/>
                  <a:gd name="connsiteY16" fmla="*/ 17717 h 46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227" h="46757">
                    <a:moveTo>
                      <a:pt x="144215" y="0"/>
                    </a:moveTo>
                    <a:cubicBezTo>
                      <a:pt x="145834" y="762"/>
                      <a:pt x="147358" y="1619"/>
                      <a:pt x="148977" y="2191"/>
                    </a:cubicBezTo>
                    <a:cubicBezTo>
                      <a:pt x="160312" y="5810"/>
                      <a:pt x="167170" y="15240"/>
                      <a:pt x="166122" y="26003"/>
                    </a:cubicBezTo>
                    <a:cubicBezTo>
                      <a:pt x="164979" y="37433"/>
                      <a:pt x="156216" y="45815"/>
                      <a:pt x="143738" y="46482"/>
                    </a:cubicBezTo>
                    <a:cubicBezTo>
                      <a:pt x="134213" y="46958"/>
                      <a:pt x="124593" y="46672"/>
                      <a:pt x="114973" y="46672"/>
                    </a:cubicBezTo>
                    <a:cubicBezTo>
                      <a:pt x="87350" y="46672"/>
                      <a:pt x="59632" y="46672"/>
                      <a:pt x="32010" y="46672"/>
                    </a:cubicBezTo>
                    <a:cubicBezTo>
                      <a:pt x="12103" y="46672"/>
                      <a:pt x="2482" y="40958"/>
                      <a:pt x="387" y="27908"/>
                    </a:cubicBezTo>
                    <a:cubicBezTo>
                      <a:pt x="-1709" y="14859"/>
                      <a:pt x="4578" y="6858"/>
                      <a:pt x="22390" y="0"/>
                    </a:cubicBezTo>
                    <a:cubicBezTo>
                      <a:pt x="62966" y="0"/>
                      <a:pt x="103638" y="0"/>
                      <a:pt x="144215" y="0"/>
                    </a:cubicBezTo>
                    <a:close/>
                    <a:moveTo>
                      <a:pt x="83254" y="17717"/>
                    </a:moveTo>
                    <a:cubicBezTo>
                      <a:pt x="64871" y="17717"/>
                      <a:pt x="46488" y="17335"/>
                      <a:pt x="28105" y="18002"/>
                    </a:cubicBezTo>
                    <a:cubicBezTo>
                      <a:pt x="24295" y="18097"/>
                      <a:pt x="20580" y="21717"/>
                      <a:pt x="16770" y="23813"/>
                    </a:cubicBezTo>
                    <a:cubicBezTo>
                      <a:pt x="20390" y="26003"/>
                      <a:pt x="23914" y="30099"/>
                      <a:pt x="27533" y="30194"/>
                    </a:cubicBezTo>
                    <a:cubicBezTo>
                      <a:pt x="64300" y="30671"/>
                      <a:pt x="101066" y="30671"/>
                      <a:pt x="137833" y="30194"/>
                    </a:cubicBezTo>
                    <a:cubicBezTo>
                      <a:pt x="141548" y="30194"/>
                      <a:pt x="145262" y="26384"/>
                      <a:pt x="148977" y="24289"/>
                    </a:cubicBezTo>
                    <a:cubicBezTo>
                      <a:pt x="145072" y="22098"/>
                      <a:pt x="141262" y="18193"/>
                      <a:pt x="137261" y="18097"/>
                    </a:cubicBezTo>
                    <a:cubicBezTo>
                      <a:pt x="119354" y="17335"/>
                      <a:pt x="101352" y="17717"/>
                      <a:pt x="83254" y="1771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任意多边形: 形状 23">
                <a:extLst>
                  <a:ext uri="{FF2B5EF4-FFF2-40B4-BE49-F238E27FC236}">
                    <a16:creationId xmlns:a16="http://schemas.microsoft.com/office/drawing/2014/main" id="{10B03F0F-51B6-D7EB-E54B-22EA56DD619C}"/>
                  </a:ext>
                </a:extLst>
              </p:cNvPr>
              <p:cNvSpPr/>
              <p:nvPr/>
            </p:nvSpPr>
            <p:spPr>
              <a:xfrm>
                <a:off x="8398766" y="4159957"/>
                <a:ext cx="95621" cy="26351"/>
              </a:xfrm>
              <a:custGeom>
                <a:avLst/>
                <a:gdLst>
                  <a:gd name="connsiteX0" fmla="*/ 82489 w 166214"/>
                  <a:gd name="connsiteY0" fmla="*/ 45720 h 45804"/>
                  <a:gd name="connsiteX1" fmla="*/ 26101 w 166214"/>
                  <a:gd name="connsiteY1" fmla="*/ 45720 h 45804"/>
                  <a:gd name="connsiteX2" fmla="*/ 3 w 166214"/>
                  <a:gd name="connsiteY2" fmla="*/ 23336 h 45804"/>
                  <a:gd name="connsiteX3" fmla="*/ 25434 w 166214"/>
                  <a:gd name="connsiteY3" fmla="*/ 286 h 45804"/>
                  <a:gd name="connsiteX4" fmla="*/ 140497 w 166214"/>
                  <a:gd name="connsiteY4" fmla="*/ 286 h 45804"/>
                  <a:gd name="connsiteX5" fmla="*/ 166214 w 166214"/>
                  <a:gd name="connsiteY5" fmla="*/ 23241 h 45804"/>
                  <a:gd name="connsiteX6" fmla="*/ 140020 w 166214"/>
                  <a:gd name="connsiteY6" fmla="*/ 45720 h 45804"/>
                  <a:gd name="connsiteX7" fmla="*/ 82489 w 166214"/>
                  <a:gd name="connsiteY7" fmla="*/ 45720 h 45804"/>
                  <a:gd name="connsiteX8" fmla="*/ 82108 w 166214"/>
                  <a:gd name="connsiteY8" fmla="*/ 16764 h 45804"/>
                  <a:gd name="connsiteX9" fmla="*/ 28006 w 166214"/>
                  <a:gd name="connsiteY9" fmla="*/ 17050 h 45804"/>
                  <a:gd name="connsiteX10" fmla="*/ 16767 w 166214"/>
                  <a:gd name="connsiteY10" fmla="*/ 22765 h 45804"/>
                  <a:gd name="connsiteX11" fmla="*/ 27625 w 166214"/>
                  <a:gd name="connsiteY11" fmla="*/ 29146 h 45804"/>
                  <a:gd name="connsiteX12" fmla="*/ 137925 w 166214"/>
                  <a:gd name="connsiteY12" fmla="*/ 29146 h 45804"/>
                  <a:gd name="connsiteX13" fmla="*/ 148974 w 166214"/>
                  <a:gd name="connsiteY13" fmla="*/ 23146 h 45804"/>
                  <a:gd name="connsiteX14" fmla="*/ 137258 w 166214"/>
                  <a:gd name="connsiteY14" fmla="*/ 16954 h 45804"/>
                  <a:gd name="connsiteX15" fmla="*/ 82108 w 166214"/>
                  <a:gd name="connsiteY15" fmla="*/ 16764 h 4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14" h="45804">
                    <a:moveTo>
                      <a:pt x="82489" y="45720"/>
                    </a:moveTo>
                    <a:cubicBezTo>
                      <a:pt x="63725" y="45720"/>
                      <a:pt x="44866" y="45911"/>
                      <a:pt x="26101" y="45720"/>
                    </a:cubicBezTo>
                    <a:cubicBezTo>
                      <a:pt x="10004" y="45529"/>
                      <a:pt x="193" y="36957"/>
                      <a:pt x="3" y="23336"/>
                    </a:cubicBezTo>
                    <a:cubicBezTo>
                      <a:pt x="-188" y="9716"/>
                      <a:pt x="9242" y="476"/>
                      <a:pt x="25434" y="286"/>
                    </a:cubicBezTo>
                    <a:cubicBezTo>
                      <a:pt x="63820" y="-95"/>
                      <a:pt x="102111" y="-95"/>
                      <a:pt x="140497" y="286"/>
                    </a:cubicBezTo>
                    <a:cubicBezTo>
                      <a:pt x="156499" y="476"/>
                      <a:pt x="166309" y="9906"/>
                      <a:pt x="166214" y="23241"/>
                    </a:cubicBezTo>
                    <a:cubicBezTo>
                      <a:pt x="166024" y="36576"/>
                      <a:pt x="155832" y="45529"/>
                      <a:pt x="140020" y="45720"/>
                    </a:cubicBezTo>
                    <a:cubicBezTo>
                      <a:pt x="120780" y="45911"/>
                      <a:pt x="101634" y="45720"/>
                      <a:pt x="82489" y="45720"/>
                    </a:cubicBezTo>
                    <a:close/>
                    <a:moveTo>
                      <a:pt x="82108" y="16764"/>
                    </a:moveTo>
                    <a:cubicBezTo>
                      <a:pt x="64106" y="16764"/>
                      <a:pt x="46008" y="16383"/>
                      <a:pt x="28006" y="17050"/>
                    </a:cubicBezTo>
                    <a:cubicBezTo>
                      <a:pt x="24196" y="17145"/>
                      <a:pt x="20482" y="20765"/>
                      <a:pt x="16767" y="22765"/>
                    </a:cubicBezTo>
                    <a:cubicBezTo>
                      <a:pt x="20386" y="24956"/>
                      <a:pt x="23910" y="29051"/>
                      <a:pt x="27625" y="29146"/>
                    </a:cubicBezTo>
                    <a:cubicBezTo>
                      <a:pt x="64392" y="29623"/>
                      <a:pt x="101158" y="29623"/>
                      <a:pt x="137925" y="29146"/>
                    </a:cubicBezTo>
                    <a:cubicBezTo>
                      <a:pt x="141640" y="29146"/>
                      <a:pt x="145354" y="25241"/>
                      <a:pt x="148974" y="23146"/>
                    </a:cubicBezTo>
                    <a:cubicBezTo>
                      <a:pt x="145068" y="20955"/>
                      <a:pt x="141163" y="17145"/>
                      <a:pt x="137258" y="16954"/>
                    </a:cubicBezTo>
                    <a:cubicBezTo>
                      <a:pt x="118875" y="16383"/>
                      <a:pt x="100491" y="16764"/>
                      <a:pt x="82108" y="16764"/>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任意多边形: 形状 24">
                <a:extLst>
                  <a:ext uri="{FF2B5EF4-FFF2-40B4-BE49-F238E27FC236}">
                    <a16:creationId xmlns:a16="http://schemas.microsoft.com/office/drawing/2014/main" id="{AE47653B-3F44-1EB2-4D4A-675DCD60F26F}"/>
                  </a:ext>
                </a:extLst>
              </p:cNvPr>
              <p:cNvSpPr/>
              <p:nvPr/>
            </p:nvSpPr>
            <p:spPr>
              <a:xfrm>
                <a:off x="8398816" y="4210877"/>
                <a:ext cx="95639" cy="26367"/>
              </a:xfrm>
              <a:custGeom>
                <a:avLst/>
                <a:gdLst>
                  <a:gd name="connsiteX0" fmla="*/ 82783 w 166245"/>
                  <a:gd name="connsiteY0" fmla="*/ 45792 h 45833"/>
                  <a:gd name="connsiteX1" fmla="*/ 26396 w 166245"/>
                  <a:gd name="connsiteY1" fmla="*/ 45792 h 45833"/>
                  <a:gd name="connsiteX2" fmla="*/ 11 w 166245"/>
                  <a:gd name="connsiteY2" fmla="*/ 23789 h 45833"/>
                  <a:gd name="connsiteX3" fmla="*/ 25062 w 166245"/>
                  <a:gd name="connsiteY3" fmla="*/ 357 h 45833"/>
                  <a:gd name="connsiteX4" fmla="*/ 141267 w 166245"/>
                  <a:gd name="connsiteY4" fmla="*/ 357 h 45833"/>
                  <a:gd name="connsiteX5" fmla="*/ 166222 w 166245"/>
                  <a:gd name="connsiteY5" fmla="*/ 24075 h 45833"/>
                  <a:gd name="connsiteX6" fmla="*/ 140410 w 166245"/>
                  <a:gd name="connsiteY6" fmla="*/ 45792 h 45833"/>
                  <a:gd name="connsiteX7" fmla="*/ 82783 w 166245"/>
                  <a:gd name="connsiteY7" fmla="*/ 45792 h 45833"/>
                  <a:gd name="connsiteX8" fmla="*/ 83355 w 166245"/>
                  <a:gd name="connsiteY8" fmla="*/ 16835 h 45833"/>
                  <a:gd name="connsiteX9" fmla="*/ 27062 w 166245"/>
                  <a:gd name="connsiteY9" fmla="*/ 17121 h 45833"/>
                  <a:gd name="connsiteX10" fmla="*/ 16585 w 166245"/>
                  <a:gd name="connsiteY10" fmla="*/ 22550 h 45833"/>
                  <a:gd name="connsiteX11" fmla="*/ 27157 w 166245"/>
                  <a:gd name="connsiteY11" fmla="*/ 29123 h 45833"/>
                  <a:gd name="connsiteX12" fmla="*/ 138600 w 166245"/>
                  <a:gd name="connsiteY12" fmla="*/ 29123 h 45833"/>
                  <a:gd name="connsiteX13" fmla="*/ 148982 w 166245"/>
                  <a:gd name="connsiteY13" fmla="*/ 22455 h 45833"/>
                  <a:gd name="connsiteX14" fmla="*/ 138505 w 166245"/>
                  <a:gd name="connsiteY14" fmla="*/ 17121 h 45833"/>
                  <a:gd name="connsiteX15" fmla="*/ 83355 w 166245"/>
                  <a:gd name="connsiteY15" fmla="*/ 16835 h 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45" h="45833">
                    <a:moveTo>
                      <a:pt x="82783" y="45792"/>
                    </a:moveTo>
                    <a:cubicBezTo>
                      <a:pt x="64019" y="45792"/>
                      <a:pt x="45160" y="45887"/>
                      <a:pt x="26396" y="45792"/>
                    </a:cubicBezTo>
                    <a:cubicBezTo>
                      <a:pt x="10203" y="45696"/>
                      <a:pt x="297" y="37314"/>
                      <a:pt x="11" y="23789"/>
                    </a:cubicBezTo>
                    <a:cubicBezTo>
                      <a:pt x="-370" y="10168"/>
                      <a:pt x="9060" y="548"/>
                      <a:pt x="25062" y="357"/>
                    </a:cubicBezTo>
                    <a:cubicBezTo>
                      <a:pt x="63733" y="-119"/>
                      <a:pt x="102500" y="-119"/>
                      <a:pt x="141267" y="357"/>
                    </a:cubicBezTo>
                    <a:cubicBezTo>
                      <a:pt x="156888" y="548"/>
                      <a:pt x="166794" y="10835"/>
                      <a:pt x="166222" y="24075"/>
                    </a:cubicBezTo>
                    <a:cubicBezTo>
                      <a:pt x="165651" y="37029"/>
                      <a:pt x="155650" y="45601"/>
                      <a:pt x="140410" y="45792"/>
                    </a:cubicBezTo>
                    <a:cubicBezTo>
                      <a:pt x="121074" y="45887"/>
                      <a:pt x="101929" y="45792"/>
                      <a:pt x="82783" y="45792"/>
                    </a:cubicBezTo>
                    <a:close/>
                    <a:moveTo>
                      <a:pt x="83355" y="16835"/>
                    </a:moveTo>
                    <a:cubicBezTo>
                      <a:pt x="64591" y="16835"/>
                      <a:pt x="45827" y="16550"/>
                      <a:pt x="27062" y="17121"/>
                    </a:cubicBezTo>
                    <a:cubicBezTo>
                      <a:pt x="23538" y="17217"/>
                      <a:pt x="20014" y="20646"/>
                      <a:pt x="16585" y="22550"/>
                    </a:cubicBezTo>
                    <a:cubicBezTo>
                      <a:pt x="20109" y="24837"/>
                      <a:pt x="23633" y="29123"/>
                      <a:pt x="27157" y="29123"/>
                    </a:cubicBezTo>
                    <a:cubicBezTo>
                      <a:pt x="64305" y="29599"/>
                      <a:pt x="101453" y="29599"/>
                      <a:pt x="138600" y="29123"/>
                    </a:cubicBezTo>
                    <a:cubicBezTo>
                      <a:pt x="142124" y="29123"/>
                      <a:pt x="145458" y="24741"/>
                      <a:pt x="148982" y="22455"/>
                    </a:cubicBezTo>
                    <a:cubicBezTo>
                      <a:pt x="145458" y="20550"/>
                      <a:pt x="142029" y="17217"/>
                      <a:pt x="138505" y="17121"/>
                    </a:cubicBezTo>
                    <a:cubicBezTo>
                      <a:pt x="120122" y="16454"/>
                      <a:pt x="101738" y="16835"/>
                      <a:pt x="83355" y="16835"/>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任意多边形: 形状 25">
                <a:extLst>
                  <a:ext uri="{FF2B5EF4-FFF2-40B4-BE49-F238E27FC236}">
                    <a16:creationId xmlns:a16="http://schemas.microsoft.com/office/drawing/2014/main" id="{5CA145BA-4CB5-D126-5752-CED3D8811EF0}"/>
                  </a:ext>
                </a:extLst>
              </p:cNvPr>
              <p:cNvSpPr/>
              <p:nvPr/>
            </p:nvSpPr>
            <p:spPr>
              <a:xfrm>
                <a:off x="8358930" y="4162587"/>
                <a:ext cx="28110" cy="22474"/>
              </a:xfrm>
              <a:custGeom>
                <a:avLst/>
                <a:gdLst>
                  <a:gd name="connsiteX0" fmla="*/ 19145 w 48863"/>
                  <a:gd name="connsiteY0" fmla="*/ 20098 h 39065"/>
                  <a:gd name="connsiteX1" fmla="*/ 35624 w 48863"/>
                  <a:gd name="connsiteY1" fmla="*/ 2096 h 39065"/>
                  <a:gd name="connsiteX2" fmla="*/ 48863 w 48863"/>
                  <a:gd name="connsiteY2" fmla="*/ 0 h 39065"/>
                  <a:gd name="connsiteX3" fmla="*/ 46958 w 48863"/>
                  <a:gd name="connsiteY3" fmla="*/ 13145 h 39065"/>
                  <a:gd name="connsiteX4" fmla="*/ 25527 w 48863"/>
                  <a:gd name="connsiteY4" fmla="*/ 35147 h 39065"/>
                  <a:gd name="connsiteX5" fmla="*/ 10192 w 48863"/>
                  <a:gd name="connsiteY5" fmla="*/ 35338 h 39065"/>
                  <a:gd name="connsiteX6" fmla="*/ 1905 w 48863"/>
                  <a:gd name="connsiteY6" fmla="*/ 26670 h 39065"/>
                  <a:gd name="connsiteX7" fmla="*/ 0 w 48863"/>
                  <a:gd name="connsiteY7" fmla="*/ 13240 h 39065"/>
                  <a:gd name="connsiteX8" fmla="*/ 12668 w 48863"/>
                  <a:gd name="connsiteY8" fmla="*/ 14573 h 39065"/>
                  <a:gd name="connsiteX9" fmla="*/ 19145 w 48863"/>
                  <a:gd name="connsiteY9" fmla="*/ 20098 h 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863" h="39065">
                    <a:moveTo>
                      <a:pt x="19145" y="20098"/>
                    </a:moveTo>
                    <a:cubicBezTo>
                      <a:pt x="24670" y="13811"/>
                      <a:pt x="29433" y="7049"/>
                      <a:pt x="35624" y="2096"/>
                    </a:cubicBezTo>
                    <a:cubicBezTo>
                      <a:pt x="38672" y="-381"/>
                      <a:pt x="44387" y="572"/>
                      <a:pt x="48863" y="0"/>
                    </a:cubicBezTo>
                    <a:cubicBezTo>
                      <a:pt x="48292" y="4477"/>
                      <a:pt x="49340" y="10192"/>
                      <a:pt x="46958" y="13145"/>
                    </a:cubicBezTo>
                    <a:cubicBezTo>
                      <a:pt x="40577" y="21146"/>
                      <a:pt x="32671" y="27813"/>
                      <a:pt x="25527" y="35147"/>
                    </a:cubicBezTo>
                    <a:cubicBezTo>
                      <a:pt x="20479" y="40291"/>
                      <a:pt x="15431" y="40386"/>
                      <a:pt x="10192" y="35338"/>
                    </a:cubicBezTo>
                    <a:cubicBezTo>
                      <a:pt x="7334" y="32576"/>
                      <a:pt x="3429" y="30099"/>
                      <a:pt x="1905" y="26670"/>
                    </a:cubicBezTo>
                    <a:cubicBezTo>
                      <a:pt x="191" y="22670"/>
                      <a:pt x="572" y="17717"/>
                      <a:pt x="0" y="13240"/>
                    </a:cubicBezTo>
                    <a:cubicBezTo>
                      <a:pt x="4191" y="13621"/>
                      <a:pt x="8573" y="13621"/>
                      <a:pt x="12668" y="14573"/>
                    </a:cubicBezTo>
                    <a:cubicBezTo>
                      <a:pt x="14478" y="15050"/>
                      <a:pt x="15907" y="17240"/>
                      <a:pt x="19145" y="2009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任意多边形: 形状 26">
                <a:extLst>
                  <a:ext uri="{FF2B5EF4-FFF2-40B4-BE49-F238E27FC236}">
                    <a16:creationId xmlns:a16="http://schemas.microsoft.com/office/drawing/2014/main" id="{7CE1412A-8C94-20F4-8937-B17D87FE86AF}"/>
                  </a:ext>
                </a:extLst>
              </p:cNvPr>
              <p:cNvSpPr/>
              <p:nvPr/>
            </p:nvSpPr>
            <p:spPr>
              <a:xfrm>
                <a:off x="8359095" y="4214699"/>
                <a:ext cx="28056" cy="22434"/>
              </a:xfrm>
              <a:custGeom>
                <a:avLst/>
                <a:gdLst>
                  <a:gd name="connsiteX0" fmla="*/ 18574 w 48768"/>
                  <a:gd name="connsiteY0" fmla="*/ 19907 h 38996"/>
                  <a:gd name="connsiteX1" fmla="*/ 35528 w 48768"/>
                  <a:gd name="connsiteY1" fmla="*/ 1714 h 38996"/>
                  <a:gd name="connsiteX2" fmla="*/ 48768 w 48768"/>
                  <a:gd name="connsiteY2" fmla="*/ 0 h 38996"/>
                  <a:gd name="connsiteX3" fmla="*/ 46482 w 48768"/>
                  <a:gd name="connsiteY3" fmla="*/ 13240 h 38996"/>
                  <a:gd name="connsiteX4" fmla="*/ 24956 w 48768"/>
                  <a:gd name="connsiteY4" fmla="*/ 35242 h 38996"/>
                  <a:gd name="connsiteX5" fmla="*/ 9716 w 48768"/>
                  <a:gd name="connsiteY5" fmla="*/ 34957 h 38996"/>
                  <a:gd name="connsiteX6" fmla="*/ 1429 w 48768"/>
                  <a:gd name="connsiteY6" fmla="*/ 26289 h 38996"/>
                  <a:gd name="connsiteX7" fmla="*/ 0 w 48768"/>
                  <a:gd name="connsiteY7" fmla="*/ 12859 h 38996"/>
                  <a:gd name="connsiteX8" fmla="*/ 12573 w 48768"/>
                  <a:gd name="connsiteY8" fmla="*/ 14668 h 38996"/>
                  <a:gd name="connsiteX9" fmla="*/ 18574 w 48768"/>
                  <a:gd name="connsiteY9" fmla="*/ 19907 h 3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68" h="38996">
                    <a:moveTo>
                      <a:pt x="18574" y="19907"/>
                    </a:moveTo>
                    <a:cubicBezTo>
                      <a:pt x="24479" y="13335"/>
                      <a:pt x="29242" y="6667"/>
                      <a:pt x="35528" y="1714"/>
                    </a:cubicBezTo>
                    <a:cubicBezTo>
                      <a:pt x="38576" y="-667"/>
                      <a:pt x="44291" y="476"/>
                      <a:pt x="48768" y="0"/>
                    </a:cubicBezTo>
                    <a:cubicBezTo>
                      <a:pt x="48101" y="4477"/>
                      <a:pt x="48959" y="10192"/>
                      <a:pt x="46482" y="13240"/>
                    </a:cubicBezTo>
                    <a:cubicBezTo>
                      <a:pt x="40100" y="21241"/>
                      <a:pt x="32195" y="28004"/>
                      <a:pt x="24956" y="35242"/>
                    </a:cubicBezTo>
                    <a:cubicBezTo>
                      <a:pt x="19717" y="40481"/>
                      <a:pt x="14764" y="40100"/>
                      <a:pt x="9716" y="34957"/>
                    </a:cubicBezTo>
                    <a:cubicBezTo>
                      <a:pt x="6953" y="32099"/>
                      <a:pt x="2858" y="29718"/>
                      <a:pt x="1429" y="26289"/>
                    </a:cubicBezTo>
                    <a:cubicBezTo>
                      <a:pt x="-190" y="22288"/>
                      <a:pt x="381" y="17431"/>
                      <a:pt x="0" y="12859"/>
                    </a:cubicBezTo>
                    <a:cubicBezTo>
                      <a:pt x="4191" y="13430"/>
                      <a:pt x="8477" y="13716"/>
                      <a:pt x="12573" y="14668"/>
                    </a:cubicBezTo>
                    <a:cubicBezTo>
                      <a:pt x="14097" y="14954"/>
                      <a:pt x="15335" y="16954"/>
                      <a:pt x="18574" y="1990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任意多边形: 形状 27">
                <a:extLst>
                  <a:ext uri="{FF2B5EF4-FFF2-40B4-BE49-F238E27FC236}">
                    <a16:creationId xmlns:a16="http://schemas.microsoft.com/office/drawing/2014/main" id="{FA382305-38BE-03E3-EC0B-FF21DF15EEBD}"/>
                  </a:ext>
                </a:extLst>
              </p:cNvPr>
              <p:cNvSpPr/>
              <p:nvPr/>
            </p:nvSpPr>
            <p:spPr>
              <a:xfrm>
                <a:off x="8358985" y="4110839"/>
                <a:ext cx="28275" cy="22244"/>
              </a:xfrm>
              <a:custGeom>
                <a:avLst/>
                <a:gdLst>
                  <a:gd name="connsiteX0" fmla="*/ 19050 w 49149"/>
                  <a:gd name="connsiteY0" fmla="*/ 19848 h 38665"/>
                  <a:gd name="connsiteX1" fmla="*/ 35909 w 49149"/>
                  <a:gd name="connsiteY1" fmla="*/ 1370 h 38665"/>
                  <a:gd name="connsiteX2" fmla="*/ 49149 w 49149"/>
                  <a:gd name="connsiteY2" fmla="*/ 131 h 38665"/>
                  <a:gd name="connsiteX3" fmla="*/ 46958 w 49149"/>
                  <a:gd name="connsiteY3" fmla="*/ 12514 h 38665"/>
                  <a:gd name="connsiteX4" fmla="*/ 25432 w 49149"/>
                  <a:gd name="connsiteY4" fmla="*/ 34612 h 38665"/>
                  <a:gd name="connsiteX5" fmla="*/ 10096 w 49149"/>
                  <a:gd name="connsiteY5" fmla="*/ 34993 h 38665"/>
                  <a:gd name="connsiteX6" fmla="*/ 1810 w 49149"/>
                  <a:gd name="connsiteY6" fmla="*/ 26325 h 38665"/>
                  <a:gd name="connsiteX7" fmla="*/ 0 w 49149"/>
                  <a:gd name="connsiteY7" fmla="*/ 12895 h 38665"/>
                  <a:gd name="connsiteX8" fmla="*/ 12763 w 49149"/>
                  <a:gd name="connsiteY8" fmla="*/ 14324 h 38665"/>
                  <a:gd name="connsiteX9" fmla="*/ 19050 w 49149"/>
                  <a:gd name="connsiteY9" fmla="*/ 19848 h 3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149" h="38665">
                    <a:moveTo>
                      <a:pt x="19050" y="19848"/>
                    </a:moveTo>
                    <a:cubicBezTo>
                      <a:pt x="24955" y="13181"/>
                      <a:pt x="29718" y="6323"/>
                      <a:pt x="35909" y="1370"/>
                    </a:cubicBezTo>
                    <a:cubicBezTo>
                      <a:pt x="38862" y="-916"/>
                      <a:pt x="44672" y="417"/>
                      <a:pt x="49149" y="131"/>
                    </a:cubicBezTo>
                    <a:cubicBezTo>
                      <a:pt x="48482" y="4322"/>
                      <a:pt x="49339" y="9656"/>
                      <a:pt x="46958" y="12514"/>
                    </a:cubicBezTo>
                    <a:cubicBezTo>
                      <a:pt x="40481" y="20420"/>
                      <a:pt x="32576" y="27278"/>
                      <a:pt x="25432" y="34612"/>
                    </a:cubicBezTo>
                    <a:cubicBezTo>
                      <a:pt x="20384" y="39755"/>
                      <a:pt x="15335" y="40136"/>
                      <a:pt x="10096" y="34993"/>
                    </a:cubicBezTo>
                    <a:cubicBezTo>
                      <a:pt x="7239" y="32135"/>
                      <a:pt x="3334" y="29754"/>
                      <a:pt x="1810" y="26325"/>
                    </a:cubicBezTo>
                    <a:cubicBezTo>
                      <a:pt x="95" y="22325"/>
                      <a:pt x="476" y="17372"/>
                      <a:pt x="0" y="12895"/>
                    </a:cubicBezTo>
                    <a:cubicBezTo>
                      <a:pt x="4286" y="13371"/>
                      <a:pt x="8572" y="13466"/>
                      <a:pt x="12763" y="14324"/>
                    </a:cubicBezTo>
                    <a:cubicBezTo>
                      <a:pt x="14288" y="14705"/>
                      <a:pt x="15526" y="16705"/>
                      <a:pt x="19050" y="1984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8" name="文本框 17">
              <a:extLst>
                <a:ext uri="{FF2B5EF4-FFF2-40B4-BE49-F238E27FC236}">
                  <a16:creationId xmlns:a16="http://schemas.microsoft.com/office/drawing/2014/main" id="{FFACCBDB-0D5E-F2B4-E4F1-8FA6E04447BE}"/>
                </a:ext>
              </a:extLst>
            </p:cNvPr>
            <p:cNvSpPr txBox="1"/>
            <p:nvPr/>
          </p:nvSpPr>
          <p:spPr>
            <a:xfrm>
              <a:off x="3667531" y="2704008"/>
              <a:ext cx="4856939" cy="1526186"/>
            </a:xfrm>
            <a:prstGeom prst="rect">
              <a:avLst/>
            </a:prstGeom>
            <a:noFill/>
          </p:spPr>
          <p:txBody>
            <a:bodyPr wrap="square" rtlCol="0">
              <a:noAutofit/>
            </a:bodyPr>
            <a:lstStyle/>
            <a:p>
              <a:pPr algn="dist">
                <a:lnSpc>
                  <a:spcPct val="150000"/>
                </a:lnSpc>
              </a:pPr>
              <a:r>
                <a:rPr lang="zh-CN" altLang="en-US" sz="1600" b="1" dirty="0">
                  <a:latin typeface="微软雅黑" panose="020B0503020204020204" pitchFamily="34" charset="-122"/>
                  <a:ea typeface="微软雅黑" panose="020B0503020204020204" pitchFamily="34" charset="-122"/>
                </a:rPr>
                <a:t>构建端到端的个性化推荐闭环系统，实现海量计算获取深度偏好</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使在线业务实现精准分发个性化内容。</a:t>
              </a:r>
              <a:endParaRPr lang="en-US" sz="1600" b="1" dirty="0">
                <a:latin typeface="微软雅黑" panose="020B0503020204020204" pitchFamily="34" charset="-122"/>
                <a:ea typeface="微软雅黑" panose="020B0503020204020204" pitchFamily="34" charset="-122"/>
              </a:endParaRPr>
            </a:p>
          </p:txBody>
        </p:sp>
      </p:grpSp>
    </p:spTree>
    <p:custDataLst>
      <p:tags r:id="rId1"/>
    </p:custDataLst>
    <p:extLst>
      <p:ext uri="{BB962C8B-B14F-4D97-AF65-F5344CB8AC3E}">
        <p14:creationId xmlns:p14="http://schemas.microsoft.com/office/powerpoint/2010/main" val="389899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B9940-0717-17C5-1CBF-08789AD2C37E}"/>
            </a:ext>
          </a:extLst>
        </p:cNvPr>
        <p:cNvGrpSpPr/>
        <p:nvPr/>
      </p:nvGrpSpPr>
      <p:grpSpPr>
        <a:xfrm>
          <a:off x="0" y="0"/>
          <a:ext cx="0" cy="0"/>
          <a:chOff x="0" y="0"/>
          <a:chExt cx="0" cy="0"/>
        </a:xfrm>
      </p:grpSpPr>
      <p:pic>
        <p:nvPicPr>
          <p:cNvPr id="2" name="Google Shape;256;p23" descr="image.png">
            <a:extLst>
              <a:ext uri="{FF2B5EF4-FFF2-40B4-BE49-F238E27FC236}">
                <a16:creationId xmlns:a16="http://schemas.microsoft.com/office/drawing/2014/main" id="{8B839422-C5D4-2489-94E9-913F35C7E139}"/>
              </a:ext>
            </a:extLst>
          </p:cNvPr>
          <p:cNvPicPr preferRelativeResize="0"/>
          <p:nvPr/>
        </p:nvPicPr>
        <p:blipFill rotWithShape="1">
          <a:blip r:embed="rId4">
            <a:alphaModFix/>
          </a:blip>
          <a:srcRect/>
          <a:stretch/>
        </p:blipFill>
        <p:spPr>
          <a:xfrm>
            <a:off x="6334125" y="2651521"/>
            <a:ext cx="5286375" cy="2874466"/>
          </a:xfrm>
          <a:prstGeom prst="rect">
            <a:avLst/>
          </a:prstGeom>
          <a:noFill/>
          <a:ln>
            <a:noFill/>
          </a:ln>
        </p:spPr>
      </p:pic>
      <p:pic>
        <p:nvPicPr>
          <p:cNvPr id="3" name="Google Shape;257;p23" descr="image.png">
            <a:extLst>
              <a:ext uri="{FF2B5EF4-FFF2-40B4-BE49-F238E27FC236}">
                <a16:creationId xmlns:a16="http://schemas.microsoft.com/office/drawing/2014/main" id="{5A7CC82A-6B60-53FB-7057-114BBA735F9D}"/>
              </a:ext>
            </a:extLst>
          </p:cNvPr>
          <p:cNvPicPr preferRelativeResize="0"/>
          <p:nvPr/>
        </p:nvPicPr>
        <p:blipFill rotWithShape="1">
          <a:blip r:embed="rId5">
            <a:alphaModFix/>
          </a:blip>
          <a:srcRect/>
          <a:stretch/>
        </p:blipFill>
        <p:spPr>
          <a:xfrm>
            <a:off x="571500" y="1881038"/>
            <a:ext cx="5286375" cy="2112466"/>
          </a:xfrm>
          <a:prstGeom prst="rect">
            <a:avLst/>
          </a:prstGeom>
          <a:noFill/>
          <a:ln w="12700">
            <a:solidFill>
              <a:schemeClr val="bg2">
                <a:lumMod val="25000"/>
                <a:lumOff val="75000"/>
              </a:schemeClr>
            </a:solidFill>
          </a:ln>
        </p:spPr>
      </p:pic>
      <p:pic>
        <p:nvPicPr>
          <p:cNvPr id="4" name="Google Shape;258;p23" descr="image.png">
            <a:extLst>
              <a:ext uri="{FF2B5EF4-FFF2-40B4-BE49-F238E27FC236}">
                <a16:creationId xmlns:a16="http://schemas.microsoft.com/office/drawing/2014/main" id="{DF860E46-47B3-E5F6-E090-0CA572D19BD5}"/>
              </a:ext>
            </a:extLst>
          </p:cNvPr>
          <p:cNvPicPr preferRelativeResize="0"/>
          <p:nvPr/>
        </p:nvPicPr>
        <p:blipFill rotWithShape="1">
          <a:blip r:embed="rId5">
            <a:alphaModFix/>
          </a:blip>
          <a:srcRect/>
          <a:stretch/>
        </p:blipFill>
        <p:spPr>
          <a:xfrm>
            <a:off x="571500" y="4184005"/>
            <a:ext cx="5286375" cy="2112466"/>
          </a:xfrm>
          <a:prstGeom prst="rect">
            <a:avLst/>
          </a:prstGeom>
          <a:noFill/>
          <a:ln>
            <a:noFill/>
          </a:ln>
        </p:spPr>
      </p:pic>
      <p:pic>
        <p:nvPicPr>
          <p:cNvPr id="5" name="Google Shape;260;p23" descr="image.png">
            <a:extLst>
              <a:ext uri="{FF2B5EF4-FFF2-40B4-BE49-F238E27FC236}">
                <a16:creationId xmlns:a16="http://schemas.microsoft.com/office/drawing/2014/main" id="{30A0E813-019D-8F8E-EB22-2C9CE6B8BA09}"/>
              </a:ext>
            </a:extLst>
          </p:cNvPr>
          <p:cNvPicPr preferRelativeResize="0"/>
          <p:nvPr/>
        </p:nvPicPr>
        <p:blipFill rotWithShape="1">
          <a:blip r:embed="rId6">
            <a:alphaModFix/>
          </a:blip>
          <a:srcRect/>
          <a:stretch/>
        </p:blipFill>
        <p:spPr>
          <a:xfrm>
            <a:off x="8724899" y="2793876"/>
            <a:ext cx="504825" cy="571500"/>
          </a:xfrm>
          <a:prstGeom prst="rect">
            <a:avLst/>
          </a:prstGeom>
          <a:noFill/>
          <a:ln>
            <a:noFill/>
          </a:ln>
        </p:spPr>
      </p:pic>
      <p:sp>
        <p:nvSpPr>
          <p:cNvPr id="6" name="Google Shape;261;p23">
            <a:extLst>
              <a:ext uri="{FF2B5EF4-FFF2-40B4-BE49-F238E27FC236}">
                <a16:creationId xmlns:a16="http://schemas.microsoft.com/office/drawing/2014/main" id="{49D414BE-12AC-9DC5-F18B-C8ED99EDFF97}"/>
              </a:ext>
            </a:extLst>
          </p:cNvPr>
          <p:cNvSpPr txBox="1"/>
          <p:nvPr/>
        </p:nvSpPr>
        <p:spPr>
          <a:xfrm>
            <a:off x="6512005" y="3507731"/>
            <a:ext cx="4930616" cy="276999"/>
          </a:xfrm>
          <a:prstGeom prst="rect">
            <a:avLst/>
          </a:prstGeom>
          <a:noFill/>
          <a:ln>
            <a:noFill/>
          </a:ln>
        </p:spPr>
        <p:txBody>
          <a:bodyPr spcFirstLastPara="1" wrap="square" lIns="0" tIns="0" rIns="0" bIns="0" anchor="t" anchorCtr="0">
            <a:spAutoFit/>
          </a:bodyPr>
          <a:lstStyle/>
          <a:p>
            <a:pPr lvl="0" algn="ctr"/>
            <a:r>
              <a:rPr lang="en-US" sz="18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动态冷启动</a:t>
            </a:r>
            <a:r>
              <a:rPr lang="zh-CN" altLang="en-US" sz="1800" b="1" dirty="0">
                <a:solidFill>
                  <a:srgbClr val="00F3FF"/>
                </a:solidFill>
                <a:latin typeface="微软雅黑" panose="020B0503020204020204" pitchFamily="34" charset="-122"/>
                <a:ea typeface="微软雅黑" panose="020B0503020204020204" pitchFamily="34" charset="-122"/>
              </a:rPr>
              <a:t>下的特征表征不足</a:t>
            </a:r>
            <a:endParaRPr sz="1800" b="1" dirty="0">
              <a:solidFill>
                <a:srgbClr val="00F3FF"/>
              </a:solidFill>
              <a:latin typeface="微软雅黑" panose="020B0503020204020204" pitchFamily="34" charset="-122"/>
              <a:ea typeface="微软雅黑" panose="020B0503020204020204" pitchFamily="34" charset="-122"/>
            </a:endParaRPr>
          </a:p>
        </p:txBody>
      </p:sp>
      <p:sp>
        <p:nvSpPr>
          <p:cNvPr id="7" name="Google Shape;262;p23">
            <a:extLst>
              <a:ext uri="{FF2B5EF4-FFF2-40B4-BE49-F238E27FC236}">
                <a16:creationId xmlns:a16="http://schemas.microsoft.com/office/drawing/2014/main" id="{E427463A-6040-741D-E0B8-7F21E457FD9B}"/>
              </a:ext>
            </a:extLst>
          </p:cNvPr>
          <p:cNvSpPr txBox="1"/>
          <p:nvPr/>
        </p:nvSpPr>
        <p:spPr>
          <a:xfrm>
            <a:off x="6646544" y="3861854"/>
            <a:ext cx="4695825" cy="1575816"/>
          </a:xfrm>
          <a:prstGeom prst="rect">
            <a:avLst/>
          </a:prstGeom>
          <a:noFill/>
          <a:ln>
            <a:noFill/>
          </a:ln>
        </p:spPr>
        <p:txBody>
          <a:bodyPr spcFirstLastPara="1" wrap="square" lIns="0" tIns="0" rIns="0" bIns="0" anchor="t" anchorCtr="0">
            <a:spAutoFit/>
          </a:bodyPr>
          <a:lstStyle/>
          <a:p>
            <a:pPr lvl="0" algn="ctr">
              <a:lnSpc>
                <a:spcPct val="159929"/>
              </a:lnSpc>
            </a:pPr>
            <a:r>
              <a:rPr lang="zh-CN" altLang="en-US" sz="1600" b="1" dirty="0">
                <a:solidFill>
                  <a:schemeClr val="bg1"/>
                </a:solidFill>
                <a:latin typeface="微软雅黑" panose="020B0503020204020204" pitchFamily="34" charset="-122"/>
                <a:ea typeface="微软雅黑" panose="020B0503020204020204" pitchFamily="34" charset="-122"/>
              </a:rPr>
              <a:t>尽管已有知识图谱等技术，但在本系统预期的实时交互中，对于缺乏历史记录的新用户，如何快速利用其注册画像与初始搜索行为生成精准 </a:t>
            </a:r>
            <a:r>
              <a:rPr lang="en-US" altLang="zh-CN" sz="1600" b="1" dirty="0">
                <a:solidFill>
                  <a:schemeClr val="bg1"/>
                </a:solidFill>
                <a:latin typeface="微软雅黑" panose="020B0503020204020204" pitchFamily="34" charset="-122"/>
                <a:ea typeface="微软雅黑" panose="020B0503020204020204" pitchFamily="34" charset="-122"/>
              </a:rPr>
              <a:t>Embedding </a:t>
            </a:r>
            <a:r>
              <a:rPr lang="zh-CN" altLang="en-US" sz="1600" b="1" dirty="0">
                <a:solidFill>
                  <a:schemeClr val="bg1"/>
                </a:solidFill>
                <a:latin typeface="微软雅黑" panose="020B0503020204020204" pitchFamily="34" charset="-122"/>
                <a:ea typeface="微软雅黑" panose="020B0503020204020204" pitchFamily="34" charset="-122"/>
              </a:rPr>
              <a:t>向量，仍存在较大的研究空间。。</a:t>
            </a:r>
            <a:endParaRPr b="1" dirty="0">
              <a:solidFill>
                <a:schemeClr val="bg1"/>
              </a:solidFill>
              <a:latin typeface="微软雅黑" panose="020B0503020204020204" pitchFamily="34" charset="-122"/>
              <a:ea typeface="微软雅黑" panose="020B0503020204020204" pitchFamily="34" charset="-122"/>
            </a:endParaRPr>
          </a:p>
        </p:txBody>
      </p:sp>
      <p:sp>
        <p:nvSpPr>
          <p:cNvPr id="8" name="Google Shape;264;p23">
            <a:extLst>
              <a:ext uri="{FF2B5EF4-FFF2-40B4-BE49-F238E27FC236}">
                <a16:creationId xmlns:a16="http://schemas.microsoft.com/office/drawing/2014/main" id="{305E0323-4BBB-15DF-9728-3C874FC389FC}"/>
              </a:ext>
            </a:extLst>
          </p:cNvPr>
          <p:cNvSpPr txBox="1"/>
          <p:nvPr/>
        </p:nvSpPr>
        <p:spPr>
          <a:xfrm>
            <a:off x="749379" y="1964836"/>
            <a:ext cx="4930616" cy="276999"/>
          </a:xfrm>
          <a:prstGeom prst="rect">
            <a:avLst/>
          </a:prstGeom>
          <a:noFill/>
          <a:ln>
            <a:noFill/>
          </a:ln>
        </p:spPr>
        <p:txBody>
          <a:bodyPr spcFirstLastPara="1" wrap="square" lIns="0" tIns="0" rIns="0" bIns="0" anchor="t" anchorCtr="0">
            <a:spAutoFit/>
          </a:bodyPr>
          <a:lstStyle/>
          <a:p>
            <a:pPr lvl="0" algn="ctr"/>
            <a:r>
              <a:rPr lang="zh-CN" altLang="en-US" sz="1800" b="1" dirty="0">
                <a:solidFill>
                  <a:srgbClr val="BC13FE"/>
                </a:solidFill>
                <a:latin typeface="Arial" panose="020B0604020202020204" pitchFamily="34" charset="0"/>
                <a:ea typeface="微软雅黑" panose="020B0503020204020204" pitchFamily="34" charset="-122"/>
              </a:rPr>
              <a:t>跨语言系统的异步协作与时延难题</a:t>
            </a:r>
            <a:endParaRPr sz="1800" b="1" dirty="0">
              <a:solidFill>
                <a:srgbClr val="BC13FE"/>
              </a:solidFill>
              <a:latin typeface="Arial" panose="020B0604020202020204" pitchFamily="34" charset="0"/>
              <a:ea typeface="微软雅黑" panose="020B0503020204020204" pitchFamily="34" charset="-122"/>
            </a:endParaRPr>
          </a:p>
        </p:txBody>
      </p:sp>
      <p:sp>
        <p:nvSpPr>
          <p:cNvPr id="9" name="Google Shape;265;p23">
            <a:extLst>
              <a:ext uri="{FF2B5EF4-FFF2-40B4-BE49-F238E27FC236}">
                <a16:creationId xmlns:a16="http://schemas.microsoft.com/office/drawing/2014/main" id="{BBE48383-ADED-E336-5860-959AC1DA6F21}"/>
              </a:ext>
            </a:extLst>
          </p:cNvPr>
          <p:cNvSpPr txBox="1"/>
          <p:nvPr/>
        </p:nvSpPr>
        <p:spPr>
          <a:xfrm>
            <a:off x="749379" y="2335389"/>
            <a:ext cx="4695825" cy="1575816"/>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bg1"/>
                </a:solidFill>
                <a:latin typeface="微软雅黑" panose="020B0503020204020204" pitchFamily="34" charset="-122"/>
                <a:ea typeface="微软雅黑" panose="020B0503020204020204" pitchFamily="34" charset="-122"/>
              </a:rPr>
              <a:t>本课题涉及 </a:t>
            </a:r>
            <a:r>
              <a:rPr lang="en-US" altLang="zh-CN" sz="1600" b="1" dirty="0">
                <a:solidFill>
                  <a:schemeClr val="bg1"/>
                </a:solidFill>
                <a:latin typeface="微软雅黑" panose="020B0503020204020204" pitchFamily="34" charset="-122"/>
                <a:ea typeface="微软雅黑" panose="020B0503020204020204" pitchFamily="34" charset="-122"/>
              </a:rPr>
              <a:t>Java </a:t>
            </a:r>
            <a:r>
              <a:rPr lang="zh-CN" altLang="en-US" sz="1600" b="1" dirty="0">
                <a:solidFill>
                  <a:schemeClr val="bg1"/>
                </a:solidFill>
                <a:latin typeface="微软雅黑" panose="020B0503020204020204" pitchFamily="34" charset="-122"/>
                <a:ea typeface="微软雅黑" panose="020B0503020204020204" pitchFamily="34" charset="-122"/>
              </a:rPr>
              <a:t>业务层与 </a:t>
            </a:r>
            <a:r>
              <a:rPr lang="en-US" altLang="zh-CN" sz="1600" b="1" dirty="0">
                <a:solidFill>
                  <a:schemeClr val="bg1"/>
                </a:solidFill>
                <a:latin typeface="微软雅黑" panose="020B0503020204020204" pitchFamily="34" charset="-122"/>
                <a:ea typeface="微软雅黑" panose="020B0503020204020204" pitchFamily="34" charset="-122"/>
              </a:rPr>
              <a:t>Python </a:t>
            </a:r>
            <a:r>
              <a:rPr lang="zh-CN" altLang="en-US" sz="1600" b="1" dirty="0">
                <a:solidFill>
                  <a:schemeClr val="bg1"/>
                </a:solidFill>
                <a:latin typeface="微软雅黑" panose="020B0503020204020204" pitchFamily="34" charset="-122"/>
                <a:ea typeface="微软雅黑" panose="020B0503020204020204" pitchFamily="34" charset="-122"/>
              </a:rPr>
              <a:t>算法层的联动，当前研究多集中于单一环境下的模型优化，缺乏对“</a:t>
            </a:r>
            <a:r>
              <a:rPr lang="en-US" altLang="zh-CN" sz="1600" b="1" dirty="0">
                <a:solidFill>
                  <a:schemeClr val="bg1"/>
                </a:solidFill>
                <a:latin typeface="微软雅黑" panose="020B0503020204020204" pitchFamily="34" charset="-122"/>
                <a:ea typeface="微软雅黑" panose="020B0503020204020204" pitchFamily="34" charset="-122"/>
              </a:rPr>
              <a:t>Java </a:t>
            </a:r>
            <a:r>
              <a:rPr lang="zh-CN" altLang="en-US" sz="1600" b="1" dirty="0">
                <a:solidFill>
                  <a:schemeClr val="bg1"/>
                </a:solidFill>
                <a:latin typeface="微软雅黑" panose="020B0503020204020204" pitchFamily="34" charset="-122"/>
                <a:ea typeface="微软雅黑" panose="020B0503020204020204" pitchFamily="34" charset="-122"/>
              </a:rPr>
              <a:t>生产环境与 </a:t>
            </a:r>
            <a:r>
              <a:rPr lang="en-US" altLang="zh-CN" sz="1600" b="1" dirty="0">
                <a:solidFill>
                  <a:schemeClr val="bg1"/>
                </a:solidFill>
                <a:latin typeface="微软雅黑" panose="020B0503020204020204" pitchFamily="34" charset="-122"/>
                <a:ea typeface="微软雅黑" panose="020B0503020204020204" pitchFamily="34" charset="-122"/>
              </a:rPr>
              <a:t>Python </a:t>
            </a:r>
            <a:r>
              <a:rPr lang="zh-CN" altLang="en-US" sz="1600" b="1" dirty="0">
                <a:solidFill>
                  <a:schemeClr val="bg1"/>
                </a:solidFill>
                <a:latin typeface="微软雅黑" panose="020B0503020204020204" pitchFamily="34" charset="-122"/>
                <a:ea typeface="微软雅黑" panose="020B0503020204020204" pitchFamily="34" charset="-122"/>
              </a:rPr>
              <a:t>离线引擎”在千万级数据量下进行高频同步时的稳定性研究。</a:t>
            </a:r>
            <a:endParaRPr b="1" dirty="0">
              <a:solidFill>
                <a:schemeClr val="bg1"/>
              </a:solidFill>
              <a:latin typeface="微软雅黑" panose="020B0503020204020204" pitchFamily="34" charset="-122"/>
              <a:ea typeface="微软雅黑" panose="020B0503020204020204" pitchFamily="34" charset="-122"/>
            </a:endParaRPr>
          </a:p>
        </p:txBody>
      </p:sp>
      <p:sp>
        <p:nvSpPr>
          <p:cNvPr id="10" name="Google Shape;267;p23">
            <a:extLst>
              <a:ext uri="{FF2B5EF4-FFF2-40B4-BE49-F238E27FC236}">
                <a16:creationId xmlns:a16="http://schemas.microsoft.com/office/drawing/2014/main" id="{DE543C43-B1C2-6BDF-0972-B8919EAF0395}"/>
              </a:ext>
            </a:extLst>
          </p:cNvPr>
          <p:cNvSpPr txBox="1"/>
          <p:nvPr/>
        </p:nvSpPr>
        <p:spPr>
          <a:xfrm>
            <a:off x="749379" y="4315790"/>
            <a:ext cx="4930616"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err="1">
                <a:solidFill>
                  <a:srgbClr val="0AFF00"/>
                </a:solidFill>
                <a:latin typeface="微软雅黑" panose="020B0503020204020204" pitchFamily="34" charset="-122"/>
                <a:ea typeface="微软雅黑" panose="020B0503020204020204" pitchFamily="34" charset="-122"/>
                <a:cs typeface="Inter"/>
                <a:sym typeface="Inter"/>
              </a:rPr>
              <a:t>资源占用平衡</a:t>
            </a:r>
            <a:endParaRPr sz="1800" dirty="0">
              <a:latin typeface="微软雅黑" panose="020B0503020204020204" pitchFamily="34" charset="-122"/>
              <a:ea typeface="微软雅黑" panose="020B0503020204020204" pitchFamily="34" charset="-122"/>
            </a:endParaRPr>
          </a:p>
        </p:txBody>
      </p:sp>
      <p:sp>
        <p:nvSpPr>
          <p:cNvPr id="11" name="Google Shape;268;p23">
            <a:extLst>
              <a:ext uri="{FF2B5EF4-FFF2-40B4-BE49-F238E27FC236}">
                <a16:creationId xmlns:a16="http://schemas.microsoft.com/office/drawing/2014/main" id="{EE907805-7EBF-7F40-985F-A79EEBEC7BBB}"/>
              </a:ext>
            </a:extLst>
          </p:cNvPr>
          <p:cNvSpPr txBox="1"/>
          <p:nvPr/>
        </p:nvSpPr>
        <p:spPr>
          <a:xfrm>
            <a:off x="749379" y="4615872"/>
            <a:ext cx="4695825" cy="1625060"/>
          </a:xfrm>
          <a:prstGeom prst="rect">
            <a:avLst/>
          </a:prstGeom>
          <a:noFill/>
          <a:ln>
            <a:noFill/>
          </a:ln>
        </p:spPr>
        <p:txBody>
          <a:bodyPr spcFirstLastPara="1" wrap="square" lIns="0" tIns="0" rIns="0" bIns="0" anchor="t" anchorCtr="0">
            <a:spAutoFit/>
          </a:bodyPr>
          <a:lstStyle/>
          <a:p>
            <a:pPr algn="just">
              <a:lnSpc>
                <a:spcPct val="159929"/>
              </a:lnSpc>
            </a:pPr>
            <a:r>
              <a:rPr lang="zh-CN" altLang="en-US" sz="1600" b="1" dirty="0">
                <a:solidFill>
                  <a:schemeClr val="bg1"/>
                </a:solidFill>
                <a:latin typeface="微软雅黑" panose="020B0503020204020204" pitchFamily="34" charset="-122"/>
                <a:ea typeface="微软雅黑" panose="020B0503020204020204" pitchFamily="34" charset="-122"/>
              </a:rPr>
              <a:t>在资源受限环境下的轻量级大数据下，如何平衡 </a:t>
            </a:r>
            <a:r>
              <a:rPr lang="en-US" altLang="zh-CN" sz="1600" b="1" dirty="0">
                <a:solidFill>
                  <a:schemeClr val="bg1"/>
                </a:solidFill>
                <a:latin typeface="微软雅黑" panose="020B0503020204020204" pitchFamily="34" charset="-122"/>
                <a:ea typeface="微软雅黑" panose="020B0503020204020204" pitchFamily="34" charset="-122"/>
              </a:rPr>
              <a:t>Spark </a:t>
            </a:r>
            <a:r>
              <a:rPr lang="zh-CN" altLang="en-US" sz="1600" b="1" dirty="0">
                <a:solidFill>
                  <a:schemeClr val="bg1"/>
                </a:solidFill>
                <a:latin typeface="微软雅黑" panose="020B0503020204020204" pitchFamily="34" charset="-122"/>
                <a:ea typeface="微软雅黑" panose="020B0503020204020204" pitchFamily="34" charset="-122"/>
              </a:rPr>
              <a:t>分布 式特征计算与 </a:t>
            </a:r>
            <a:r>
              <a:rPr lang="en-US" altLang="zh-CN" sz="1600" b="1" dirty="0" err="1">
                <a:solidFill>
                  <a:schemeClr val="bg1"/>
                </a:solidFill>
                <a:latin typeface="微软雅黑" panose="020B0503020204020204" pitchFamily="34" charset="-122"/>
                <a:ea typeface="微软雅黑" panose="020B0503020204020204" pitchFamily="34" charset="-122"/>
              </a:rPr>
              <a:t>DeepFM</a:t>
            </a:r>
            <a:r>
              <a:rPr lang="zh-CN" altLang="en-US" sz="1600" b="1" dirty="0">
                <a:solidFill>
                  <a:schemeClr val="bg1"/>
                </a:solidFill>
                <a:latin typeface="微软雅黑" panose="020B0503020204020204" pitchFamily="34" charset="-122"/>
                <a:ea typeface="微软雅黑" panose="020B0503020204020204" pitchFamily="34" charset="-122"/>
              </a:rPr>
              <a:t> 高阶交叉训练的资源占用，避免出现内存溢出现象，是目前实验理论向实际课题转化中的瓶颈。</a:t>
            </a:r>
          </a:p>
        </p:txBody>
      </p:sp>
      <p:sp>
        <p:nvSpPr>
          <p:cNvPr id="12" name="Google Shape;269;p23">
            <a:extLst>
              <a:ext uri="{FF2B5EF4-FFF2-40B4-BE49-F238E27FC236}">
                <a16:creationId xmlns:a16="http://schemas.microsoft.com/office/drawing/2014/main" id="{B2E4D720-8BAE-1494-8F31-3CF24641DB28}"/>
              </a:ext>
            </a:extLst>
          </p:cNvPr>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latin typeface="微软雅黑" panose="020B0503020204020204" pitchFamily="34" charset="-122"/>
                <a:ea typeface="微软雅黑" panose="020B0503020204020204" pitchFamily="34" charset="-122"/>
                <a:cs typeface="Inter"/>
                <a:sym typeface="Inter"/>
              </a:rPr>
              <a:t>拟解决的关键问题</a:t>
            </a:r>
            <a:endParaRPr spc="1000" dirty="0">
              <a:latin typeface="微软雅黑" panose="020B0503020204020204" pitchFamily="34" charset="-122"/>
              <a:ea typeface="微软雅黑" panose="020B0503020204020204" pitchFamily="34" charset="-122"/>
            </a:endParaRPr>
          </a:p>
        </p:txBody>
      </p:sp>
      <p:sp>
        <p:nvSpPr>
          <p:cNvPr id="13" name="Google Shape;270;p23">
            <a:extLst>
              <a:ext uri="{FF2B5EF4-FFF2-40B4-BE49-F238E27FC236}">
                <a16:creationId xmlns:a16="http://schemas.microsoft.com/office/drawing/2014/main" id="{54E6A240-06CE-6CE1-F595-FEE54012C021}"/>
              </a:ext>
            </a:extLst>
          </p:cNvPr>
          <p:cNvSpPr/>
          <p:nvPr/>
        </p:nvSpPr>
        <p:spPr>
          <a:xfrm>
            <a:off x="571500" y="1357610"/>
            <a:ext cx="110490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ustDataLst>
      <p:tags r:id="rId1"/>
    </p:custDataLst>
    <p:extLst>
      <p:ext uri="{BB962C8B-B14F-4D97-AF65-F5344CB8AC3E}">
        <p14:creationId xmlns:p14="http://schemas.microsoft.com/office/powerpoint/2010/main" val="602420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06DBA-4052-E2BA-288E-662CAF3B386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ED5BD9-9AD7-0A4C-A231-48C5352D2726}"/>
              </a:ext>
            </a:extLst>
          </p:cNvPr>
          <p:cNvSpPr>
            <a:spLocks noGrp="1"/>
          </p:cNvSpPr>
          <p:nvPr>
            <p:ph type="title"/>
          </p:nvPr>
        </p:nvSpPr>
        <p:spPr>
          <a:xfrm>
            <a:off x="189131" y="2547826"/>
            <a:ext cx="5698198" cy="1251174"/>
          </a:xfrm>
        </p:spPr>
        <p:txBody>
          <a:bodyPr wrap="square">
            <a:normAutofit fontScale="90000"/>
          </a:bodyPr>
          <a:lstStyle/>
          <a:p>
            <a:pPr lvl="0"/>
            <a:r>
              <a:rPr lang="en-US" dirty="0">
                <a:latin typeface="+mn-ea"/>
                <a:ea typeface="+mn-ea"/>
              </a:rPr>
              <a:t>04.</a:t>
            </a:r>
            <a:r>
              <a:rPr lang="zh-CN" altLang="en-US" dirty="0">
                <a:latin typeface="+mn-ea"/>
                <a:ea typeface="+mn-ea"/>
              </a:rPr>
              <a:t>技术路线和系统架构</a:t>
            </a:r>
            <a:endParaRPr lang="en-US" dirty="0">
              <a:latin typeface="+mn-ea"/>
              <a:ea typeface="+mn-ea"/>
            </a:endParaRPr>
          </a:p>
        </p:txBody>
      </p:sp>
    </p:spTree>
    <p:custDataLst>
      <p:tags r:id="rId1"/>
    </p:custDataLst>
    <p:extLst>
      <p:ext uri="{BB962C8B-B14F-4D97-AF65-F5344CB8AC3E}">
        <p14:creationId xmlns:p14="http://schemas.microsoft.com/office/powerpoint/2010/main" val="2010870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88;p13">
            <a:extLst>
              <a:ext uri="{FF2B5EF4-FFF2-40B4-BE49-F238E27FC236}">
                <a16:creationId xmlns:a16="http://schemas.microsoft.com/office/drawing/2014/main" id="{1C5A5ED8-C5AE-C2EA-328B-0C723CD9CFA1}"/>
              </a:ext>
            </a:extLst>
          </p:cNvPr>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spc="1000" dirty="0" err="1">
                <a:latin typeface="微软雅黑" panose="020B0503020204020204" pitchFamily="34" charset="-122"/>
                <a:ea typeface="微软雅黑" panose="020B0503020204020204" pitchFamily="34" charset="-122"/>
                <a:cs typeface="Inter ExtraBold"/>
                <a:sym typeface="Inter ExtraBold"/>
              </a:rPr>
              <a:t>系统总体架构</a:t>
            </a:r>
            <a:endParaRPr sz="2850" b="1" spc="1000" dirty="0">
              <a:latin typeface="微软雅黑" panose="020B0503020204020204" pitchFamily="34" charset="-122"/>
              <a:ea typeface="微软雅黑" panose="020B0503020204020204" pitchFamily="34" charset="-122"/>
            </a:endParaRPr>
          </a:p>
        </p:txBody>
      </p:sp>
      <p:cxnSp>
        <p:nvCxnSpPr>
          <p:cNvPr id="13" name="直接连接符 12">
            <a:extLst>
              <a:ext uri="{FF2B5EF4-FFF2-40B4-BE49-F238E27FC236}">
                <a16:creationId xmlns:a16="http://schemas.microsoft.com/office/drawing/2014/main" id="{C3C926E3-D46C-7836-042C-E962D6E07C85}"/>
              </a:ext>
            </a:extLst>
          </p:cNvPr>
          <p:cNvCxnSpPr>
            <a:cxnSpLocks/>
          </p:cNvCxnSpPr>
          <p:nvPr/>
        </p:nvCxnSpPr>
        <p:spPr>
          <a:xfrm>
            <a:off x="485775" y="109728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pic>
        <p:nvPicPr>
          <p:cNvPr id="15" name="图片 14" descr="电视游戏的萤幕截图&#10;&#10;AI 生成的内容可能不正确。">
            <a:extLst>
              <a:ext uri="{FF2B5EF4-FFF2-40B4-BE49-F238E27FC236}">
                <a16:creationId xmlns:a16="http://schemas.microsoft.com/office/drawing/2014/main" id="{3E1EBD4F-5471-C31A-26E3-198C2D5B416A}"/>
              </a:ext>
            </a:extLst>
          </p:cNvPr>
          <p:cNvPicPr>
            <a:picLocks noChangeAspect="1"/>
          </p:cNvPicPr>
          <p:nvPr/>
        </p:nvPicPr>
        <p:blipFill>
          <a:blip r:embed="rId4"/>
          <a:stretch>
            <a:fillRect/>
          </a:stretch>
        </p:blipFill>
        <p:spPr>
          <a:xfrm>
            <a:off x="470414" y="1295400"/>
            <a:ext cx="11140560" cy="5390476"/>
          </a:xfrm>
          <a:prstGeom prst="rect">
            <a:avLst/>
          </a:prstGeom>
        </p:spPr>
      </p:pic>
    </p:spTree>
    <p:custDataLst>
      <p:tags r:id="rId1"/>
    </p:custDataLst>
    <p:extLst>
      <p:ext uri="{BB962C8B-B14F-4D97-AF65-F5344CB8AC3E}">
        <p14:creationId xmlns:p14="http://schemas.microsoft.com/office/powerpoint/2010/main" val="1287401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7E403-0826-94C6-CDD9-7967120FF783}"/>
            </a:ext>
          </a:extLst>
        </p:cNvPr>
        <p:cNvGrpSpPr/>
        <p:nvPr/>
      </p:nvGrpSpPr>
      <p:grpSpPr>
        <a:xfrm>
          <a:off x="0" y="0"/>
          <a:ext cx="0" cy="0"/>
          <a:chOff x="0" y="0"/>
          <a:chExt cx="0" cy="0"/>
        </a:xfrm>
      </p:grpSpPr>
      <p:sp>
        <p:nvSpPr>
          <p:cNvPr id="2" name="Google Shape;90;p13">
            <a:extLst>
              <a:ext uri="{FF2B5EF4-FFF2-40B4-BE49-F238E27FC236}">
                <a16:creationId xmlns:a16="http://schemas.microsoft.com/office/drawing/2014/main" id="{CDF9D180-C3A3-B303-85BA-AEE450AF2D55}"/>
              </a:ext>
            </a:extLst>
          </p:cNvPr>
          <p:cNvSpPr txBox="1"/>
          <p:nvPr/>
        </p:nvSpPr>
        <p:spPr>
          <a:xfrm>
            <a:off x="476250" y="399834"/>
            <a:ext cx="11715750" cy="438582"/>
          </a:xfrm>
          <a:prstGeom prst="rect">
            <a:avLst/>
          </a:prstGeom>
          <a:noFill/>
          <a:ln>
            <a:noFill/>
          </a:ln>
        </p:spPr>
        <p:txBody>
          <a:bodyPr spcFirstLastPara="1" wrap="square" lIns="0" tIns="0" rIns="0" bIns="0" anchor="ctr" anchorCtr="0">
            <a:spAutoFit/>
          </a:bodyPr>
          <a:lstStyle/>
          <a:p>
            <a:pPr lvl="0"/>
            <a:r>
              <a:rPr lang="en-US" sz="2850" b="1" spc="1000" dirty="0" err="1">
                <a:latin typeface="微软雅黑" panose="020B0503020204020204" pitchFamily="34" charset="-122"/>
                <a:ea typeface="微软雅黑" panose="020B0503020204020204" pitchFamily="34" charset="-122"/>
                <a:sym typeface="Inter"/>
              </a:rPr>
              <a:t>技术路线</a:t>
            </a:r>
            <a:endParaRPr sz="2850" b="1" spc="1000" dirty="0">
              <a:latin typeface="微软雅黑" panose="020B0503020204020204" pitchFamily="34" charset="-122"/>
              <a:ea typeface="微软雅黑" panose="020B0503020204020204" pitchFamily="34" charset="-122"/>
            </a:endParaRPr>
          </a:p>
        </p:txBody>
      </p:sp>
      <p:sp>
        <p:nvSpPr>
          <p:cNvPr id="3" name="Google Shape;91;p13">
            <a:extLst>
              <a:ext uri="{FF2B5EF4-FFF2-40B4-BE49-F238E27FC236}">
                <a16:creationId xmlns:a16="http://schemas.microsoft.com/office/drawing/2014/main" id="{A518BA21-F471-B220-668E-876F93B6A0A3}"/>
              </a:ext>
            </a:extLst>
          </p:cNvPr>
          <p:cNvSpPr/>
          <p:nvPr/>
        </p:nvSpPr>
        <p:spPr>
          <a:xfrm>
            <a:off x="476250" y="990600"/>
            <a:ext cx="112395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4" name="组合 3">
            <a:extLst>
              <a:ext uri="{FF2B5EF4-FFF2-40B4-BE49-F238E27FC236}">
                <a16:creationId xmlns:a16="http://schemas.microsoft.com/office/drawing/2014/main" id="{5CC80B54-4AEB-7655-4408-9232525F5D3D}"/>
              </a:ext>
            </a:extLst>
          </p:cNvPr>
          <p:cNvGrpSpPr/>
          <p:nvPr/>
        </p:nvGrpSpPr>
        <p:grpSpPr>
          <a:xfrm>
            <a:off x="476250" y="1381125"/>
            <a:ext cx="2133600" cy="5095875"/>
            <a:chOff x="476250" y="1381125"/>
            <a:chExt cx="2133600" cy="5095875"/>
          </a:xfrm>
          <a:solidFill>
            <a:srgbClr val="92D050">
              <a:alpha val="8000"/>
            </a:srgbClr>
          </a:solidFill>
        </p:grpSpPr>
        <p:pic>
          <p:nvPicPr>
            <p:cNvPr id="5" name="Google Shape;85;p13" descr="image.png">
              <a:extLst>
                <a:ext uri="{FF2B5EF4-FFF2-40B4-BE49-F238E27FC236}">
                  <a16:creationId xmlns:a16="http://schemas.microsoft.com/office/drawing/2014/main" id="{178B2A66-F811-D06C-2DC6-BC146F5CBC99}"/>
                </a:ext>
              </a:extLst>
            </p:cNvPr>
            <p:cNvPicPr preferRelativeResize="0"/>
            <p:nvPr/>
          </p:nvPicPr>
          <p:blipFill rotWithShape="1">
            <a:blip r:embed="rId4">
              <a:duotone>
                <a:prstClr val="black"/>
                <a:srgbClr val="00B050">
                  <a:tint val="45000"/>
                  <a:satMod val="400000"/>
                </a:srgbClr>
              </a:duotone>
              <a:alphaModFix amt="37000"/>
            </a:blip>
            <a:srcRect/>
            <a:stretch/>
          </p:blipFill>
          <p:spPr>
            <a:xfrm>
              <a:off x="476250" y="1381125"/>
              <a:ext cx="2133600" cy="5095875"/>
            </a:xfrm>
            <a:prstGeom prst="rect">
              <a:avLst/>
            </a:prstGeom>
            <a:grpFill/>
            <a:ln>
              <a:noFill/>
            </a:ln>
          </p:spPr>
        </p:pic>
        <p:sp>
          <p:nvSpPr>
            <p:cNvPr id="6" name="Google Shape;92;p13">
              <a:extLst>
                <a:ext uri="{FF2B5EF4-FFF2-40B4-BE49-F238E27FC236}">
                  <a16:creationId xmlns:a16="http://schemas.microsoft.com/office/drawing/2014/main" id="{533E6C71-8781-E91B-6EF6-772001E0570E}"/>
                </a:ext>
              </a:extLst>
            </p:cNvPr>
            <p:cNvSpPr txBox="1"/>
            <p:nvPr/>
          </p:nvSpPr>
          <p:spPr>
            <a:xfrm>
              <a:off x="2066925" y="1457325"/>
              <a:ext cx="4381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dirty="0">
                  <a:latin typeface="Arial" panose="020B0604020202020204" pitchFamily="34" charset="0"/>
                  <a:ea typeface="微软雅黑" panose="020B0503020204020204" pitchFamily="34" charset="-122"/>
                  <a:cs typeface="Inter ExtraBold"/>
                  <a:sym typeface="Inter ExtraBold"/>
                </a:rPr>
                <a:t>01</a:t>
              </a:r>
              <a:endParaRPr dirty="0">
                <a:latin typeface="Arial" panose="020B0604020202020204" pitchFamily="34" charset="0"/>
                <a:ea typeface="微软雅黑" panose="020B0503020204020204" pitchFamily="34" charset="-122"/>
              </a:endParaRPr>
            </a:p>
          </p:txBody>
        </p:sp>
        <p:sp>
          <p:nvSpPr>
            <p:cNvPr id="7" name="Google Shape;97;p13">
              <a:extLst>
                <a:ext uri="{FF2B5EF4-FFF2-40B4-BE49-F238E27FC236}">
                  <a16:creationId xmlns:a16="http://schemas.microsoft.com/office/drawing/2014/main" id="{91B2823D-09FE-3421-4CFA-088032786A12}"/>
                </a:ext>
              </a:extLst>
            </p:cNvPr>
            <p:cNvSpPr txBox="1"/>
            <p:nvPr/>
          </p:nvSpPr>
          <p:spPr>
            <a:xfrm>
              <a:off x="628650" y="1600200"/>
              <a:ext cx="8572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err="1">
                  <a:latin typeface="微软雅黑" panose="020B0503020204020204" pitchFamily="34" charset="-122"/>
                  <a:ea typeface="微软雅黑" panose="020B0503020204020204" pitchFamily="34" charset="-122"/>
                  <a:cs typeface="Inter"/>
                  <a:sym typeface="Inter"/>
                </a:rPr>
                <a:t>数据采集</a:t>
              </a:r>
              <a:endParaRPr sz="1600" dirty="0">
                <a:latin typeface="微软雅黑" panose="020B0503020204020204" pitchFamily="34" charset="-122"/>
                <a:ea typeface="微软雅黑" panose="020B0503020204020204" pitchFamily="34" charset="-122"/>
              </a:endParaRPr>
            </a:p>
          </p:txBody>
        </p:sp>
        <p:sp>
          <p:nvSpPr>
            <p:cNvPr id="8" name="Google Shape;98;p13">
              <a:extLst>
                <a:ext uri="{FF2B5EF4-FFF2-40B4-BE49-F238E27FC236}">
                  <a16:creationId xmlns:a16="http://schemas.microsoft.com/office/drawing/2014/main" id="{60909FB9-AD49-2FBA-8896-1C2C9CC788ED}"/>
                </a:ext>
              </a:extLst>
            </p:cNvPr>
            <p:cNvSpPr txBox="1"/>
            <p:nvPr/>
          </p:nvSpPr>
          <p:spPr>
            <a:xfrm>
              <a:off x="628650" y="1934467"/>
              <a:ext cx="1828800" cy="4431983"/>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本系统构建于标准的 </a:t>
              </a:r>
              <a:r>
                <a:rPr lang="en-US" altLang="zh-CN" sz="1200" b="1" dirty="0">
                  <a:solidFill>
                    <a:schemeClr val="tx1"/>
                  </a:solidFill>
                  <a:latin typeface="微软雅黑" panose="020B0503020204020204" pitchFamily="34" charset="-122"/>
                  <a:ea typeface="微软雅黑" panose="020B0503020204020204" pitchFamily="34" charset="-122"/>
                </a:rPr>
                <a:t>Java Web </a:t>
              </a:r>
              <a:r>
                <a:rPr lang="zh-CN" altLang="en-US" sz="1200" b="1" dirty="0">
                  <a:solidFill>
                    <a:schemeClr val="tx1"/>
                  </a:solidFill>
                  <a:latin typeface="微软雅黑" panose="020B0503020204020204" pitchFamily="34" charset="-122"/>
                  <a:ea typeface="微软雅黑" panose="020B0503020204020204" pitchFamily="34" charset="-122"/>
                </a:rPr>
                <a:t>业务环境之上，利用数据访问对象（</a:t>
              </a:r>
              <a:r>
                <a:rPr lang="en-US" altLang="zh-CN" sz="1200" b="1" dirty="0">
                  <a:solidFill>
                    <a:schemeClr val="tx1"/>
                  </a:solidFill>
                  <a:latin typeface="微软雅黑" panose="020B0503020204020204" pitchFamily="34" charset="-122"/>
                  <a:ea typeface="微软雅黑" panose="020B0503020204020204" pitchFamily="34" charset="-122"/>
                </a:rPr>
                <a:t>DAO</a:t>
              </a:r>
              <a:r>
                <a:rPr lang="zh-CN" altLang="en-US" sz="1200" b="1" dirty="0">
                  <a:solidFill>
                    <a:schemeClr val="tx1"/>
                  </a:solidFill>
                  <a:latin typeface="微软雅黑" panose="020B0503020204020204" pitchFamily="34" charset="-122"/>
                  <a:ea typeface="微软雅黑" panose="020B0503020204020204" pitchFamily="34" charset="-122"/>
                </a:rPr>
                <a:t>）模式实现业务逻辑与数据持久层的解耦，通过在前端部署全链路埋点探针，实时监听页面并捕获用户的多维交互行为 。系统不仅记录基础的播放日志，还深度采集用户的搜索关键词、收藏列表等显性反馈数据，并将这些涵盖用户意图的原始交互日志实时持久化至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业务数据库中 ，从而为后续的画像建模积累海量且真实的“数字足迹” 。</a:t>
              </a:r>
              <a:endParaRPr lang="en-US" sz="1200" b="1" dirty="0">
                <a:solidFill>
                  <a:schemeClr val="tx1"/>
                </a:solidFill>
                <a:latin typeface="微软雅黑" panose="020B0503020204020204" pitchFamily="34" charset="-122"/>
                <a:ea typeface="微软雅黑" panose="020B0503020204020204" pitchFamily="34" charset="-122"/>
              </a:endParaRPr>
            </a:p>
          </p:txBody>
        </p:sp>
      </p:grpSp>
      <p:grpSp>
        <p:nvGrpSpPr>
          <p:cNvPr id="9" name="组合 8">
            <a:extLst>
              <a:ext uri="{FF2B5EF4-FFF2-40B4-BE49-F238E27FC236}">
                <a16:creationId xmlns:a16="http://schemas.microsoft.com/office/drawing/2014/main" id="{022EB02B-EC75-644C-BA9C-654D61932CB4}"/>
              </a:ext>
            </a:extLst>
          </p:cNvPr>
          <p:cNvGrpSpPr/>
          <p:nvPr/>
        </p:nvGrpSpPr>
        <p:grpSpPr>
          <a:xfrm>
            <a:off x="2752725" y="1381125"/>
            <a:ext cx="2133600" cy="5095875"/>
            <a:chOff x="2752725" y="1381125"/>
            <a:chExt cx="2133600" cy="5095875"/>
          </a:xfrm>
          <a:solidFill>
            <a:srgbClr val="00FFFF">
              <a:alpha val="8000"/>
            </a:srgbClr>
          </a:solidFill>
        </p:grpSpPr>
        <p:pic>
          <p:nvPicPr>
            <p:cNvPr id="10" name="Google Shape;86;p13" descr="image.png">
              <a:extLst>
                <a:ext uri="{FF2B5EF4-FFF2-40B4-BE49-F238E27FC236}">
                  <a16:creationId xmlns:a16="http://schemas.microsoft.com/office/drawing/2014/main" id="{1721B73A-2A33-04AA-8CCA-BF4D7B9ED063}"/>
                </a:ext>
              </a:extLst>
            </p:cNvPr>
            <p:cNvPicPr preferRelativeResize="0"/>
            <p:nvPr/>
          </p:nvPicPr>
          <p:blipFill rotWithShape="1">
            <a:blip r:embed="rId5">
              <a:alphaModFix/>
            </a:blip>
            <a:srcRect/>
            <a:stretch/>
          </p:blipFill>
          <p:spPr>
            <a:xfrm>
              <a:off x="2752725" y="1381125"/>
              <a:ext cx="2133600" cy="5095875"/>
            </a:xfrm>
            <a:prstGeom prst="rect">
              <a:avLst/>
            </a:prstGeom>
            <a:grpFill/>
            <a:ln>
              <a:noFill/>
            </a:ln>
          </p:spPr>
        </p:pic>
        <p:sp>
          <p:nvSpPr>
            <p:cNvPr id="11" name="Google Shape;93;p13">
              <a:extLst>
                <a:ext uri="{FF2B5EF4-FFF2-40B4-BE49-F238E27FC236}">
                  <a16:creationId xmlns:a16="http://schemas.microsoft.com/office/drawing/2014/main" id="{FF4ECE3A-2BFB-EEFB-5467-8FA9AD24E6FC}"/>
                </a:ext>
              </a:extLst>
            </p:cNvPr>
            <p:cNvSpPr txBox="1"/>
            <p:nvPr/>
          </p:nvSpPr>
          <p:spPr>
            <a:xfrm>
              <a:off x="4267200" y="1457325"/>
              <a:ext cx="5143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dirty="0">
                  <a:latin typeface="Arial" panose="020B0604020202020204" pitchFamily="34" charset="0"/>
                  <a:ea typeface="微软雅黑" panose="020B0503020204020204" pitchFamily="34" charset="-122"/>
                  <a:cs typeface="Inter ExtraBold"/>
                  <a:sym typeface="Inter ExtraBold"/>
                </a:rPr>
                <a:t>02</a:t>
              </a:r>
              <a:endParaRPr dirty="0">
                <a:latin typeface="Arial" panose="020B0604020202020204" pitchFamily="34" charset="0"/>
                <a:ea typeface="微软雅黑" panose="020B0503020204020204" pitchFamily="34" charset="-122"/>
              </a:endParaRPr>
            </a:p>
          </p:txBody>
        </p:sp>
        <p:sp>
          <p:nvSpPr>
            <p:cNvPr id="12" name="Google Shape;99;p13">
              <a:extLst>
                <a:ext uri="{FF2B5EF4-FFF2-40B4-BE49-F238E27FC236}">
                  <a16:creationId xmlns:a16="http://schemas.microsoft.com/office/drawing/2014/main" id="{E0DEF172-0391-DB0D-508B-495454FF7647}"/>
                </a:ext>
              </a:extLst>
            </p:cNvPr>
            <p:cNvSpPr txBox="1"/>
            <p:nvPr/>
          </p:nvSpPr>
          <p:spPr>
            <a:xfrm>
              <a:off x="2905125" y="1600200"/>
              <a:ext cx="131445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err="1">
                  <a:latin typeface="微软雅黑" panose="020B0503020204020204" pitchFamily="34" charset="-122"/>
                  <a:ea typeface="微软雅黑" panose="020B0503020204020204" pitchFamily="34" charset="-122"/>
                  <a:cs typeface="Inter"/>
                  <a:sym typeface="Inter"/>
                </a:rPr>
                <a:t>分布式预处理</a:t>
              </a:r>
              <a:endParaRPr sz="1600" dirty="0">
                <a:latin typeface="微软雅黑" panose="020B0503020204020204" pitchFamily="34" charset="-122"/>
                <a:ea typeface="微软雅黑" panose="020B0503020204020204" pitchFamily="34" charset="-122"/>
              </a:endParaRPr>
            </a:p>
          </p:txBody>
        </p:sp>
        <p:sp>
          <p:nvSpPr>
            <p:cNvPr id="13" name="Google Shape;100;p13">
              <a:extLst>
                <a:ext uri="{FF2B5EF4-FFF2-40B4-BE49-F238E27FC236}">
                  <a16:creationId xmlns:a16="http://schemas.microsoft.com/office/drawing/2014/main" id="{5288065C-CBAD-B29B-BE63-58E8FBFA8F20}"/>
                </a:ext>
              </a:extLst>
            </p:cNvPr>
            <p:cNvSpPr txBox="1"/>
            <p:nvPr/>
          </p:nvSpPr>
          <p:spPr>
            <a:xfrm>
              <a:off x="2905125" y="1930657"/>
              <a:ext cx="1828800" cy="4431983"/>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latin typeface="微软雅黑" panose="020B0503020204020204" pitchFamily="34" charset="-122"/>
                  <a:ea typeface="微软雅黑" panose="020B0503020204020204" pitchFamily="34" charset="-122"/>
                </a:rPr>
                <a:t>鉴于单机环境难以处理千万级交互日志的计算瓶颈，系统引入 </a:t>
              </a:r>
              <a:r>
                <a:rPr lang="en-US" altLang="zh-CN" sz="1200" b="1" dirty="0" err="1">
                  <a:latin typeface="微软雅黑" panose="020B0503020204020204" pitchFamily="34" charset="-122"/>
                  <a:ea typeface="微软雅黑" panose="020B0503020204020204" pitchFamily="34" charset="-122"/>
                </a:rPr>
                <a:t>PySpark</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构建分布式大数据处理流水线，通过 </a:t>
              </a:r>
              <a:r>
                <a:rPr lang="en-US" altLang="zh-CN" sz="1200" b="1" dirty="0">
                  <a:latin typeface="微软雅黑" panose="020B0503020204020204" pitchFamily="34" charset="-122"/>
                  <a:ea typeface="微软雅黑" panose="020B0503020204020204" pitchFamily="34" charset="-122"/>
                </a:rPr>
                <a:t>JDBC </a:t>
              </a:r>
              <a:r>
                <a:rPr lang="zh-CN" altLang="en-US" sz="1200" b="1" dirty="0">
                  <a:latin typeface="微软雅黑" panose="020B0503020204020204" pitchFamily="34" charset="-122"/>
                  <a:ea typeface="微软雅黑" panose="020B0503020204020204" pitchFamily="34" charset="-122"/>
                </a:rPr>
                <a:t>接口定期从 </a:t>
              </a:r>
              <a:r>
                <a:rPr lang="en-US" altLang="zh-CN" sz="1200" b="1" dirty="0">
                  <a:latin typeface="微软雅黑" panose="020B0503020204020204" pitchFamily="34" charset="-122"/>
                  <a:ea typeface="微软雅黑" panose="020B0503020204020204" pitchFamily="34" charset="-122"/>
                </a:rPr>
                <a:t>MySQL </a:t>
              </a:r>
              <a:r>
                <a:rPr lang="zh-CN" altLang="en-US" sz="1200" b="1" dirty="0">
                  <a:latin typeface="微软雅黑" panose="020B0503020204020204" pitchFamily="34" charset="-122"/>
                  <a:ea typeface="微软雅黑" panose="020B0503020204020204" pitchFamily="34" charset="-122"/>
                </a:rPr>
                <a:t>中抽取增量行为数据至 </a:t>
              </a:r>
              <a:r>
                <a:rPr lang="en-US" altLang="zh-CN" sz="1200" b="1" dirty="0">
                  <a:latin typeface="微软雅黑" panose="020B0503020204020204" pitchFamily="34" charset="-122"/>
                  <a:ea typeface="微软雅黑" panose="020B0503020204020204" pitchFamily="34" charset="-122"/>
                </a:rPr>
                <a:t>HDFS </a:t>
              </a:r>
              <a:r>
                <a:rPr lang="zh-CN" altLang="en-US" sz="1200" b="1" dirty="0">
                  <a:latin typeface="微软雅黑" panose="020B0503020204020204" pitchFamily="34" charset="-122"/>
                  <a:ea typeface="微软雅黑" panose="020B0503020204020204" pitchFamily="34" charset="-122"/>
                </a:rPr>
                <a:t>分布式文件系统或内存中进行并行处理 。在此阶段，系统执行严格的数据清洗（</a:t>
              </a:r>
              <a:r>
                <a:rPr lang="en-US" altLang="zh-CN" sz="1200" b="1" dirty="0">
                  <a:latin typeface="微软雅黑" panose="020B0503020204020204" pitchFamily="34" charset="-122"/>
                  <a:ea typeface="微软雅黑" panose="020B0503020204020204" pitchFamily="34" charset="-122"/>
                </a:rPr>
                <a:t>ETL</a:t>
              </a:r>
              <a:r>
                <a:rPr lang="zh-CN" altLang="en-US" sz="1200" b="1" dirty="0">
                  <a:latin typeface="微软雅黑" panose="020B0503020204020204" pitchFamily="34" charset="-122"/>
                  <a:ea typeface="微软雅黑" panose="020B0503020204020204" pitchFamily="34" charset="-122"/>
                </a:rPr>
                <a:t>）以剔除异常流量，对于内存资源限制，采用特征分片与数据类型下采样技术完成特征工程 ，将非结构化的原始日志转化为算法可识别的数值向量，有效缓解特征维数灾难 。</a:t>
              </a:r>
              <a:endParaRPr b="1" dirty="0">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id="{99A11AA5-6ACC-82CD-9455-3828A000F54E}"/>
              </a:ext>
            </a:extLst>
          </p:cNvPr>
          <p:cNvGrpSpPr/>
          <p:nvPr/>
        </p:nvGrpSpPr>
        <p:grpSpPr>
          <a:xfrm>
            <a:off x="5029200" y="1381125"/>
            <a:ext cx="2133600" cy="5095875"/>
            <a:chOff x="5029200" y="1381125"/>
            <a:chExt cx="2133600" cy="5095875"/>
          </a:xfrm>
          <a:solidFill>
            <a:srgbClr val="C614FF">
              <a:alpha val="8000"/>
            </a:srgbClr>
          </a:solidFill>
        </p:grpSpPr>
        <p:pic>
          <p:nvPicPr>
            <p:cNvPr id="15" name="Google Shape;87;p13" descr="image.png">
              <a:extLst>
                <a:ext uri="{FF2B5EF4-FFF2-40B4-BE49-F238E27FC236}">
                  <a16:creationId xmlns:a16="http://schemas.microsoft.com/office/drawing/2014/main" id="{42C976AB-A5F7-2A6E-89BA-52A56E557899}"/>
                </a:ext>
              </a:extLst>
            </p:cNvPr>
            <p:cNvPicPr preferRelativeResize="0"/>
            <p:nvPr/>
          </p:nvPicPr>
          <p:blipFill rotWithShape="1">
            <a:blip r:embed="rId6">
              <a:alphaModFix/>
            </a:blip>
            <a:srcRect/>
            <a:stretch/>
          </p:blipFill>
          <p:spPr>
            <a:xfrm>
              <a:off x="5029200" y="1381125"/>
              <a:ext cx="2133600" cy="5095875"/>
            </a:xfrm>
            <a:prstGeom prst="rect">
              <a:avLst/>
            </a:prstGeom>
            <a:grpFill/>
            <a:ln>
              <a:noFill/>
            </a:ln>
          </p:spPr>
        </p:pic>
        <p:sp>
          <p:nvSpPr>
            <p:cNvPr id="16" name="Google Shape;94;p13">
              <a:extLst>
                <a:ext uri="{FF2B5EF4-FFF2-40B4-BE49-F238E27FC236}">
                  <a16:creationId xmlns:a16="http://schemas.microsoft.com/office/drawing/2014/main" id="{CA740A09-35AD-B1CC-9B2E-6158F5E31C51}"/>
                </a:ext>
              </a:extLst>
            </p:cNvPr>
            <p:cNvSpPr txBox="1"/>
            <p:nvPr/>
          </p:nvSpPr>
          <p:spPr>
            <a:xfrm>
              <a:off x="6543675" y="1457325"/>
              <a:ext cx="5143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dirty="0">
                  <a:latin typeface="Arial" panose="020B0604020202020204" pitchFamily="34" charset="0"/>
                  <a:ea typeface="微软雅黑" panose="020B0503020204020204" pitchFamily="34" charset="-122"/>
                  <a:cs typeface="Inter ExtraBold"/>
                  <a:sym typeface="Inter ExtraBold"/>
                </a:rPr>
                <a:t>03</a:t>
              </a:r>
              <a:endParaRPr dirty="0">
                <a:latin typeface="Arial" panose="020B0604020202020204" pitchFamily="34" charset="0"/>
                <a:ea typeface="微软雅黑" panose="020B0503020204020204" pitchFamily="34" charset="-122"/>
              </a:endParaRPr>
            </a:p>
          </p:txBody>
        </p:sp>
        <p:sp>
          <p:nvSpPr>
            <p:cNvPr id="17" name="Google Shape;101;p13">
              <a:extLst>
                <a:ext uri="{FF2B5EF4-FFF2-40B4-BE49-F238E27FC236}">
                  <a16:creationId xmlns:a16="http://schemas.microsoft.com/office/drawing/2014/main" id="{1146071D-19D3-ED83-E8EA-7E83B3C2DA58}"/>
                </a:ext>
              </a:extLst>
            </p:cNvPr>
            <p:cNvSpPr txBox="1"/>
            <p:nvPr/>
          </p:nvSpPr>
          <p:spPr>
            <a:xfrm>
              <a:off x="5181600" y="1600200"/>
              <a:ext cx="130492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err="1">
                  <a:latin typeface="微软雅黑" panose="020B0503020204020204" pitchFamily="34" charset="-122"/>
                  <a:ea typeface="微软雅黑" panose="020B0503020204020204" pitchFamily="34" charset="-122"/>
                  <a:sym typeface="Inter"/>
                </a:rPr>
                <a:t>混合推荐计算</a:t>
              </a:r>
              <a:endParaRPr sz="1600" b="1" dirty="0">
                <a:latin typeface="微软雅黑" panose="020B0503020204020204" pitchFamily="34" charset="-122"/>
                <a:ea typeface="微软雅黑" panose="020B0503020204020204" pitchFamily="34" charset="-122"/>
              </a:endParaRPr>
            </a:p>
          </p:txBody>
        </p:sp>
        <p:sp>
          <p:nvSpPr>
            <p:cNvPr id="18" name="Google Shape;102;p13">
              <a:extLst>
                <a:ext uri="{FF2B5EF4-FFF2-40B4-BE49-F238E27FC236}">
                  <a16:creationId xmlns:a16="http://schemas.microsoft.com/office/drawing/2014/main" id="{C80F5AE0-551C-114E-BA91-5435336C1B47}"/>
                </a:ext>
              </a:extLst>
            </p:cNvPr>
            <p:cNvSpPr txBox="1"/>
            <p:nvPr/>
          </p:nvSpPr>
          <p:spPr>
            <a:xfrm>
              <a:off x="5191125" y="1930657"/>
              <a:ext cx="1828800" cy="4431983"/>
            </a:xfrm>
            <a:prstGeom prst="rect">
              <a:avLst/>
            </a:prstGeom>
            <a:noFill/>
            <a:ln>
              <a:noFill/>
            </a:ln>
          </p:spPr>
          <p:txBody>
            <a:bodyPr spcFirstLastPara="1" wrap="square" lIns="0" tIns="0" rIns="0" bIns="0" anchor="t" anchorCtr="0">
              <a:spAutoFit/>
            </a:bodyPr>
            <a:lstStyle/>
            <a:p>
              <a:pPr lvl="0">
                <a:lnSpc>
                  <a:spcPct val="150000"/>
                </a:lnSpc>
              </a:pPr>
              <a:r>
                <a:rPr lang="zh-CN" altLang="en-US" sz="1200" b="1" dirty="0">
                  <a:latin typeface="微软雅黑" panose="020B0503020204020204" pitchFamily="34" charset="-122"/>
                  <a:ea typeface="微软雅黑" panose="020B0503020204020204" pitchFamily="34" charset="-122"/>
                </a:rPr>
                <a:t>这是系统的核心决策层，采用“协同过滤召回 </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深度学习排序”的混合架构来平衡推荐的广度与精度 。首先利用 </a:t>
              </a:r>
              <a:r>
                <a:rPr lang="en-US" altLang="zh-CN" sz="1200" b="1" dirty="0">
                  <a:latin typeface="微软雅黑" panose="020B0503020204020204" pitchFamily="34" charset="-122"/>
                  <a:ea typeface="微软雅黑" panose="020B0503020204020204" pitchFamily="34" charset="-122"/>
                </a:rPr>
                <a:t>Spark </a:t>
              </a:r>
              <a:r>
                <a:rPr lang="en-US" altLang="zh-CN" sz="1200" b="1" dirty="0" err="1">
                  <a:latin typeface="微软雅黑" panose="020B0503020204020204" pitchFamily="34" charset="-122"/>
                  <a:ea typeface="微软雅黑" panose="020B0503020204020204" pitchFamily="34" charset="-122"/>
                </a:rPr>
                <a:t>MLlib</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库中的 </a:t>
              </a:r>
              <a:r>
                <a:rPr lang="en-US" altLang="zh-CN" sz="1200" b="1" dirty="0">
                  <a:latin typeface="微软雅黑" panose="020B0503020204020204" pitchFamily="34" charset="-122"/>
                  <a:ea typeface="微软雅黑" panose="020B0503020204020204" pitchFamily="34" charset="-122"/>
                </a:rPr>
                <a:t>ALS</a:t>
              </a:r>
              <a:r>
                <a:rPr lang="zh-CN" altLang="en-US" sz="1200" b="1" dirty="0">
                  <a:latin typeface="微软雅黑" panose="020B0503020204020204" pitchFamily="34" charset="-122"/>
                  <a:ea typeface="微软雅黑" panose="020B0503020204020204" pitchFamily="34" charset="-122"/>
                </a:rPr>
                <a:t>（交替最小二乘法）矩阵分解算法处理稀疏矩阵，从海量曲库中初筛出高相关性的候选集以缩小计算范围 ；随后加载训练好的 </a:t>
              </a:r>
              <a:r>
                <a:rPr lang="en-US" altLang="zh-CN" sz="1200" b="1" dirty="0" err="1">
                  <a:latin typeface="微软雅黑" panose="020B0503020204020204" pitchFamily="34" charset="-122"/>
                  <a:ea typeface="微软雅黑" panose="020B0503020204020204" pitchFamily="34" charset="-122"/>
                </a:rPr>
                <a:t>DeepFM</a:t>
              </a:r>
              <a:r>
                <a:rPr lang="zh-CN" altLang="en-US" sz="1200" b="1" dirty="0">
                  <a:latin typeface="微软雅黑" panose="020B0503020204020204" pitchFamily="34" charset="-122"/>
                  <a:ea typeface="微软雅黑" panose="020B0503020204020204" pitchFamily="34" charset="-122"/>
                </a:rPr>
                <a:t>（深度因子分解机）模型对候选集进行精细化排序，该模型能够自动捕捉用户行为与音乐属性之间的高阶非线性关系 ，从而输出精准的点击率预测结果。</a:t>
              </a:r>
              <a:endParaRPr sz="1200" b="1" dirty="0">
                <a:latin typeface="微软雅黑" panose="020B0503020204020204" pitchFamily="34" charset="-122"/>
                <a:ea typeface="微软雅黑" panose="020B0503020204020204" pitchFamily="34" charset="-122"/>
              </a:endParaRPr>
            </a:p>
          </p:txBody>
        </p:sp>
      </p:grpSp>
      <p:grpSp>
        <p:nvGrpSpPr>
          <p:cNvPr id="19" name="组合 18">
            <a:extLst>
              <a:ext uri="{FF2B5EF4-FFF2-40B4-BE49-F238E27FC236}">
                <a16:creationId xmlns:a16="http://schemas.microsoft.com/office/drawing/2014/main" id="{228CBDF1-EEE4-E24B-D5D8-78590E8C290B}"/>
              </a:ext>
            </a:extLst>
          </p:cNvPr>
          <p:cNvGrpSpPr/>
          <p:nvPr/>
        </p:nvGrpSpPr>
        <p:grpSpPr>
          <a:xfrm>
            <a:off x="7305675" y="1381125"/>
            <a:ext cx="2133600" cy="5095875"/>
            <a:chOff x="7305675" y="1381125"/>
            <a:chExt cx="2133600" cy="5095875"/>
          </a:xfrm>
        </p:grpSpPr>
        <p:pic>
          <p:nvPicPr>
            <p:cNvPr id="20" name="Google Shape;88;p13" descr="image.png">
              <a:extLst>
                <a:ext uri="{FF2B5EF4-FFF2-40B4-BE49-F238E27FC236}">
                  <a16:creationId xmlns:a16="http://schemas.microsoft.com/office/drawing/2014/main" id="{7F733AAC-FBD1-6449-4283-0A8A5054BFCD}"/>
                </a:ext>
              </a:extLst>
            </p:cNvPr>
            <p:cNvPicPr preferRelativeResize="0"/>
            <p:nvPr/>
          </p:nvPicPr>
          <p:blipFill rotWithShape="1">
            <a:blip r:embed="rId6">
              <a:alphaModFix/>
            </a:blip>
            <a:srcRect/>
            <a:stretch/>
          </p:blipFill>
          <p:spPr>
            <a:xfrm>
              <a:off x="7305675" y="1381125"/>
              <a:ext cx="2133600" cy="5095875"/>
            </a:xfrm>
            <a:prstGeom prst="rect">
              <a:avLst/>
            </a:prstGeom>
            <a:solidFill>
              <a:schemeClr val="accent4">
                <a:lumMod val="75000"/>
                <a:alpha val="8000"/>
              </a:schemeClr>
            </a:solidFill>
            <a:ln>
              <a:noFill/>
            </a:ln>
          </p:spPr>
        </p:pic>
        <p:sp>
          <p:nvSpPr>
            <p:cNvPr id="21" name="Google Shape;95;p13">
              <a:extLst>
                <a:ext uri="{FF2B5EF4-FFF2-40B4-BE49-F238E27FC236}">
                  <a16:creationId xmlns:a16="http://schemas.microsoft.com/office/drawing/2014/main" id="{90A2F6DB-FCA8-9719-7C99-22166ACE0542}"/>
                </a:ext>
              </a:extLst>
            </p:cNvPr>
            <p:cNvSpPr txBox="1"/>
            <p:nvPr/>
          </p:nvSpPr>
          <p:spPr>
            <a:xfrm>
              <a:off x="8801100" y="1457325"/>
              <a:ext cx="53340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latin typeface="Arial" panose="020B0604020202020204" pitchFamily="34" charset="0"/>
                  <a:ea typeface="微软雅黑" panose="020B0503020204020204" pitchFamily="34" charset="-122"/>
                  <a:cs typeface="Inter ExtraBold"/>
                  <a:sym typeface="Inter ExtraBold"/>
                </a:rPr>
                <a:t>04</a:t>
              </a:r>
              <a:endParaRPr>
                <a:latin typeface="Arial" panose="020B0604020202020204" pitchFamily="34" charset="0"/>
                <a:ea typeface="微软雅黑" panose="020B0503020204020204" pitchFamily="34" charset="-122"/>
              </a:endParaRPr>
            </a:p>
          </p:txBody>
        </p:sp>
        <p:sp>
          <p:nvSpPr>
            <p:cNvPr id="22" name="Google Shape;103;p13">
              <a:extLst>
                <a:ext uri="{FF2B5EF4-FFF2-40B4-BE49-F238E27FC236}">
                  <a16:creationId xmlns:a16="http://schemas.microsoft.com/office/drawing/2014/main" id="{6528362E-E121-831E-1E5C-83E23CD5701A}"/>
                </a:ext>
              </a:extLst>
            </p:cNvPr>
            <p:cNvSpPr txBox="1"/>
            <p:nvPr/>
          </p:nvSpPr>
          <p:spPr>
            <a:xfrm>
              <a:off x="7458075" y="1600200"/>
              <a:ext cx="914400" cy="246221"/>
            </a:xfrm>
            <a:prstGeom prst="rect">
              <a:avLst/>
            </a:prstGeom>
            <a:noFill/>
            <a:ln>
              <a:noFill/>
            </a:ln>
          </p:spPr>
          <p:txBody>
            <a:bodyPr spcFirstLastPara="1" wrap="square" lIns="0" tIns="0" rIns="0" bIns="0" anchor="t" anchorCtr="0">
              <a:spAutoFit/>
            </a:bodyPr>
            <a:lstStyle/>
            <a:p>
              <a:r>
                <a:rPr lang="en-US" sz="1600" b="1" dirty="0" err="1">
                  <a:latin typeface="微软雅黑" panose="020B0503020204020204" pitchFamily="34" charset="-122"/>
                  <a:ea typeface="微软雅黑" panose="020B0503020204020204" pitchFamily="34" charset="-122"/>
                  <a:sym typeface="Inter"/>
                </a:rPr>
                <a:t>结果回传</a:t>
              </a:r>
              <a:endParaRPr sz="1600" b="1" dirty="0">
                <a:latin typeface="微软雅黑" panose="020B0503020204020204" pitchFamily="34" charset="-122"/>
                <a:ea typeface="微软雅黑" panose="020B0503020204020204" pitchFamily="34" charset="-122"/>
              </a:endParaRPr>
            </a:p>
          </p:txBody>
        </p:sp>
        <p:sp>
          <p:nvSpPr>
            <p:cNvPr id="23" name="Google Shape;104;p13">
              <a:extLst>
                <a:ext uri="{FF2B5EF4-FFF2-40B4-BE49-F238E27FC236}">
                  <a16:creationId xmlns:a16="http://schemas.microsoft.com/office/drawing/2014/main" id="{0D09C72A-4BB4-05C4-84B7-D860B149C39E}"/>
                </a:ext>
              </a:extLst>
            </p:cNvPr>
            <p:cNvSpPr txBox="1"/>
            <p:nvPr/>
          </p:nvSpPr>
          <p:spPr>
            <a:xfrm>
              <a:off x="7408070" y="1930657"/>
              <a:ext cx="2021680" cy="4431983"/>
            </a:xfrm>
            <a:prstGeom prst="rect">
              <a:avLst/>
            </a:prstGeom>
            <a:noFill/>
            <a:ln>
              <a:noFill/>
            </a:ln>
          </p:spPr>
          <p:txBody>
            <a:bodyPr spcFirstLastPara="1" wrap="square" lIns="0" tIns="0" rIns="0" bIns="0" anchor="t" anchorCtr="0">
              <a:spAutoFit/>
            </a:bodyPr>
            <a:lstStyle/>
            <a:p>
              <a:pPr>
                <a:lnSpc>
                  <a:spcPct val="150000"/>
                </a:lnSpc>
              </a:pPr>
              <a:r>
                <a:rPr lang="zh-CN" altLang="en-US" sz="1200" b="1" dirty="0">
                  <a:latin typeface="微软雅黑" panose="020B0503020204020204" pitchFamily="34" charset="-122"/>
                  <a:ea typeface="微软雅黑" panose="020B0503020204020204" pitchFamily="34" charset="-122"/>
                </a:rPr>
                <a:t>为了解决 </a:t>
              </a:r>
              <a:r>
                <a:rPr lang="en-US" altLang="zh-CN" sz="1200" b="1" dirty="0">
                  <a:latin typeface="微软雅黑" panose="020B0503020204020204" pitchFamily="34" charset="-122"/>
                  <a:ea typeface="微软雅黑" panose="020B0503020204020204" pitchFamily="34" charset="-122"/>
                </a:rPr>
                <a:t>Python </a:t>
              </a:r>
              <a:r>
                <a:rPr lang="zh-CN" altLang="en-US" sz="1200" b="1" dirty="0">
                  <a:latin typeface="微软雅黑" panose="020B0503020204020204" pitchFamily="34" charset="-122"/>
                  <a:ea typeface="微软雅黑" panose="020B0503020204020204" pitchFamily="34" charset="-122"/>
                </a:rPr>
                <a:t>算法环境与 </a:t>
              </a:r>
              <a:r>
                <a:rPr lang="en-US" altLang="zh-CN" sz="1200" b="1" dirty="0">
                  <a:latin typeface="微软雅黑" panose="020B0503020204020204" pitchFamily="34" charset="-122"/>
                  <a:ea typeface="微软雅黑" panose="020B0503020204020204" pitchFamily="34" charset="-122"/>
                </a:rPr>
                <a:t>Java </a:t>
              </a:r>
              <a:r>
                <a:rPr lang="zh-CN" altLang="en-US" sz="1200" b="1" dirty="0">
                  <a:latin typeface="微软雅黑" panose="020B0503020204020204" pitchFamily="34" charset="-122"/>
                  <a:ea typeface="微软雅黑" panose="020B0503020204020204" pitchFamily="34" charset="-122"/>
                </a:rPr>
                <a:t>业务环境的跨语言通信难题，系统设计了自动化的数据同步机制 。在完成模型推理并生成 </a:t>
              </a:r>
              <a:r>
                <a:rPr lang="en-US" altLang="zh-CN" sz="1200" b="1" dirty="0">
                  <a:latin typeface="微软雅黑" panose="020B0503020204020204" pitchFamily="34" charset="-122"/>
                  <a:ea typeface="微软雅黑" panose="020B0503020204020204" pitchFamily="34" charset="-122"/>
                </a:rPr>
                <a:t>Top-N </a:t>
              </a:r>
              <a:r>
                <a:rPr lang="zh-CN" altLang="en-US" sz="1200" b="1" dirty="0">
                  <a:latin typeface="微软雅黑" panose="020B0503020204020204" pitchFamily="34" charset="-122"/>
                  <a:ea typeface="微软雅黑" panose="020B0503020204020204" pitchFamily="34" charset="-122"/>
                </a:rPr>
                <a:t>推荐列表后，采用异步增量更新策略，将 </a:t>
              </a:r>
              <a:r>
                <a:rPr lang="en-US" altLang="zh-CN" sz="1200" b="1" dirty="0" err="1">
                  <a:latin typeface="微软雅黑" panose="020B0503020204020204" pitchFamily="34" charset="-122"/>
                  <a:ea typeface="微软雅黑" panose="020B0503020204020204" pitchFamily="34" charset="-122"/>
                </a:rPr>
                <a:t>DeepFM</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推理生成的 </a:t>
              </a:r>
              <a:r>
                <a:rPr lang="en-US" altLang="zh-CN" sz="1200" b="1" dirty="0">
                  <a:latin typeface="微软雅黑" panose="020B0503020204020204" pitchFamily="34" charset="-122"/>
                  <a:ea typeface="微软雅黑" panose="020B0503020204020204" pitchFamily="34" charset="-122"/>
                </a:rPr>
                <a:t>Top-N </a:t>
              </a:r>
              <a:r>
                <a:rPr lang="zh-CN" altLang="en-US" sz="1200" b="1" dirty="0">
                  <a:latin typeface="微软雅黑" panose="020B0503020204020204" pitchFamily="34" charset="-122"/>
                  <a:ea typeface="微软雅黑" panose="020B0503020204020204" pitchFamily="34" charset="-122"/>
                </a:rPr>
                <a:t>推荐列表通过 </a:t>
              </a:r>
              <a:r>
                <a:rPr lang="en-US" altLang="zh-CN" sz="1200" b="1" dirty="0">
                  <a:latin typeface="微软雅黑" panose="020B0503020204020204" pitchFamily="34" charset="-122"/>
                  <a:ea typeface="微软雅黑" panose="020B0503020204020204" pitchFamily="34" charset="-122"/>
                </a:rPr>
                <a:t>JDBC </a:t>
              </a:r>
              <a:r>
                <a:rPr lang="zh-CN" altLang="en-US" sz="1200" b="1" dirty="0">
                  <a:latin typeface="微软雅黑" panose="020B0503020204020204" pitchFamily="34" charset="-122"/>
                  <a:ea typeface="微软雅黑" panose="020B0503020204020204" pitchFamily="34" charset="-122"/>
                </a:rPr>
                <a:t>管道定向推送至业务数据层；既保证了前端的高并发响应速度，又实现了复杂算法模型的离线计算解耦。这一机制实现了离线计算层与在线业务层的物理隔离与逻辑打通，确保业务前端无需直接访问复杂的计算集群即可获取最新的推荐数据。</a:t>
              </a:r>
              <a:endParaRPr sz="1200" b="1" dirty="0">
                <a:latin typeface="微软雅黑" panose="020B0503020204020204" pitchFamily="34" charset="-122"/>
                <a:ea typeface="微软雅黑" panose="020B0503020204020204" pitchFamily="34" charset="-122"/>
              </a:endParaRPr>
            </a:p>
          </p:txBody>
        </p:sp>
      </p:grpSp>
      <p:grpSp>
        <p:nvGrpSpPr>
          <p:cNvPr id="24" name="组合 23">
            <a:extLst>
              <a:ext uri="{FF2B5EF4-FFF2-40B4-BE49-F238E27FC236}">
                <a16:creationId xmlns:a16="http://schemas.microsoft.com/office/drawing/2014/main" id="{04257829-E8E9-A3B1-AEE9-B1EC67C038C9}"/>
              </a:ext>
            </a:extLst>
          </p:cNvPr>
          <p:cNvGrpSpPr/>
          <p:nvPr/>
        </p:nvGrpSpPr>
        <p:grpSpPr>
          <a:xfrm>
            <a:off x="9582150" y="1381125"/>
            <a:ext cx="2133600" cy="5095875"/>
            <a:chOff x="9582150" y="1381125"/>
            <a:chExt cx="2133600" cy="5095875"/>
          </a:xfrm>
          <a:solidFill>
            <a:srgbClr val="0AFF00">
              <a:alpha val="8000"/>
            </a:srgbClr>
          </a:solidFill>
        </p:grpSpPr>
        <p:pic>
          <p:nvPicPr>
            <p:cNvPr id="25" name="Google Shape;89;p13" descr="image.png">
              <a:extLst>
                <a:ext uri="{FF2B5EF4-FFF2-40B4-BE49-F238E27FC236}">
                  <a16:creationId xmlns:a16="http://schemas.microsoft.com/office/drawing/2014/main" id="{D8ABFF4B-F800-334B-5B2C-5EE16212D855}"/>
                </a:ext>
              </a:extLst>
            </p:cNvPr>
            <p:cNvPicPr preferRelativeResize="0"/>
            <p:nvPr/>
          </p:nvPicPr>
          <p:blipFill rotWithShape="1">
            <a:blip r:embed="rId7">
              <a:alphaModFix/>
            </a:blip>
            <a:srcRect/>
            <a:stretch/>
          </p:blipFill>
          <p:spPr>
            <a:xfrm>
              <a:off x="9582150" y="1381125"/>
              <a:ext cx="2133600" cy="5095875"/>
            </a:xfrm>
            <a:prstGeom prst="rect">
              <a:avLst/>
            </a:prstGeom>
            <a:grpFill/>
            <a:ln>
              <a:noFill/>
            </a:ln>
          </p:spPr>
        </p:pic>
        <p:sp>
          <p:nvSpPr>
            <p:cNvPr id="26" name="Google Shape;96;p13">
              <a:extLst>
                <a:ext uri="{FF2B5EF4-FFF2-40B4-BE49-F238E27FC236}">
                  <a16:creationId xmlns:a16="http://schemas.microsoft.com/office/drawing/2014/main" id="{02B8F0E9-B457-31A5-1B56-E6FFE0B36FC3}"/>
                </a:ext>
              </a:extLst>
            </p:cNvPr>
            <p:cNvSpPr txBox="1"/>
            <p:nvPr/>
          </p:nvSpPr>
          <p:spPr>
            <a:xfrm>
              <a:off x="11106150" y="1457325"/>
              <a:ext cx="50482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latin typeface="Arial" panose="020B0604020202020204" pitchFamily="34" charset="0"/>
                  <a:ea typeface="微软雅黑" panose="020B0503020204020204" pitchFamily="34" charset="-122"/>
                  <a:cs typeface="Inter ExtraBold"/>
                  <a:sym typeface="Inter ExtraBold"/>
                </a:rPr>
                <a:t>05</a:t>
              </a:r>
              <a:endParaRPr>
                <a:latin typeface="Arial" panose="020B0604020202020204" pitchFamily="34" charset="0"/>
                <a:ea typeface="微软雅黑" panose="020B0503020204020204" pitchFamily="34" charset="-122"/>
              </a:endParaRPr>
            </a:p>
          </p:txBody>
        </p:sp>
        <p:sp>
          <p:nvSpPr>
            <p:cNvPr id="27" name="Google Shape;105;p13">
              <a:extLst>
                <a:ext uri="{FF2B5EF4-FFF2-40B4-BE49-F238E27FC236}">
                  <a16:creationId xmlns:a16="http://schemas.microsoft.com/office/drawing/2014/main" id="{E3CBC107-22E3-CC17-D111-11E25F3518D2}"/>
                </a:ext>
              </a:extLst>
            </p:cNvPr>
            <p:cNvSpPr txBox="1"/>
            <p:nvPr/>
          </p:nvSpPr>
          <p:spPr>
            <a:xfrm>
              <a:off x="9734550" y="1600200"/>
              <a:ext cx="1302544" cy="246221"/>
            </a:xfrm>
            <a:prstGeom prst="rect">
              <a:avLst/>
            </a:prstGeom>
            <a:noFill/>
            <a:ln>
              <a:noFill/>
            </a:ln>
          </p:spPr>
          <p:txBody>
            <a:bodyPr spcFirstLastPara="1" wrap="square" lIns="0" tIns="0" rIns="0" bIns="0" anchor="t" anchorCtr="0">
              <a:spAutoFit/>
            </a:bodyPr>
            <a:lstStyle/>
            <a:p>
              <a:pPr marL="0" lvl="0" indent="0">
                <a:buFont typeface="Arial"/>
                <a:buNone/>
              </a:pPr>
              <a:r>
                <a:rPr lang="en-US" sz="1600" b="1" dirty="0" err="1">
                  <a:latin typeface="微软雅黑" panose="020B0503020204020204" pitchFamily="34" charset="-122"/>
                  <a:ea typeface="微软雅黑" panose="020B0503020204020204" pitchFamily="34" charset="-122"/>
                  <a:sym typeface="Inter"/>
                </a:rPr>
                <a:t>业务系统展示</a:t>
              </a:r>
              <a:endParaRPr sz="1600" b="1" dirty="0">
                <a:latin typeface="微软雅黑" panose="020B0503020204020204" pitchFamily="34" charset="-122"/>
                <a:ea typeface="微软雅黑" panose="020B0503020204020204" pitchFamily="34" charset="-122"/>
              </a:endParaRPr>
            </a:p>
          </p:txBody>
        </p:sp>
        <p:sp>
          <p:nvSpPr>
            <p:cNvPr id="28" name="Google Shape;106;p13">
              <a:extLst>
                <a:ext uri="{FF2B5EF4-FFF2-40B4-BE49-F238E27FC236}">
                  <a16:creationId xmlns:a16="http://schemas.microsoft.com/office/drawing/2014/main" id="{B8570C5C-B8A6-2666-58E9-D20DE4842F6A}"/>
                </a:ext>
              </a:extLst>
            </p:cNvPr>
            <p:cNvSpPr txBox="1"/>
            <p:nvPr/>
          </p:nvSpPr>
          <p:spPr>
            <a:xfrm>
              <a:off x="9734550" y="1930657"/>
              <a:ext cx="1828800" cy="3877985"/>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latin typeface="微软雅黑" panose="020B0503020204020204" pitchFamily="34" charset="-122"/>
                  <a:ea typeface="微软雅黑" panose="020B0503020204020204" pitchFamily="34" charset="-122"/>
                </a:rPr>
                <a:t>作为用户体验的最终呈现端，该模块基于经典的 </a:t>
              </a:r>
              <a:r>
                <a:rPr lang="en-US" altLang="zh-CN" sz="1200" b="1" dirty="0">
                  <a:latin typeface="微软雅黑" panose="020B0503020204020204" pitchFamily="34" charset="-122"/>
                  <a:ea typeface="微软雅黑" panose="020B0503020204020204" pitchFamily="34" charset="-122"/>
                </a:rPr>
                <a:t>MVC </a:t>
              </a:r>
              <a:r>
                <a:rPr lang="zh-CN" altLang="en-US" sz="1200" b="1" dirty="0">
                  <a:latin typeface="微软雅黑" panose="020B0503020204020204" pitchFamily="34" charset="-122"/>
                  <a:ea typeface="微软雅黑" panose="020B0503020204020204" pitchFamily="34" charset="-122"/>
                </a:rPr>
                <a:t>架构开发，负责将底层的算法智慧转化为直观的个性化服务 。当用户访问前端页面时，</a:t>
              </a:r>
              <a:r>
                <a:rPr lang="en-US" altLang="zh-CN" sz="1200" b="1" dirty="0">
                  <a:latin typeface="微软雅黑" panose="020B0503020204020204" pitchFamily="34" charset="-122"/>
                  <a:ea typeface="微软雅黑" panose="020B0503020204020204" pitchFamily="34" charset="-122"/>
                </a:rPr>
                <a:t>Java </a:t>
              </a:r>
              <a:r>
                <a:rPr lang="zh-CN" altLang="en-US" sz="1200" b="1" dirty="0">
                  <a:latin typeface="微软雅黑" panose="020B0503020204020204" pitchFamily="34" charset="-122"/>
                  <a:ea typeface="微软雅黑" panose="020B0503020204020204" pitchFamily="34" charset="-122"/>
                </a:rPr>
                <a:t>后端直接读取 </a:t>
              </a:r>
              <a:r>
                <a:rPr lang="en-US" altLang="zh-CN" sz="1200" b="1" dirty="0">
                  <a:latin typeface="微软雅黑" panose="020B0503020204020204" pitchFamily="34" charset="-122"/>
                  <a:ea typeface="微软雅黑" panose="020B0503020204020204" pitchFamily="34" charset="-122"/>
                </a:rPr>
                <a:t>MySQL </a:t>
              </a:r>
              <a:r>
                <a:rPr lang="zh-CN" altLang="en-US" sz="1200" b="1" dirty="0">
                  <a:latin typeface="微软雅黑" panose="020B0503020204020204" pitchFamily="34" charset="-122"/>
                  <a:ea typeface="微软雅黑" panose="020B0503020204020204" pitchFamily="34" charset="-122"/>
                </a:rPr>
                <a:t>中预先计算好的推荐表数据，而非展示静态的默认列表 ；系统根据用户的实时 </a:t>
              </a:r>
              <a:r>
                <a:rPr lang="en-US" altLang="zh-CN" sz="1200" b="1" dirty="0">
                  <a:latin typeface="微软雅黑" panose="020B0503020204020204" pitchFamily="34" charset="-122"/>
                  <a:ea typeface="微软雅黑" panose="020B0503020204020204" pitchFamily="34" charset="-122"/>
                </a:rPr>
                <a:t>ID </a:t>
              </a:r>
              <a:r>
                <a:rPr lang="zh-CN" altLang="en-US" sz="1200" b="1" dirty="0">
                  <a:latin typeface="微软雅黑" panose="020B0503020204020204" pitchFamily="34" charset="-122"/>
                  <a:ea typeface="微软雅黑" panose="020B0503020204020204" pitchFamily="34" charset="-122"/>
                </a:rPr>
                <a:t>快速渲染出契合其潜在心理偏好的个性化歌单，最终实现“千人千面”的精准分发与低延迟的实时响应 。</a:t>
              </a:r>
              <a:endParaRPr b="1" dirty="0">
                <a:latin typeface="微软雅黑" panose="020B0503020204020204" pitchFamily="34" charset="-122"/>
                <a:ea typeface="微软雅黑" panose="020B0503020204020204" pitchFamily="34" charset="-122"/>
              </a:endParaRPr>
            </a:p>
          </p:txBody>
        </p:sp>
      </p:grpSp>
    </p:spTree>
    <p:custDataLst>
      <p:tags r:id="rId1"/>
    </p:custDataLst>
    <p:extLst>
      <p:ext uri="{BB962C8B-B14F-4D97-AF65-F5344CB8AC3E}">
        <p14:creationId xmlns:p14="http://schemas.microsoft.com/office/powerpoint/2010/main" val="4022946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85;p13" descr="image.png">
            <a:extLst>
              <a:ext uri="{FF2B5EF4-FFF2-40B4-BE49-F238E27FC236}">
                <a16:creationId xmlns:a16="http://schemas.microsoft.com/office/drawing/2014/main" id="{3EC8CEC1-A46F-643C-A7B5-C7C0ABB8B514}"/>
              </a:ext>
            </a:extLst>
          </p:cNvPr>
          <p:cNvPicPr preferRelativeResize="0"/>
          <p:nvPr/>
        </p:nvPicPr>
        <p:blipFill rotWithShape="1">
          <a:blip r:embed="rId4">
            <a:alphaModFix/>
          </a:blip>
          <a:srcRect/>
          <a:stretch/>
        </p:blipFill>
        <p:spPr>
          <a:xfrm>
            <a:off x="581025" y="1200150"/>
            <a:ext cx="3486150" cy="5267325"/>
          </a:xfrm>
          <a:prstGeom prst="rect">
            <a:avLst/>
          </a:prstGeom>
          <a:noFill/>
          <a:ln>
            <a:noFill/>
          </a:ln>
        </p:spPr>
      </p:pic>
      <p:grpSp>
        <p:nvGrpSpPr>
          <p:cNvPr id="10" name="组合 9">
            <a:extLst>
              <a:ext uri="{FF2B5EF4-FFF2-40B4-BE49-F238E27FC236}">
                <a16:creationId xmlns:a16="http://schemas.microsoft.com/office/drawing/2014/main" id="{DB65FD5B-09B9-3388-FF29-9FA6A7191DDA}"/>
              </a:ext>
            </a:extLst>
          </p:cNvPr>
          <p:cNvGrpSpPr/>
          <p:nvPr/>
        </p:nvGrpSpPr>
        <p:grpSpPr>
          <a:xfrm>
            <a:off x="4352925" y="1200150"/>
            <a:ext cx="3486150" cy="5267325"/>
            <a:chOff x="4352925" y="1200150"/>
            <a:chExt cx="3486150" cy="5267325"/>
          </a:xfrm>
        </p:grpSpPr>
        <p:pic>
          <p:nvPicPr>
            <p:cNvPr id="11" name="Google Shape;86;p13" descr="image.png">
              <a:extLst>
                <a:ext uri="{FF2B5EF4-FFF2-40B4-BE49-F238E27FC236}">
                  <a16:creationId xmlns:a16="http://schemas.microsoft.com/office/drawing/2014/main" id="{4149EFAF-9043-1D84-C7D6-EFFE0D286749}"/>
                </a:ext>
              </a:extLst>
            </p:cNvPr>
            <p:cNvPicPr preferRelativeResize="0"/>
            <p:nvPr/>
          </p:nvPicPr>
          <p:blipFill rotWithShape="1">
            <a:blip r:embed="rId5">
              <a:alphaModFix/>
            </a:blip>
            <a:srcRect/>
            <a:stretch/>
          </p:blipFill>
          <p:spPr>
            <a:xfrm>
              <a:off x="4352925" y="1200150"/>
              <a:ext cx="3486150" cy="5267325"/>
            </a:xfrm>
            <a:prstGeom prst="rect">
              <a:avLst/>
            </a:prstGeom>
            <a:noFill/>
            <a:ln>
              <a:noFill/>
            </a:ln>
          </p:spPr>
        </p:pic>
        <p:grpSp>
          <p:nvGrpSpPr>
            <p:cNvPr id="14" name="组合 13">
              <a:extLst>
                <a:ext uri="{FF2B5EF4-FFF2-40B4-BE49-F238E27FC236}">
                  <a16:creationId xmlns:a16="http://schemas.microsoft.com/office/drawing/2014/main" id="{F8FB2A93-1C4B-F691-0DBC-BE410C2E4466}"/>
                </a:ext>
              </a:extLst>
            </p:cNvPr>
            <p:cNvGrpSpPr/>
            <p:nvPr/>
          </p:nvGrpSpPr>
          <p:grpSpPr>
            <a:xfrm>
              <a:off x="4648200" y="1524000"/>
              <a:ext cx="2895600" cy="4755261"/>
              <a:chOff x="4648200" y="1524000"/>
              <a:chExt cx="2895600" cy="4755261"/>
            </a:xfrm>
          </p:grpSpPr>
          <p:pic>
            <p:nvPicPr>
              <p:cNvPr id="15" name="Google Shape;91;p13" descr="image.png">
                <a:extLst>
                  <a:ext uri="{FF2B5EF4-FFF2-40B4-BE49-F238E27FC236}">
                    <a16:creationId xmlns:a16="http://schemas.microsoft.com/office/drawing/2014/main" id="{0A6578F2-0857-771B-7425-81674C9E46C8}"/>
                  </a:ext>
                </a:extLst>
              </p:cNvPr>
              <p:cNvPicPr preferRelativeResize="0"/>
              <p:nvPr/>
            </p:nvPicPr>
            <p:blipFill rotWithShape="1">
              <a:blip r:embed="rId6">
                <a:alphaModFix/>
              </a:blip>
              <a:srcRect/>
              <a:stretch/>
            </p:blipFill>
            <p:spPr>
              <a:xfrm>
                <a:off x="4648200" y="1524000"/>
                <a:ext cx="571500" cy="571500"/>
              </a:xfrm>
              <a:prstGeom prst="rect">
                <a:avLst/>
              </a:prstGeom>
              <a:noFill/>
              <a:ln>
                <a:noFill/>
              </a:ln>
            </p:spPr>
          </p:pic>
          <p:sp>
            <p:nvSpPr>
              <p:cNvPr id="21" name="Google Shape;92;p13">
                <a:extLst>
                  <a:ext uri="{FF2B5EF4-FFF2-40B4-BE49-F238E27FC236}">
                    <a16:creationId xmlns:a16="http://schemas.microsoft.com/office/drawing/2014/main" id="{2C9E66AE-90A2-AC8C-0156-66F7B413A61D}"/>
                  </a:ext>
                </a:extLst>
              </p:cNvPr>
              <p:cNvSpPr txBox="1"/>
              <p:nvPr/>
            </p:nvSpPr>
            <p:spPr>
              <a:xfrm>
                <a:off x="46482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实验验证法</a:t>
                </a:r>
                <a:endParaRPr dirty="0">
                  <a:solidFill>
                    <a:schemeClr val="bg1"/>
                  </a:solidFill>
                  <a:latin typeface="微软雅黑" panose="020B0503020204020204" pitchFamily="34" charset="-122"/>
                  <a:ea typeface="微软雅黑" panose="020B0503020204020204" pitchFamily="34" charset="-122"/>
                </a:endParaRPr>
              </a:p>
            </p:txBody>
          </p:sp>
          <p:sp>
            <p:nvSpPr>
              <p:cNvPr id="22" name="Google Shape;93;p13">
                <a:extLst>
                  <a:ext uri="{FF2B5EF4-FFF2-40B4-BE49-F238E27FC236}">
                    <a16:creationId xmlns:a16="http://schemas.microsoft.com/office/drawing/2014/main" id="{7A5D5E40-2011-0D85-CDBF-A069C99AD1FC}"/>
                  </a:ext>
                </a:extLst>
              </p:cNvPr>
              <p:cNvSpPr txBox="1"/>
              <p:nvPr/>
            </p:nvSpPr>
            <p:spPr>
              <a:xfrm>
                <a:off x="46482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bg1"/>
                    </a:solidFill>
                    <a:latin typeface="微软雅黑" panose="020B0503020204020204" pitchFamily="34" charset="-122"/>
                    <a:ea typeface="微软雅黑" panose="020B0503020204020204" pitchFamily="34" charset="-122"/>
                  </a:rPr>
                  <a:t>利用 </a:t>
                </a:r>
                <a:r>
                  <a:rPr lang="en-US" altLang="zh-CN" sz="1600" b="1" dirty="0" err="1">
                    <a:solidFill>
                      <a:schemeClr val="bg1"/>
                    </a:solidFill>
                    <a:latin typeface="微软雅黑" panose="020B0503020204020204" pitchFamily="34" charset="-122"/>
                    <a:ea typeface="微软雅黑" panose="020B0503020204020204" pitchFamily="34" charset="-122"/>
                  </a:rPr>
                  <a:t>KKBox</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真实数据集对推荐模型进行离线对比实验 。通过 </a:t>
                </a:r>
                <a:r>
                  <a:rPr lang="en-US" altLang="zh-CN" sz="1600" b="1" dirty="0">
                    <a:solidFill>
                      <a:schemeClr val="bg1"/>
                    </a:solidFill>
                    <a:latin typeface="微软雅黑" panose="020B0503020204020204" pitchFamily="34" charset="-122"/>
                    <a:ea typeface="微软雅黑" panose="020B0503020204020204" pitchFamily="34" charset="-122"/>
                  </a:rPr>
                  <a:t>AUC</a:t>
                </a:r>
                <a:r>
                  <a:rPr lang="zh-CN" altLang="en-US" sz="1600" b="1" dirty="0">
                    <a:solidFill>
                      <a:schemeClr val="bg1"/>
                    </a:solidFill>
                    <a:latin typeface="微软雅黑" panose="020B0503020204020204" pitchFamily="34" charset="-122"/>
                    <a:ea typeface="微软雅黑" panose="020B0503020204020204" pitchFamily="34" charset="-122"/>
                  </a:rPr>
                  <a:t>（曲线下面积）和 </a:t>
                </a:r>
                <a:r>
                  <a:rPr lang="en-US" altLang="zh-CN" sz="1600" b="1" dirty="0" err="1">
                    <a:solidFill>
                      <a:schemeClr val="bg1"/>
                    </a:solidFill>
                    <a:latin typeface="微软雅黑" panose="020B0503020204020204" pitchFamily="34" charset="-122"/>
                    <a:ea typeface="微软雅黑" panose="020B0503020204020204" pitchFamily="34" charset="-122"/>
                  </a:rPr>
                  <a:t>LogLoss</a:t>
                </a:r>
                <a:r>
                  <a:rPr lang="zh-CN" altLang="en-US" sz="1600" b="1" dirty="0">
                    <a:solidFill>
                      <a:schemeClr val="bg1"/>
                    </a:solidFill>
                    <a:latin typeface="微软雅黑" panose="020B0503020204020204" pitchFamily="34" charset="-122"/>
                    <a:ea typeface="微软雅黑" panose="020B0503020204020204" pitchFamily="34" charset="-122"/>
                  </a:rPr>
                  <a:t>（对数损失）等量化核心指标，对比协同过滤与 </a:t>
                </a:r>
                <a:r>
                  <a:rPr lang="en-US" altLang="zh-CN" sz="1600" b="1" dirty="0" err="1">
                    <a:solidFill>
                      <a:schemeClr val="bg1"/>
                    </a:solidFill>
                    <a:latin typeface="微软雅黑" panose="020B0503020204020204" pitchFamily="34" charset="-122"/>
                    <a:ea typeface="微软雅黑" panose="020B0503020204020204" pitchFamily="34" charset="-122"/>
                  </a:rPr>
                  <a:t>DeepFM</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rPr>
                  <a:t>模型在不同特征组合下的表现，客观评估模型在解决特征稀疏性及预测准确度方面的性能与泛化能力 。</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23" name="Google Shape;98;p13" descr="image.png">
                <a:extLst>
                  <a:ext uri="{FF2B5EF4-FFF2-40B4-BE49-F238E27FC236}">
                    <a16:creationId xmlns:a16="http://schemas.microsoft.com/office/drawing/2014/main" id="{42DC924F-B782-8FF4-728E-94E790639CAD}"/>
                  </a:ext>
                </a:extLst>
              </p:cNvPr>
              <p:cNvPicPr preferRelativeResize="0"/>
              <p:nvPr/>
            </p:nvPicPr>
            <p:blipFill rotWithShape="1">
              <a:blip r:embed="rId7">
                <a:alphaModFix/>
              </a:blip>
              <a:srcRect/>
              <a:stretch/>
            </p:blipFill>
            <p:spPr>
              <a:xfrm>
                <a:off x="4814887" y="1676400"/>
                <a:ext cx="238125" cy="266700"/>
              </a:xfrm>
              <a:prstGeom prst="rect">
                <a:avLst/>
              </a:prstGeom>
              <a:noFill/>
              <a:ln>
                <a:noFill/>
              </a:ln>
            </p:spPr>
          </p:pic>
        </p:grpSp>
      </p:grpSp>
      <p:grpSp>
        <p:nvGrpSpPr>
          <p:cNvPr id="24" name="组合 23">
            <a:extLst>
              <a:ext uri="{FF2B5EF4-FFF2-40B4-BE49-F238E27FC236}">
                <a16:creationId xmlns:a16="http://schemas.microsoft.com/office/drawing/2014/main" id="{059396A4-7773-022D-34EB-04F249228C63}"/>
              </a:ext>
            </a:extLst>
          </p:cNvPr>
          <p:cNvGrpSpPr/>
          <p:nvPr/>
        </p:nvGrpSpPr>
        <p:grpSpPr>
          <a:xfrm>
            <a:off x="8124825" y="1200150"/>
            <a:ext cx="3486150" cy="5267325"/>
            <a:chOff x="8124825" y="1200150"/>
            <a:chExt cx="3486150" cy="5267325"/>
          </a:xfrm>
        </p:grpSpPr>
        <p:pic>
          <p:nvPicPr>
            <p:cNvPr id="25" name="Google Shape;87;p13" descr="image.png">
              <a:extLst>
                <a:ext uri="{FF2B5EF4-FFF2-40B4-BE49-F238E27FC236}">
                  <a16:creationId xmlns:a16="http://schemas.microsoft.com/office/drawing/2014/main" id="{8FE35CA8-BE44-EA4B-FCF5-C7B55170A87B}"/>
                </a:ext>
              </a:extLst>
            </p:cNvPr>
            <p:cNvPicPr preferRelativeResize="0"/>
            <p:nvPr/>
          </p:nvPicPr>
          <p:blipFill rotWithShape="1">
            <a:blip r:embed="rId8">
              <a:alphaModFix/>
            </a:blip>
            <a:srcRect/>
            <a:stretch/>
          </p:blipFill>
          <p:spPr>
            <a:xfrm>
              <a:off x="8124825" y="1200150"/>
              <a:ext cx="3486150" cy="5267325"/>
            </a:xfrm>
            <a:prstGeom prst="rect">
              <a:avLst/>
            </a:prstGeom>
            <a:noFill/>
            <a:ln>
              <a:noFill/>
            </a:ln>
          </p:spPr>
        </p:pic>
        <p:pic>
          <p:nvPicPr>
            <p:cNvPr id="26" name="Google Shape;94;p13" descr="image.png">
              <a:extLst>
                <a:ext uri="{FF2B5EF4-FFF2-40B4-BE49-F238E27FC236}">
                  <a16:creationId xmlns:a16="http://schemas.microsoft.com/office/drawing/2014/main" id="{326FF857-E6B6-DB14-DC2F-F459E1E2A89B}"/>
                </a:ext>
              </a:extLst>
            </p:cNvPr>
            <p:cNvPicPr preferRelativeResize="0"/>
            <p:nvPr/>
          </p:nvPicPr>
          <p:blipFill rotWithShape="1">
            <a:blip r:embed="rId9">
              <a:alphaModFix/>
            </a:blip>
            <a:srcRect/>
            <a:stretch/>
          </p:blipFill>
          <p:spPr>
            <a:xfrm>
              <a:off x="8420100" y="1524000"/>
              <a:ext cx="571500" cy="571500"/>
            </a:xfrm>
            <a:prstGeom prst="rect">
              <a:avLst/>
            </a:prstGeom>
            <a:noFill/>
            <a:ln>
              <a:noFill/>
            </a:ln>
          </p:spPr>
        </p:pic>
        <p:sp>
          <p:nvSpPr>
            <p:cNvPr id="27" name="Google Shape;95;p13">
              <a:extLst>
                <a:ext uri="{FF2B5EF4-FFF2-40B4-BE49-F238E27FC236}">
                  <a16:creationId xmlns:a16="http://schemas.microsoft.com/office/drawing/2014/main" id="{8D9C2543-36F5-5C26-DDA8-8AF57F9C1750}"/>
                </a:ext>
              </a:extLst>
            </p:cNvPr>
            <p:cNvSpPr txBox="1"/>
            <p:nvPr/>
          </p:nvSpPr>
          <p:spPr>
            <a:xfrm>
              <a:off x="84201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实证研究法</a:t>
              </a:r>
              <a:endParaRPr dirty="0">
                <a:latin typeface="微软雅黑" panose="020B0503020204020204" pitchFamily="34" charset="-122"/>
                <a:ea typeface="微软雅黑" panose="020B0503020204020204" pitchFamily="34" charset="-122"/>
              </a:endParaRPr>
            </a:p>
          </p:txBody>
        </p:sp>
        <p:sp>
          <p:nvSpPr>
            <p:cNvPr id="28" name="Google Shape;96;p13">
              <a:extLst>
                <a:ext uri="{FF2B5EF4-FFF2-40B4-BE49-F238E27FC236}">
                  <a16:creationId xmlns:a16="http://schemas.microsoft.com/office/drawing/2014/main" id="{A79AFEE9-4E32-C081-8D7E-E48D8E57803B}"/>
                </a:ext>
              </a:extLst>
            </p:cNvPr>
            <p:cNvSpPr txBox="1"/>
            <p:nvPr/>
          </p:nvSpPr>
          <p:spPr>
            <a:xfrm>
              <a:off x="84201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bg1"/>
                  </a:solidFill>
                  <a:latin typeface="微软雅黑" panose="020B0503020204020204" pitchFamily="34" charset="-122"/>
                  <a:ea typeface="微软雅黑" panose="020B0503020204020204" pitchFamily="34" charset="-122"/>
                </a:rPr>
                <a:t>通过构建完整的“大数据</a:t>
              </a:r>
              <a:r>
                <a:rPr lang="en-US" altLang="zh-CN" sz="1600" b="1" dirty="0">
                  <a:solidFill>
                    <a:schemeClr val="bg1"/>
                  </a:solidFill>
                  <a:latin typeface="微软雅黑" panose="020B0503020204020204" pitchFamily="34" charset="-122"/>
                  <a:ea typeface="微软雅黑" panose="020B0503020204020204" pitchFamily="34" charset="-122"/>
                </a:rPr>
                <a:t>+Web</a:t>
              </a:r>
              <a:r>
                <a:rPr lang="zh-CN" altLang="en-US" sz="1600" b="1" dirty="0">
                  <a:solidFill>
                    <a:schemeClr val="bg1"/>
                  </a:solidFill>
                  <a:latin typeface="微软雅黑" panose="020B0503020204020204" pitchFamily="34" charset="-122"/>
                  <a:ea typeface="微软雅黑" panose="020B0503020204020204" pitchFamily="34" charset="-122"/>
                </a:rPr>
                <a:t>”闭环系统，将离线计算的算法成果应用于真实的 </a:t>
              </a:r>
              <a:r>
                <a:rPr lang="en-US" altLang="zh-CN" sz="1600" b="1" dirty="0">
                  <a:solidFill>
                    <a:schemeClr val="bg1"/>
                  </a:solidFill>
                  <a:latin typeface="微软雅黑" panose="020B0503020204020204" pitchFamily="34" charset="-122"/>
                  <a:ea typeface="微软雅黑" panose="020B0503020204020204" pitchFamily="34" charset="-122"/>
                </a:rPr>
                <a:t>Java Web</a:t>
              </a:r>
              <a:r>
                <a:rPr lang="zh-CN" altLang="en-US" sz="1600" b="1" dirty="0">
                  <a:solidFill>
                    <a:schemeClr val="bg1"/>
                  </a:solidFill>
                  <a:latin typeface="微软雅黑" panose="020B0503020204020204" pitchFamily="34" charset="-122"/>
                  <a:ea typeface="微软雅黑" panose="020B0503020204020204" pitchFamily="34" charset="-122"/>
                </a:rPr>
                <a:t> 业务场景中 。重点验证系统在千万级日志同步时的稳定性，以及实时搜索、收藏行为对动态画像修正的实际交互效果，从而完成从实验室理论向工业级工程实现的有效转化 。</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29" name="Google Shape;99;p13" descr="image.png">
              <a:extLst>
                <a:ext uri="{FF2B5EF4-FFF2-40B4-BE49-F238E27FC236}">
                  <a16:creationId xmlns:a16="http://schemas.microsoft.com/office/drawing/2014/main" id="{80277131-7A81-6B09-2F30-7C25B74C6CF1}"/>
                </a:ext>
              </a:extLst>
            </p:cNvPr>
            <p:cNvPicPr preferRelativeResize="0"/>
            <p:nvPr/>
          </p:nvPicPr>
          <p:blipFill rotWithShape="1">
            <a:blip r:embed="rId10">
              <a:alphaModFix/>
            </a:blip>
            <a:srcRect/>
            <a:stretch/>
          </p:blipFill>
          <p:spPr>
            <a:xfrm>
              <a:off x="8539162" y="1676400"/>
              <a:ext cx="333375" cy="266700"/>
            </a:xfrm>
            <a:prstGeom prst="rect">
              <a:avLst/>
            </a:prstGeom>
            <a:noFill/>
            <a:ln>
              <a:noFill/>
            </a:ln>
          </p:spPr>
        </p:pic>
      </p:grpSp>
      <p:sp>
        <p:nvSpPr>
          <p:cNvPr id="31" name="Google Shape;100;p13">
            <a:extLst>
              <a:ext uri="{FF2B5EF4-FFF2-40B4-BE49-F238E27FC236}">
                <a16:creationId xmlns:a16="http://schemas.microsoft.com/office/drawing/2014/main" id="{100E4E4D-2112-2D0B-284A-86AC1E40D654}"/>
              </a:ext>
            </a:extLst>
          </p:cNvPr>
          <p:cNvSpPr txBox="1"/>
          <p:nvPr/>
        </p:nvSpPr>
        <p:spPr>
          <a:xfrm>
            <a:off x="638175" y="433856"/>
            <a:ext cx="5868266"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spc="1000" dirty="0" err="1">
                <a:latin typeface="微软雅黑" panose="020B0503020204020204" pitchFamily="34" charset="-122"/>
                <a:ea typeface="微软雅黑" panose="020B0503020204020204" pitchFamily="34" charset="-122"/>
                <a:cs typeface="Inter ExtraBold"/>
                <a:sym typeface="Inter ExtraBold"/>
              </a:rPr>
              <a:t>研究方法</a:t>
            </a:r>
            <a:endParaRPr sz="2850" b="1" spc="1000" dirty="0">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242BB2DF-0DB8-8BFA-E688-2DDA84B07355}"/>
              </a:ext>
            </a:extLst>
          </p:cNvPr>
          <p:cNvCxnSpPr>
            <a:cxnSpLocks/>
          </p:cNvCxnSpPr>
          <p:nvPr/>
        </p:nvCxnSpPr>
        <p:spPr>
          <a:xfrm>
            <a:off x="581025" y="91440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pic>
        <p:nvPicPr>
          <p:cNvPr id="35" name="Google Shape;88;p13" descr="image.png">
            <a:extLst>
              <a:ext uri="{FF2B5EF4-FFF2-40B4-BE49-F238E27FC236}">
                <a16:creationId xmlns:a16="http://schemas.microsoft.com/office/drawing/2014/main" id="{5936420D-4904-00A8-0CBC-C882F6EF8335}"/>
              </a:ext>
            </a:extLst>
          </p:cNvPr>
          <p:cNvPicPr preferRelativeResize="0"/>
          <p:nvPr/>
        </p:nvPicPr>
        <p:blipFill rotWithShape="1">
          <a:blip r:embed="rId11">
            <a:alphaModFix/>
          </a:blip>
          <a:srcRect/>
          <a:stretch/>
        </p:blipFill>
        <p:spPr>
          <a:xfrm>
            <a:off x="876300" y="1524000"/>
            <a:ext cx="571500" cy="571500"/>
          </a:xfrm>
          <a:prstGeom prst="rect">
            <a:avLst/>
          </a:prstGeom>
          <a:noFill/>
          <a:ln>
            <a:noFill/>
          </a:ln>
        </p:spPr>
      </p:pic>
      <p:sp>
        <p:nvSpPr>
          <p:cNvPr id="36" name="Google Shape;89;p13">
            <a:extLst>
              <a:ext uri="{FF2B5EF4-FFF2-40B4-BE49-F238E27FC236}">
                <a16:creationId xmlns:a16="http://schemas.microsoft.com/office/drawing/2014/main" id="{5FB2D163-F3E0-27FD-4FAF-781A5A5BCDC9}"/>
              </a:ext>
            </a:extLst>
          </p:cNvPr>
          <p:cNvSpPr txBox="1"/>
          <p:nvPr/>
        </p:nvSpPr>
        <p:spPr>
          <a:xfrm>
            <a:off x="8763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文献研究法</a:t>
            </a:r>
            <a:endParaRPr dirty="0">
              <a:latin typeface="微软雅黑" panose="020B0503020204020204" pitchFamily="34" charset="-122"/>
              <a:ea typeface="微软雅黑" panose="020B0503020204020204" pitchFamily="34" charset="-122"/>
            </a:endParaRPr>
          </a:p>
        </p:txBody>
      </p:sp>
      <p:sp>
        <p:nvSpPr>
          <p:cNvPr id="38" name="Google Shape;90;p13">
            <a:extLst>
              <a:ext uri="{FF2B5EF4-FFF2-40B4-BE49-F238E27FC236}">
                <a16:creationId xmlns:a16="http://schemas.microsoft.com/office/drawing/2014/main" id="{63F4572C-0DF0-8279-EE6E-2D699D57D8AA}"/>
              </a:ext>
            </a:extLst>
          </p:cNvPr>
          <p:cNvSpPr txBox="1"/>
          <p:nvPr/>
        </p:nvSpPr>
        <p:spPr>
          <a:xfrm>
            <a:off x="8763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bg1"/>
                </a:solidFill>
                <a:latin typeface="微软雅黑" panose="020B0503020204020204" pitchFamily="34" charset="-122"/>
                <a:ea typeface="微软雅黑" panose="020B0503020204020204" pitchFamily="34" charset="-122"/>
              </a:rPr>
              <a:t>通过查阅国内外关于 </a:t>
            </a:r>
            <a:r>
              <a:rPr lang="en-US" altLang="zh-CN" sz="1600" b="1" dirty="0" err="1">
                <a:solidFill>
                  <a:schemeClr val="bg1"/>
                </a:solidFill>
                <a:latin typeface="微软雅黑" panose="020B0503020204020204" pitchFamily="34" charset="-122"/>
                <a:ea typeface="微软雅黑" panose="020B0503020204020204" pitchFamily="34" charset="-122"/>
              </a:rPr>
              <a:t>DeepFM</a:t>
            </a:r>
            <a:r>
              <a:rPr lang="zh-CN" altLang="en-US" sz="1600" b="1" dirty="0">
                <a:solidFill>
                  <a:schemeClr val="bg1"/>
                </a:solidFill>
                <a:latin typeface="微软雅黑" panose="020B0503020204020204" pitchFamily="34" charset="-122"/>
                <a:ea typeface="微软雅黑" panose="020B0503020204020204" pitchFamily="34" charset="-122"/>
              </a:rPr>
              <a:t>、</a:t>
            </a:r>
            <a:r>
              <a:rPr lang="en-US" altLang="zh-CN" sz="1600" b="1" dirty="0">
                <a:solidFill>
                  <a:schemeClr val="bg1"/>
                </a:solidFill>
                <a:latin typeface="微软雅黑" panose="020B0503020204020204" pitchFamily="34" charset="-122"/>
                <a:ea typeface="微软雅黑" panose="020B0503020204020204" pitchFamily="34" charset="-122"/>
              </a:rPr>
              <a:t>Spark </a:t>
            </a:r>
            <a:r>
              <a:rPr lang="zh-CN" altLang="en-US" sz="1600" b="1" dirty="0">
                <a:solidFill>
                  <a:schemeClr val="bg1"/>
                </a:solidFill>
                <a:latin typeface="微软雅黑" panose="020B0503020204020204" pitchFamily="34" charset="-122"/>
                <a:ea typeface="微软雅黑" panose="020B0503020204020204" pitchFamily="34" charset="-122"/>
              </a:rPr>
              <a:t>架构及用户画像建模的权威文献，系统梳理个性化推荐的技术演进脉络。重点参考 </a:t>
            </a:r>
            <a:r>
              <a:rPr lang="en-US" altLang="zh-CN" sz="1600" b="1" dirty="0">
                <a:solidFill>
                  <a:schemeClr val="bg1"/>
                </a:solidFill>
                <a:latin typeface="微软雅黑" panose="020B0503020204020204" pitchFamily="34" charset="-122"/>
                <a:ea typeface="微软雅黑" panose="020B0503020204020204" pitchFamily="34" charset="-122"/>
              </a:rPr>
              <a:t>Spotify </a:t>
            </a:r>
            <a:r>
              <a:rPr lang="zh-CN" altLang="en-US" sz="1600" b="1" dirty="0">
                <a:solidFill>
                  <a:schemeClr val="bg1"/>
                </a:solidFill>
                <a:latin typeface="微软雅黑" panose="020B0503020204020204" pitchFamily="34" charset="-122"/>
                <a:ea typeface="微软雅黑" panose="020B0503020204020204" pitchFamily="34" charset="-122"/>
              </a:rPr>
              <a:t>等平台的成熟案例，深入分析分布式特征提取与深度语义交互的理论支撑，为本课题在大数据环境下的混合推荐模型构建奠定坚实的理论基础 。</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39" name="Google Shape;97;p13" descr="image.png">
            <a:extLst>
              <a:ext uri="{FF2B5EF4-FFF2-40B4-BE49-F238E27FC236}">
                <a16:creationId xmlns:a16="http://schemas.microsoft.com/office/drawing/2014/main" id="{EBC7051F-9C6D-B19F-141E-19369CA96A92}"/>
              </a:ext>
            </a:extLst>
          </p:cNvPr>
          <p:cNvPicPr preferRelativeResize="0"/>
          <p:nvPr/>
        </p:nvPicPr>
        <p:blipFill rotWithShape="1">
          <a:blip r:embed="rId12">
            <a:alphaModFix/>
          </a:blip>
          <a:srcRect/>
          <a:stretch/>
        </p:blipFill>
        <p:spPr>
          <a:xfrm>
            <a:off x="1042987" y="1676400"/>
            <a:ext cx="238125" cy="266700"/>
          </a:xfrm>
          <a:prstGeom prst="rect">
            <a:avLst/>
          </a:prstGeom>
          <a:noFill/>
          <a:ln>
            <a:noFill/>
          </a:ln>
        </p:spPr>
      </p:pic>
    </p:spTree>
    <p:custDataLst>
      <p:tags r:id="rId1"/>
    </p:custDataLst>
    <p:extLst>
      <p:ext uri="{BB962C8B-B14F-4D97-AF65-F5344CB8AC3E}">
        <p14:creationId xmlns:p14="http://schemas.microsoft.com/office/powerpoint/2010/main" val="3841619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08;p14" descr="image.png">
            <a:extLst>
              <a:ext uri="{FF2B5EF4-FFF2-40B4-BE49-F238E27FC236}">
                <a16:creationId xmlns:a16="http://schemas.microsoft.com/office/drawing/2014/main" id="{20EA98C6-1182-672A-23BE-72F5012909FB}"/>
              </a:ext>
            </a:extLst>
          </p:cNvPr>
          <p:cNvPicPr preferRelativeResize="0"/>
          <p:nvPr/>
        </p:nvPicPr>
        <p:blipFill rotWithShape="1">
          <a:blip r:embed="rId4">
            <a:alphaModFix/>
          </a:blip>
          <a:srcRect/>
          <a:stretch/>
        </p:blipFill>
        <p:spPr>
          <a:xfrm>
            <a:off x="6215062" y="1200150"/>
            <a:ext cx="5395912" cy="2514600"/>
          </a:xfrm>
          <a:prstGeom prst="rect">
            <a:avLst/>
          </a:prstGeom>
          <a:noFill/>
          <a:ln>
            <a:noFill/>
          </a:ln>
        </p:spPr>
      </p:pic>
      <p:pic>
        <p:nvPicPr>
          <p:cNvPr id="6" name="Google Shape;109;p14" descr="image.png">
            <a:extLst>
              <a:ext uri="{FF2B5EF4-FFF2-40B4-BE49-F238E27FC236}">
                <a16:creationId xmlns:a16="http://schemas.microsoft.com/office/drawing/2014/main" id="{CF6298E6-265C-8816-0EFF-F9BEE9061E86}"/>
              </a:ext>
            </a:extLst>
          </p:cNvPr>
          <p:cNvPicPr preferRelativeResize="0"/>
          <p:nvPr/>
        </p:nvPicPr>
        <p:blipFill rotWithShape="1">
          <a:blip r:embed="rId5">
            <a:alphaModFix/>
          </a:blip>
          <a:srcRect/>
          <a:stretch/>
        </p:blipFill>
        <p:spPr>
          <a:xfrm>
            <a:off x="581025" y="3983386"/>
            <a:ext cx="5395912" cy="2514600"/>
          </a:xfrm>
          <a:prstGeom prst="rect">
            <a:avLst/>
          </a:prstGeom>
          <a:noFill/>
          <a:ln>
            <a:noFill/>
          </a:ln>
        </p:spPr>
      </p:pic>
      <p:grpSp>
        <p:nvGrpSpPr>
          <p:cNvPr id="7" name="组合 6">
            <a:extLst>
              <a:ext uri="{FF2B5EF4-FFF2-40B4-BE49-F238E27FC236}">
                <a16:creationId xmlns:a16="http://schemas.microsoft.com/office/drawing/2014/main" id="{5CFC7EA5-F2D3-19AE-D3E6-61BF665986C3}"/>
              </a:ext>
            </a:extLst>
          </p:cNvPr>
          <p:cNvGrpSpPr/>
          <p:nvPr/>
        </p:nvGrpSpPr>
        <p:grpSpPr>
          <a:xfrm>
            <a:off x="581025" y="1200150"/>
            <a:ext cx="5395912" cy="2514600"/>
            <a:chOff x="581025" y="1200150"/>
            <a:chExt cx="5395912" cy="2514600"/>
          </a:xfrm>
        </p:grpSpPr>
        <p:pic>
          <p:nvPicPr>
            <p:cNvPr id="8" name="Google Shape;107;p14" descr="image.png">
              <a:extLst>
                <a:ext uri="{FF2B5EF4-FFF2-40B4-BE49-F238E27FC236}">
                  <a16:creationId xmlns:a16="http://schemas.microsoft.com/office/drawing/2014/main" id="{0A0D9670-EE17-1EA6-E4F1-FA2C25C2F243}"/>
                </a:ext>
              </a:extLst>
            </p:cNvPr>
            <p:cNvPicPr preferRelativeResize="0"/>
            <p:nvPr/>
          </p:nvPicPr>
          <p:blipFill rotWithShape="1">
            <a:blip r:embed="rId5">
              <a:alphaModFix/>
            </a:blip>
            <a:srcRect/>
            <a:stretch/>
          </p:blipFill>
          <p:spPr>
            <a:xfrm>
              <a:off x="581025" y="1200150"/>
              <a:ext cx="5395912" cy="2514600"/>
            </a:xfrm>
            <a:prstGeom prst="rect">
              <a:avLst/>
            </a:prstGeom>
            <a:noFill/>
            <a:ln>
              <a:noFill/>
            </a:ln>
          </p:spPr>
        </p:pic>
        <p:sp>
          <p:nvSpPr>
            <p:cNvPr id="9" name="Google Shape;112;p14">
              <a:extLst>
                <a:ext uri="{FF2B5EF4-FFF2-40B4-BE49-F238E27FC236}">
                  <a16:creationId xmlns:a16="http://schemas.microsoft.com/office/drawing/2014/main" id="{DD509A0E-F7A2-F9E3-3235-6F3D7006A2D9}"/>
                </a:ext>
              </a:extLst>
            </p:cNvPr>
            <p:cNvSpPr txBox="1"/>
            <p:nvPr/>
          </p:nvSpPr>
          <p:spPr>
            <a:xfrm>
              <a:off x="876300" y="1724025"/>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第一阶段：数据治理与特征存储</a:t>
              </a:r>
              <a:endParaRPr dirty="0">
                <a:latin typeface="微软雅黑" panose="020B0503020204020204" pitchFamily="34" charset="-122"/>
                <a:ea typeface="微软雅黑" panose="020B0503020204020204" pitchFamily="34" charset="-122"/>
              </a:endParaRPr>
            </a:p>
          </p:txBody>
        </p:sp>
        <p:sp>
          <p:nvSpPr>
            <p:cNvPr id="10" name="Google Shape;119;p14">
              <a:extLst>
                <a:ext uri="{FF2B5EF4-FFF2-40B4-BE49-F238E27FC236}">
                  <a16:creationId xmlns:a16="http://schemas.microsoft.com/office/drawing/2014/main" id="{5EC9C421-A8A6-0A2F-BFBF-687BCE290D6E}"/>
                </a:ext>
              </a:extLst>
            </p:cNvPr>
            <p:cNvSpPr txBox="1"/>
            <p:nvPr/>
          </p:nvSpPr>
          <p:spPr>
            <a:xfrm>
              <a:off x="876300" y="2111943"/>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完成</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KKBox</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数据集清洗</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11" name="Google Shape;120;p14">
              <a:extLst>
                <a:ext uri="{FF2B5EF4-FFF2-40B4-BE49-F238E27FC236}">
                  <a16:creationId xmlns:a16="http://schemas.microsoft.com/office/drawing/2014/main" id="{E78CDCAD-DF48-0F22-E1FC-DDA088E03825}"/>
                </a:ext>
              </a:extLst>
            </p:cNvPr>
            <p:cNvSpPr txBox="1"/>
            <p:nvPr/>
          </p:nvSpPr>
          <p:spPr>
            <a:xfrm>
              <a:off x="876300" y="2463933"/>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建立支持</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Java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前端调用的</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MySQL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基础表</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16" name="Google Shape;121;p14">
              <a:extLst>
                <a:ext uri="{FF2B5EF4-FFF2-40B4-BE49-F238E27FC236}">
                  <a16:creationId xmlns:a16="http://schemas.microsoft.com/office/drawing/2014/main" id="{C83F760B-1F5A-B0C8-8C79-3DE61C3064FC}"/>
                </a:ext>
              </a:extLst>
            </p:cNvPr>
            <p:cNvSpPr txBox="1"/>
            <p:nvPr/>
          </p:nvSpPr>
          <p:spPr>
            <a:xfrm>
              <a:off x="876300" y="2837091"/>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构建</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Python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算法调用的</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Spark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特征库</a:t>
              </a:r>
              <a:endParaRPr sz="1600" b="1" dirty="0">
                <a:solidFill>
                  <a:schemeClr val="bg1"/>
                </a:solidFill>
                <a:latin typeface="微软雅黑" panose="020B0503020204020204" pitchFamily="34" charset="-122"/>
                <a:ea typeface="微软雅黑" panose="020B0503020204020204" pitchFamily="34" charset="-122"/>
              </a:endParaRPr>
            </a:p>
          </p:txBody>
        </p:sp>
      </p:grpSp>
      <p:grpSp>
        <p:nvGrpSpPr>
          <p:cNvPr id="17" name="组合 16">
            <a:extLst>
              <a:ext uri="{FF2B5EF4-FFF2-40B4-BE49-F238E27FC236}">
                <a16:creationId xmlns:a16="http://schemas.microsoft.com/office/drawing/2014/main" id="{B7BB8D6D-3868-7C79-A380-C8E58A6AB499}"/>
              </a:ext>
            </a:extLst>
          </p:cNvPr>
          <p:cNvGrpSpPr/>
          <p:nvPr/>
        </p:nvGrpSpPr>
        <p:grpSpPr>
          <a:xfrm>
            <a:off x="6215062" y="3952875"/>
            <a:ext cx="5395912" cy="2514600"/>
            <a:chOff x="6215062" y="3952875"/>
            <a:chExt cx="5395912" cy="2514600"/>
          </a:xfrm>
        </p:grpSpPr>
        <p:pic>
          <p:nvPicPr>
            <p:cNvPr id="18" name="Google Shape;110;p14" descr="image.png">
              <a:extLst>
                <a:ext uri="{FF2B5EF4-FFF2-40B4-BE49-F238E27FC236}">
                  <a16:creationId xmlns:a16="http://schemas.microsoft.com/office/drawing/2014/main" id="{9E80623B-9526-FF74-DF09-3081F9B75610}"/>
                </a:ext>
              </a:extLst>
            </p:cNvPr>
            <p:cNvPicPr preferRelativeResize="0"/>
            <p:nvPr/>
          </p:nvPicPr>
          <p:blipFill rotWithShape="1">
            <a:blip r:embed="rId4">
              <a:alphaModFix/>
            </a:blip>
            <a:srcRect/>
            <a:stretch/>
          </p:blipFill>
          <p:spPr>
            <a:xfrm>
              <a:off x="6215062" y="3952875"/>
              <a:ext cx="5395912" cy="2514600"/>
            </a:xfrm>
            <a:prstGeom prst="rect">
              <a:avLst/>
            </a:prstGeom>
            <a:noFill/>
            <a:ln>
              <a:noFill/>
            </a:ln>
          </p:spPr>
        </p:pic>
        <p:sp>
          <p:nvSpPr>
            <p:cNvPr id="19" name="Google Shape;117;p14">
              <a:extLst>
                <a:ext uri="{FF2B5EF4-FFF2-40B4-BE49-F238E27FC236}">
                  <a16:creationId xmlns:a16="http://schemas.microsoft.com/office/drawing/2014/main" id="{E68DAFEC-0CE3-DA25-9520-374B5DFF49CE}"/>
                </a:ext>
              </a:extLst>
            </p:cNvPr>
            <p:cNvSpPr txBox="1"/>
            <p:nvPr/>
          </p:nvSpPr>
          <p:spPr>
            <a:xfrm>
              <a:off x="10792483" y="4157242"/>
              <a:ext cx="467631"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04</a:t>
              </a:r>
              <a:endParaRPr dirty="0">
                <a:latin typeface="微软雅黑" panose="020B0503020204020204" pitchFamily="34" charset="-122"/>
                <a:ea typeface="微软雅黑" panose="020B0503020204020204" pitchFamily="34" charset="-122"/>
              </a:endParaRPr>
            </a:p>
          </p:txBody>
        </p:sp>
        <p:sp>
          <p:nvSpPr>
            <p:cNvPr id="21" name="Google Shape;118;p14">
              <a:extLst>
                <a:ext uri="{FF2B5EF4-FFF2-40B4-BE49-F238E27FC236}">
                  <a16:creationId xmlns:a16="http://schemas.microsoft.com/office/drawing/2014/main" id="{F1EB1E5E-2893-1B2B-AEF6-E69ECDC24985}"/>
                </a:ext>
              </a:extLst>
            </p:cNvPr>
            <p:cNvSpPr txBox="1"/>
            <p:nvPr/>
          </p:nvSpPr>
          <p:spPr>
            <a:xfrm>
              <a:off x="6510337" y="4432726"/>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AFF00"/>
                  </a:solidFill>
                  <a:latin typeface="微软雅黑" panose="020B0503020204020204" pitchFamily="34" charset="-122"/>
                  <a:ea typeface="微软雅黑" panose="020B0503020204020204" pitchFamily="34" charset="-122"/>
                  <a:cs typeface="Inter"/>
                  <a:sym typeface="Inter"/>
                </a:rPr>
                <a:t>第四阶段：系统压测与模型调优</a:t>
              </a:r>
              <a:endParaRPr dirty="0">
                <a:latin typeface="微软雅黑" panose="020B0503020204020204" pitchFamily="34" charset="-122"/>
                <a:ea typeface="微软雅黑" panose="020B0503020204020204" pitchFamily="34" charset="-122"/>
              </a:endParaRPr>
            </a:p>
          </p:txBody>
        </p:sp>
        <p:sp>
          <p:nvSpPr>
            <p:cNvPr id="22" name="Google Shape;128;p14">
              <a:extLst>
                <a:ext uri="{FF2B5EF4-FFF2-40B4-BE49-F238E27FC236}">
                  <a16:creationId xmlns:a16="http://schemas.microsoft.com/office/drawing/2014/main" id="{299C4F85-EAC2-8124-173B-278E2C634158}"/>
                </a:ext>
              </a:extLst>
            </p:cNvPr>
            <p:cNvSpPr txBox="1"/>
            <p:nvPr/>
          </p:nvSpPr>
          <p:spPr>
            <a:xfrm>
              <a:off x="6510337" y="478746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针对</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16GB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内存环境进行性能压测</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23" name="Google Shape;129;p14">
              <a:extLst>
                <a:ext uri="{FF2B5EF4-FFF2-40B4-BE49-F238E27FC236}">
                  <a16:creationId xmlns:a16="http://schemas.microsoft.com/office/drawing/2014/main" id="{A8F9495A-5B4B-CCE8-0648-020E75D4E927}"/>
                </a:ext>
              </a:extLst>
            </p:cNvPr>
            <p:cNvSpPr txBox="1"/>
            <p:nvPr/>
          </p:nvSpPr>
          <p:spPr>
            <a:xfrm>
              <a:off x="6510337" y="5123295"/>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分析</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AUC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指标，优化高频点击场景响应</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24" name="Google Shape;130;p14">
              <a:extLst>
                <a:ext uri="{FF2B5EF4-FFF2-40B4-BE49-F238E27FC236}">
                  <a16:creationId xmlns:a16="http://schemas.microsoft.com/office/drawing/2014/main" id="{2941BDB0-A090-074B-B3D0-EE9AB9D09ECB}"/>
                </a:ext>
              </a:extLst>
            </p:cNvPr>
            <p:cNvSpPr txBox="1"/>
            <p:nvPr/>
          </p:nvSpPr>
          <p:spPr>
            <a:xfrm>
              <a:off x="6510337" y="5476629"/>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撰写论文与技术文档</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27" name="Google Shape;140;p14" descr="image.png">
              <a:extLst>
                <a:ext uri="{FF2B5EF4-FFF2-40B4-BE49-F238E27FC236}">
                  <a16:creationId xmlns:a16="http://schemas.microsoft.com/office/drawing/2014/main" id="{025A08C4-4D91-AFB0-6FC2-F7DDF05F70BC}"/>
                </a:ext>
              </a:extLst>
            </p:cNvPr>
            <p:cNvPicPr preferRelativeResize="0"/>
            <p:nvPr/>
          </p:nvPicPr>
          <p:blipFill rotWithShape="1">
            <a:blip r:embed="rId6">
              <a:alphaModFix/>
            </a:blip>
            <a:srcRect/>
            <a:stretch/>
          </p:blipFill>
          <p:spPr>
            <a:xfrm>
              <a:off x="6510337" y="4913304"/>
              <a:ext cx="133350" cy="152400"/>
            </a:xfrm>
            <a:prstGeom prst="rect">
              <a:avLst/>
            </a:prstGeom>
            <a:noFill/>
            <a:ln>
              <a:noFill/>
            </a:ln>
          </p:spPr>
        </p:pic>
        <p:pic>
          <p:nvPicPr>
            <p:cNvPr id="28" name="Google Shape;141;p14" descr="image.png">
              <a:extLst>
                <a:ext uri="{FF2B5EF4-FFF2-40B4-BE49-F238E27FC236}">
                  <a16:creationId xmlns:a16="http://schemas.microsoft.com/office/drawing/2014/main" id="{28BA3DFE-9AA4-AD46-8CBA-DE1A85F120D4}"/>
                </a:ext>
              </a:extLst>
            </p:cNvPr>
            <p:cNvPicPr preferRelativeResize="0"/>
            <p:nvPr/>
          </p:nvPicPr>
          <p:blipFill rotWithShape="1">
            <a:blip r:embed="rId6">
              <a:alphaModFix/>
            </a:blip>
            <a:srcRect/>
            <a:stretch/>
          </p:blipFill>
          <p:spPr>
            <a:xfrm>
              <a:off x="6510337" y="5249132"/>
              <a:ext cx="133350" cy="152400"/>
            </a:xfrm>
            <a:prstGeom prst="rect">
              <a:avLst/>
            </a:prstGeom>
            <a:noFill/>
            <a:ln>
              <a:noFill/>
            </a:ln>
          </p:spPr>
        </p:pic>
      </p:grpSp>
      <p:sp>
        <p:nvSpPr>
          <p:cNvPr id="29" name="Google Shape;143;p14">
            <a:extLst>
              <a:ext uri="{FF2B5EF4-FFF2-40B4-BE49-F238E27FC236}">
                <a16:creationId xmlns:a16="http://schemas.microsoft.com/office/drawing/2014/main" id="{07E89AD4-0563-0AB3-7CD0-94D35BFED69C}"/>
              </a:ext>
            </a:extLst>
          </p:cNvPr>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spc="1000" dirty="0" err="1">
                <a:latin typeface="微软雅黑" panose="020B0503020204020204" pitchFamily="34" charset="-122"/>
                <a:ea typeface="微软雅黑" panose="020B0503020204020204" pitchFamily="34" charset="-122"/>
                <a:cs typeface="Inter ExtraBold"/>
                <a:sym typeface="Inter ExtraBold"/>
              </a:rPr>
              <a:t>实施方案</a:t>
            </a:r>
            <a:endParaRPr sz="2850" b="1" spc="1000" dirty="0">
              <a:latin typeface="微软雅黑" panose="020B0503020204020204" pitchFamily="34" charset="-122"/>
              <a:ea typeface="微软雅黑" panose="020B0503020204020204" pitchFamily="34" charset="-122"/>
            </a:endParaRPr>
          </a:p>
        </p:txBody>
      </p:sp>
      <p:cxnSp>
        <p:nvCxnSpPr>
          <p:cNvPr id="30" name="直接连接符 29">
            <a:extLst>
              <a:ext uri="{FF2B5EF4-FFF2-40B4-BE49-F238E27FC236}">
                <a16:creationId xmlns:a16="http://schemas.microsoft.com/office/drawing/2014/main" id="{DF3FC5C9-600E-6561-7BEE-FAE4F1292361}"/>
              </a:ext>
            </a:extLst>
          </p:cNvPr>
          <p:cNvCxnSpPr>
            <a:cxnSpLocks/>
          </p:cNvCxnSpPr>
          <p:nvPr/>
        </p:nvCxnSpPr>
        <p:spPr>
          <a:xfrm>
            <a:off x="581025" y="915851"/>
            <a:ext cx="1109639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Google Shape;113;p14">
            <a:extLst>
              <a:ext uri="{FF2B5EF4-FFF2-40B4-BE49-F238E27FC236}">
                <a16:creationId xmlns:a16="http://schemas.microsoft.com/office/drawing/2014/main" id="{1836AAF7-B029-9422-88D4-65E3E27BD330}"/>
              </a:ext>
            </a:extLst>
          </p:cNvPr>
          <p:cNvSpPr txBox="1"/>
          <p:nvPr/>
        </p:nvSpPr>
        <p:spPr>
          <a:xfrm>
            <a:off x="10792483" y="1403421"/>
            <a:ext cx="674958"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02</a:t>
            </a:r>
            <a:endParaRPr dirty="0">
              <a:latin typeface="微软雅黑" panose="020B0503020204020204" pitchFamily="34" charset="-122"/>
              <a:ea typeface="微软雅黑" panose="020B0503020204020204" pitchFamily="34" charset="-122"/>
            </a:endParaRPr>
          </a:p>
        </p:txBody>
      </p:sp>
      <p:sp>
        <p:nvSpPr>
          <p:cNvPr id="33" name="Google Shape;115;p14">
            <a:extLst>
              <a:ext uri="{FF2B5EF4-FFF2-40B4-BE49-F238E27FC236}">
                <a16:creationId xmlns:a16="http://schemas.microsoft.com/office/drawing/2014/main" id="{BE289317-8A39-916C-EE10-5A7BF9689B21}"/>
              </a:ext>
            </a:extLst>
          </p:cNvPr>
          <p:cNvSpPr txBox="1"/>
          <p:nvPr/>
        </p:nvSpPr>
        <p:spPr>
          <a:xfrm>
            <a:off x="5242200" y="4116736"/>
            <a:ext cx="471489"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03</a:t>
            </a:r>
            <a:endParaRPr dirty="0">
              <a:latin typeface="微软雅黑" panose="020B0503020204020204" pitchFamily="34" charset="-122"/>
              <a:ea typeface="微软雅黑" panose="020B0503020204020204" pitchFamily="34" charset="-122"/>
            </a:endParaRPr>
          </a:p>
        </p:txBody>
      </p:sp>
      <p:sp>
        <p:nvSpPr>
          <p:cNvPr id="34" name="Google Shape;116;p14">
            <a:extLst>
              <a:ext uri="{FF2B5EF4-FFF2-40B4-BE49-F238E27FC236}">
                <a16:creationId xmlns:a16="http://schemas.microsoft.com/office/drawing/2014/main" id="{DA01AE52-2068-51C1-D68F-496F3BAEF99A}"/>
              </a:ext>
            </a:extLst>
          </p:cNvPr>
          <p:cNvSpPr txBox="1"/>
          <p:nvPr/>
        </p:nvSpPr>
        <p:spPr>
          <a:xfrm>
            <a:off x="876300" y="4507261"/>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B700"/>
                </a:solidFill>
                <a:latin typeface="微软雅黑" panose="020B0503020204020204" pitchFamily="34" charset="-122"/>
                <a:ea typeface="微软雅黑" panose="020B0503020204020204" pitchFamily="34" charset="-122"/>
                <a:cs typeface="Inter"/>
                <a:sym typeface="Inter"/>
              </a:rPr>
              <a:t>第三阶段：Web</a:t>
            </a:r>
            <a:r>
              <a:rPr lang="en-US" sz="1800" b="1" i="0" u="none" strike="noStrike" cap="none" dirty="0">
                <a:solidFill>
                  <a:srgbClr val="FFB700"/>
                </a:solidFill>
                <a:latin typeface="微软雅黑" panose="020B0503020204020204" pitchFamily="34" charset="-122"/>
                <a:ea typeface="微软雅黑" panose="020B0503020204020204" pitchFamily="34" charset="-122"/>
                <a:cs typeface="Inter"/>
                <a:sym typeface="Inter"/>
              </a:rPr>
              <a:t> </a:t>
            </a:r>
            <a:r>
              <a:rPr lang="en-US" sz="1800" b="1" i="0" u="none" strike="noStrike" cap="none" dirty="0" err="1">
                <a:solidFill>
                  <a:srgbClr val="FFB700"/>
                </a:solidFill>
                <a:latin typeface="微软雅黑" panose="020B0503020204020204" pitchFamily="34" charset="-122"/>
                <a:ea typeface="微软雅黑" panose="020B0503020204020204" pitchFamily="34" charset="-122"/>
                <a:cs typeface="Inter"/>
                <a:sym typeface="Inter"/>
              </a:rPr>
              <a:t>业务模块集成</a:t>
            </a:r>
            <a:endParaRPr dirty="0">
              <a:latin typeface="微软雅黑" panose="020B0503020204020204" pitchFamily="34" charset="-122"/>
              <a:ea typeface="微软雅黑" panose="020B0503020204020204" pitchFamily="34" charset="-122"/>
            </a:endParaRPr>
          </a:p>
        </p:txBody>
      </p:sp>
      <p:sp>
        <p:nvSpPr>
          <p:cNvPr id="35" name="Google Shape;125;p14">
            <a:extLst>
              <a:ext uri="{FF2B5EF4-FFF2-40B4-BE49-F238E27FC236}">
                <a16:creationId xmlns:a16="http://schemas.microsoft.com/office/drawing/2014/main" id="{D8688445-BC48-50E4-790C-568AF4DA5853}"/>
              </a:ext>
            </a:extLst>
          </p:cNvPr>
          <p:cNvSpPr txBox="1"/>
          <p:nvPr/>
        </p:nvSpPr>
        <p:spPr>
          <a:xfrm>
            <a:off x="876300" y="4823038"/>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开发</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MVC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架构播放器、收藏夹及搜索</a:t>
            </a:r>
            <a:r>
              <a:rPr lang="zh-CN" alt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等页面</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36" name="Google Shape;126;p14">
            <a:extLst>
              <a:ext uri="{FF2B5EF4-FFF2-40B4-BE49-F238E27FC236}">
                <a16:creationId xmlns:a16="http://schemas.microsoft.com/office/drawing/2014/main" id="{BEF08E29-744F-0210-0BDB-EE35C3AA9A7C}"/>
              </a:ext>
            </a:extLst>
          </p:cNvPr>
          <p:cNvSpPr txBox="1"/>
          <p:nvPr/>
        </p:nvSpPr>
        <p:spPr>
          <a:xfrm>
            <a:off x="876300" y="5204555"/>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实现实时读取推荐表展示个性化列表</a:t>
            </a:r>
            <a:r>
              <a:rPr lang="zh-CN" alt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给用户</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37" name="Google Shape;127;p14">
            <a:extLst>
              <a:ext uri="{FF2B5EF4-FFF2-40B4-BE49-F238E27FC236}">
                <a16:creationId xmlns:a16="http://schemas.microsoft.com/office/drawing/2014/main" id="{252A96FE-240F-A859-0D95-112223C4635C}"/>
              </a:ext>
            </a:extLst>
          </p:cNvPr>
          <p:cNvSpPr txBox="1"/>
          <p:nvPr/>
        </p:nvSpPr>
        <p:spPr>
          <a:xfrm>
            <a:off x="876300" y="557309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前后端交互逻辑联调</a:t>
            </a:r>
            <a:r>
              <a:rPr lang="zh-CN" alt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互通</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39" name="Google Shape;131;p14" descr="image.png">
            <a:extLst>
              <a:ext uri="{FF2B5EF4-FFF2-40B4-BE49-F238E27FC236}">
                <a16:creationId xmlns:a16="http://schemas.microsoft.com/office/drawing/2014/main" id="{D68C860C-0AC4-0D98-74F7-3C1A99901047}"/>
              </a:ext>
            </a:extLst>
          </p:cNvPr>
          <p:cNvPicPr preferRelativeResize="0"/>
          <p:nvPr/>
        </p:nvPicPr>
        <p:blipFill rotWithShape="1">
          <a:blip r:embed="rId7">
            <a:alphaModFix/>
          </a:blip>
          <a:srcRect/>
          <a:stretch/>
        </p:blipFill>
        <p:spPr>
          <a:xfrm>
            <a:off x="876300" y="2250525"/>
            <a:ext cx="133350" cy="152400"/>
          </a:xfrm>
          <a:prstGeom prst="rect">
            <a:avLst/>
          </a:prstGeom>
          <a:noFill/>
          <a:ln>
            <a:noFill/>
          </a:ln>
        </p:spPr>
      </p:pic>
      <p:pic>
        <p:nvPicPr>
          <p:cNvPr id="40" name="Google Shape;131;p14" descr="image.png">
            <a:extLst>
              <a:ext uri="{FF2B5EF4-FFF2-40B4-BE49-F238E27FC236}">
                <a16:creationId xmlns:a16="http://schemas.microsoft.com/office/drawing/2014/main" id="{B79037B2-10AA-BB4A-9035-3F7C762E160E}"/>
              </a:ext>
            </a:extLst>
          </p:cNvPr>
          <p:cNvPicPr preferRelativeResize="0"/>
          <p:nvPr/>
        </p:nvPicPr>
        <p:blipFill rotWithShape="1">
          <a:blip r:embed="rId7">
            <a:alphaModFix/>
          </a:blip>
          <a:srcRect/>
          <a:stretch/>
        </p:blipFill>
        <p:spPr>
          <a:xfrm>
            <a:off x="876300" y="2609593"/>
            <a:ext cx="133350" cy="152400"/>
          </a:xfrm>
          <a:prstGeom prst="rect">
            <a:avLst/>
          </a:prstGeom>
          <a:noFill/>
          <a:ln>
            <a:noFill/>
          </a:ln>
        </p:spPr>
      </p:pic>
      <p:pic>
        <p:nvPicPr>
          <p:cNvPr id="41" name="Google Shape;131;p14" descr="image.png">
            <a:extLst>
              <a:ext uri="{FF2B5EF4-FFF2-40B4-BE49-F238E27FC236}">
                <a16:creationId xmlns:a16="http://schemas.microsoft.com/office/drawing/2014/main" id="{CCB2A698-83BC-AEF1-4003-8E6FC3CC3DBF}"/>
              </a:ext>
            </a:extLst>
          </p:cNvPr>
          <p:cNvPicPr preferRelativeResize="0"/>
          <p:nvPr/>
        </p:nvPicPr>
        <p:blipFill rotWithShape="1">
          <a:blip r:embed="rId7">
            <a:alphaModFix/>
          </a:blip>
          <a:srcRect/>
          <a:stretch/>
        </p:blipFill>
        <p:spPr>
          <a:xfrm>
            <a:off x="876300" y="2980168"/>
            <a:ext cx="133350" cy="152400"/>
          </a:xfrm>
          <a:prstGeom prst="rect">
            <a:avLst/>
          </a:prstGeom>
          <a:noFill/>
          <a:ln>
            <a:noFill/>
          </a:ln>
        </p:spPr>
      </p:pic>
      <p:sp>
        <p:nvSpPr>
          <p:cNvPr id="42" name="Google Shape;113;p14">
            <a:extLst>
              <a:ext uri="{FF2B5EF4-FFF2-40B4-BE49-F238E27FC236}">
                <a16:creationId xmlns:a16="http://schemas.microsoft.com/office/drawing/2014/main" id="{17F93F4E-748B-FE48-AFF9-F1CE111462E0}"/>
              </a:ext>
            </a:extLst>
          </p:cNvPr>
          <p:cNvSpPr txBox="1"/>
          <p:nvPr/>
        </p:nvSpPr>
        <p:spPr>
          <a:xfrm>
            <a:off x="5242200" y="1323106"/>
            <a:ext cx="674958"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01</a:t>
            </a:r>
            <a:endParaRPr dirty="0">
              <a:latin typeface="微软雅黑" panose="020B0503020204020204" pitchFamily="34" charset="-122"/>
              <a:ea typeface="微软雅黑" panose="020B0503020204020204" pitchFamily="34" charset="-122"/>
            </a:endParaRPr>
          </a:p>
        </p:txBody>
      </p:sp>
      <p:pic>
        <p:nvPicPr>
          <p:cNvPr id="43" name="Google Shape;137;p14" descr="image.png">
            <a:extLst>
              <a:ext uri="{FF2B5EF4-FFF2-40B4-BE49-F238E27FC236}">
                <a16:creationId xmlns:a16="http://schemas.microsoft.com/office/drawing/2014/main" id="{6A87467E-8DA4-0AFD-72C4-0ED7F1FD53D5}"/>
              </a:ext>
            </a:extLst>
          </p:cNvPr>
          <p:cNvPicPr preferRelativeResize="0"/>
          <p:nvPr/>
        </p:nvPicPr>
        <p:blipFill rotWithShape="1">
          <a:blip r:embed="rId8">
            <a:alphaModFix/>
          </a:blip>
          <a:srcRect/>
          <a:stretch/>
        </p:blipFill>
        <p:spPr>
          <a:xfrm>
            <a:off x="876300" y="4960977"/>
            <a:ext cx="133350" cy="152400"/>
          </a:xfrm>
          <a:prstGeom prst="rect">
            <a:avLst/>
          </a:prstGeom>
          <a:noFill/>
          <a:ln>
            <a:noFill/>
          </a:ln>
        </p:spPr>
      </p:pic>
      <p:pic>
        <p:nvPicPr>
          <p:cNvPr id="44" name="Google Shape;137;p14" descr="image.png">
            <a:extLst>
              <a:ext uri="{FF2B5EF4-FFF2-40B4-BE49-F238E27FC236}">
                <a16:creationId xmlns:a16="http://schemas.microsoft.com/office/drawing/2014/main" id="{F8EFDDA8-3606-6A14-9A86-71073F5FC157}"/>
              </a:ext>
            </a:extLst>
          </p:cNvPr>
          <p:cNvPicPr preferRelativeResize="0"/>
          <p:nvPr/>
        </p:nvPicPr>
        <p:blipFill rotWithShape="1">
          <a:blip r:embed="rId8">
            <a:alphaModFix/>
          </a:blip>
          <a:srcRect/>
          <a:stretch/>
        </p:blipFill>
        <p:spPr>
          <a:xfrm>
            <a:off x="876300" y="5380387"/>
            <a:ext cx="133350" cy="152400"/>
          </a:xfrm>
          <a:prstGeom prst="rect">
            <a:avLst/>
          </a:prstGeom>
          <a:noFill/>
          <a:ln>
            <a:noFill/>
          </a:ln>
        </p:spPr>
      </p:pic>
      <p:pic>
        <p:nvPicPr>
          <p:cNvPr id="45" name="Google Shape;137;p14" descr="image.png">
            <a:extLst>
              <a:ext uri="{FF2B5EF4-FFF2-40B4-BE49-F238E27FC236}">
                <a16:creationId xmlns:a16="http://schemas.microsoft.com/office/drawing/2014/main" id="{CFDE74A3-4E93-4E8A-5DF9-7552AB2B90BE}"/>
              </a:ext>
            </a:extLst>
          </p:cNvPr>
          <p:cNvPicPr preferRelativeResize="0"/>
          <p:nvPr/>
        </p:nvPicPr>
        <p:blipFill rotWithShape="1">
          <a:blip r:embed="rId8">
            <a:alphaModFix/>
          </a:blip>
          <a:srcRect/>
          <a:stretch/>
        </p:blipFill>
        <p:spPr>
          <a:xfrm>
            <a:off x="876300" y="5736492"/>
            <a:ext cx="133350" cy="152400"/>
          </a:xfrm>
          <a:prstGeom prst="rect">
            <a:avLst/>
          </a:prstGeom>
          <a:noFill/>
          <a:ln>
            <a:noFill/>
          </a:ln>
        </p:spPr>
      </p:pic>
      <p:sp>
        <p:nvSpPr>
          <p:cNvPr id="46" name="Google Shape;114;p14">
            <a:extLst>
              <a:ext uri="{FF2B5EF4-FFF2-40B4-BE49-F238E27FC236}">
                <a16:creationId xmlns:a16="http://schemas.microsoft.com/office/drawing/2014/main" id="{F4EC8E9D-9090-32E3-0E3C-BF28ED1246A5}"/>
              </a:ext>
            </a:extLst>
          </p:cNvPr>
          <p:cNvSpPr txBox="1"/>
          <p:nvPr/>
        </p:nvSpPr>
        <p:spPr>
          <a:xfrm>
            <a:off x="6510337" y="1724025"/>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BC13FE"/>
                </a:solidFill>
                <a:latin typeface="微软雅黑" panose="020B0503020204020204" pitchFamily="34" charset="-122"/>
                <a:ea typeface="微软雅黑" panose="020B0503020204020204" pitchFamily="34" charset="-122"/>
                <a:cs typeface="Inter"/>
                <a:sym typeface="Inter"/>
              </a:rPr>
              <a:t>第二阶段：算法引擎与链路打通</a:t>
            </a:r>
            <a:endParaRPr dirty="0">
              <a:latin typeface="微软雅黑" panose="020B0503020204020204" pitchFamily="34" charset="-122"/>
              <a:ea typeface="微软雅黑" panose="020B0503020204020204" pitchFamily="34" charset="-122"/>
            </a:endParaRPr>
          </a:p>
        </p:txBody>
      </p:sp>
      <p:sp>
        <p:nvSpPr>
          <p:cNvPr id="47" name="Google Shape;122;p14">
            <a:extLst>
              <a:ext uri="{FF2B5EF4-FFF2-40B4-BE49-F238E27FC236}">
                <a16:creationId xmlns:a16="http://schemas.microsoft.com/office/drawing/2014/main" id="{E428E271-056E-AAEB-77D3-F8EADCB9AA93}"/>
              </a:ext>
            </a:extLst>
          </p:cNvPr>
          <p:cNvSpPr txBox="1"/>
          <p:nvPr/>
        </p:nvSpPr>
        <p:spPr>
          <a:xfrm>
            <a:off x="6510337" y="2116285"/>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构建召回</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(ALS)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与排序</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DeepFM</a:t>
            </a:r>
            <a:r>
              <a:rPr lang="en-US" sz="1600" b="1" i="0" u="none" strike="noStrike" cap="none" dirty="0">
                <a:solidFill>
                  <a:schemeClr val="bg1"/>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模型</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48" name="Google Shape;123;p14">
            <a:extLst>
              <a:ext uri="{FF2B5EF4-FFF2-40B4-BE49-F238E27FC236}">
                <a16:creationId xmlns:a16="http://schemas.microsoft.com/office/drawing/2014/main" id="{B0EB9474-7037-E979-44FD-E657902F4A99}"/>
              </a:ext>
            </a:extLst>
          </p:cNvPr>
          <p:cNvSpPr txBox="1"/>
          <p:nvPr/>
        </p:nvSpPr>
        <p:spPr>
          <a:xfrm>
            <a:off x="6510337" y="2451866"/>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实现“离线计算-数据库-前端”自动化回传</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49" name="Google Shape;124;p14">
            <a:extLst>
              <a:ext uri="{FF2B5EF4-FFF2-40B4-BE49-F238E27FC236}">
                <a16:creationId xmlns:a16="http://schemas.microsoft.com/office/drawing/2014/main" id="{ACA7528A-E569-791C-14C3-E67898E2A0FC}"/>
              </a:ext>
            </a:extLst>
          </p:cNvPr>
          <p:cNvSpPr txBox="1"/>
          <p:nvPr/>
        </p:nvSpPr>
        <p:spPr>
          <a:xfrm>
            <a:off x="6510337" y="2811660"/>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解决跨语言系统通信问题</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50" name="Google Shape;136;p14" descr="image.png">
            <a:extLst>
              <a:ext uri="{FF2B5EF4-FFF2-40B4-BE49-F238E27FC236}">
                <a16:creationId xmlns:a16="http://schemas.microsoft.com/office/drawing/2014/main" id="{CF4606D7-83AD-509A-4AA0-D567C7481970}"/>
              </a:ext>
            </a:extLst>
          </p:cNvPr>
          <p:cNvPicPr preferRelativeResize="0"/>
          <p:nvPr/>
        </p:nvPicPr>
        <p:blipFill rotWithShape="1">
          <a:blip r:embed="rId9">
            <a:alphaModFix/>
          </a:blip>
          <a:srcRect/>
          <a:stretch/>
        </p:blipFill>
        <p:spPr>
          <a:xfrm>
            <a:off x="6510337" y="2959014"/>
            <a:ext cx="133350" cy="152400"/>
          </a:xfrm>
          <a:prstGeom prst="rect">
            <a:avLst/>
          </a:prstGeom>
          <a:noFill/>
          <a:ln>
            <a:noFill/>
          </a:ln>
        </p:spPr>
      </p:pic>
      <p:pic>
        <p:nvPicPr>
          <p:cNvPr id="51" name="Google Shape;136;p14" descr="image.png">
            <a:extLst>
              <a:ext uri="{FF2B5EF4-FFF2-40B4-BE49-F238E27FC236}">
                <a16:creationId xmlns:a16="http://schemas.microsoft.com/office/drawing/2014/main" id="{FE291D0A-29E9-F080-624B-F9DEAAB75964}"/>
              </a:ext>
            </a:extLst>
          </p:cNvPr>
          <p:cNvPicPr preferRelativeResize="0"/>
          <p:nvPr/>
        </p:nvPicPr>
        <p:blipFill rotWithShape="1">
          <a:blip r:embed="rId9">
            <a:alphaModFix/>
          </a:blip>
          <a:srcRect/>
          <a:stretch/>
        </p:blipFill>
        <p:spPr>
          <a:xfrm>
            <a:off x="6510337" y="2587508"/>
            <a:ext cx="133350" cy="152400"/>
          </a:xfrm>
          <a:prstGeom prst="rect">
            <a:avLst/>
          </a:prstGeom>
          <a:noFill/>
          <a:ln>
            <a:noFill/>
          </a:ln>
        </p:spPr>
      </p:pic>
      <p:pic>
        <p:nvPicPr>
          <p:cNvPr id="52" name="Google Shape;136;p14" descr="image.png">
            <a:extLst>
              <a:ext uri="{FF2B5EF4-FFF2-40B4-BE49-F238E27FC236}">
                <a16:creationId xmlns:a16="http://schemas.microsoft.com/office/drawing/2014/main" id="{A95A012D-3E3A-B352-562C-9246CABFAED0}"/>
              </a:ext>
            </a:extLst>
          </p:cNvPr>
          <p:cNvPicPr preferRelativeResize="0"/>
          <p:nvPr/>
        </p:nvPicPr>
        <p:blipFill rotWithShape="1">
          <a:blip r:embed="rId9">
            <a:alphaModFix/>
          </a:blip>
          <a:srcRect/>
          <a:stretch/>
        </p:blipFill>
        <p:spPr>
          <a:xfrm>
            <a:off x="6510337" y="2260405"/>
            <a:ext cx="133350" cy="152400"/>
          </a:xfrm>
          <a:prstGeom prst="rect">
            <a:avLst/>
          </a:prstGeom>
          <a:noFill/>
          <a:ln>
            <a:noFill/>
          </a:ln>
        </p:spPr>
      </p:pic>
      <p:pic>
        <p:nvPicPr>
          <p:cNvPr id="53" name="Google Shape;140;p14" descr="image.png">
            <a:extLst>
              <a:ext uri="{FF2B5EF4-FFF2-40B4-BE49-F238E27FC236}">
                <a16:creationId xmlns:a16="http://schemas.microsoft.com/office/drawing/2014/main" id="{EB9C8109-D435-DB18-F47A-835CFD149FB3}"/>
              </a:ext>
            </a:extLst>
          </p:cNvPr>
          <p:cNvPicPr preferRelativeResize="0"/>
          <p:nvPr/>
        </p:nvPicPr>
        <p:blipFill rotWithShape="1">
          <a:blip r:embed="rId6">
            <a:alphaModFix/>
          </a:blip>
          <a:srcRect/>
          <a:stretch/>
        </p:blipFill>
        <p:spPr>
          <a:xfrm>
            <a:off x="6510337" y="5639657"/>
            <a:ext cx="133350" cy="152400"/>
          </a:xfrm>
          <a:prstGeom prst="rect">
            <a:avLst/>
          </a:prstGeom>
          <a:noFill/>
          <a:ln>
            <a:noFill/>
          </a:ln>
        </p:spPr>
      </p:pic>
    </p:spTree>
    <p:custDataLst>
      <p:tags r:id="rId1"/>
    </p:custDataLst>
    <p:extLst>
      <p:ext uri="{BB962C8B-B14F-4D97-AF65-F5344CB8AC3E}">
        <p14:creationId xmlns:p14="http://schemas.microsoft.com/office/powerpoint/2010/main" val="2560357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4" name="图片 3" descr="房间的摆设布局&#10;&#10;AI 生成的内容可能不正确。">
            <a:extLst>
              <a:ext uri="{FF2B5EF4-FFF2-40B4-BE49-F238E27FC236}">
                <a16:creationId xmlns:a16="http://schemas.microsoft.com/office/drawing/2014/main" id="{EAC39604-030B-E352-3A28-A0E825472920}"/>
              </a:ext>
            </a:extLst>
          </p:cNvPr>
          <p:cNvPicPr>
            <a:picLocks noChangeAspect="1"/>
          </p:cNvPicPr>
          <p:nvPr/>
        </p:nvPicPr>
        <p:blipFill>
          <a:blip r:embed="rId4"/>
          <a:stretch>
            <a:fillRect/>
          </a:stretch>
        </p:blipFill>
        <p:spPr>
          <a:xfrm>
            <a:off x="2051" y="0"/>
            <a:ext cx="12187898" cy="6858000"/>
          </a:xfrm>
          <a:prstGeom prst="rect">
            <a:avLst/>
          </a:prstGeom>
          <a:ln>
            <a:noFill/>
          </a:ln>
        </p:spPr>
      </p:pic>
      <p:pic>
        <p:nvPicPr>
          <p:cNvPr id="150" name="Google Shape;150;p15" descr="image.png"/>
          <p:cNvPicPr preferRelativeResize="0"/>
          <p:nvPr/>
        </p:nvPicPr>
        <p:blipFill rotWithShape="1">
          <a:blip r:embed="rId5">
            <a:alphaModFix/>
          </a:blip>
          <a:srcRect/>
          <a:stretch/>
        </p:blipFill>
        <p:spPr>
          <a:xfrm>
            <a:off x="6091237" y="1200150"/>
            <a:ext cx="9525" cy="5267325"/>
          </a:xfrm>
          <a:prstGeom prst="rect">
            <a:avLst/>
          </a:prstGeom>
          <a:noFill/>
          <a:ln>
            <a:noFill/>
          </a:ln>
        </p:spPr>
      </p:pic>
      <p:sp>
        <p:nvSpPr>
          <p:cNvPr id="151" name="Google Shape;151;p15"/>
          <p:cNvSpPr txBox="1"/>
          <p:nvPr/>
        </p:nvSpPr>
        <p:spPr>
          <a:xfrm>
            <a:off x="1371600" y="2138704"/>
            <a:ext cx="433863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后端服务与数据层</a:t>
            </a:r>
            <a:endParaRPr dirty="0">
              <a:latin typeface="微软雅黑" panose="020B0503020204020204" pitchFamily="34" charset="-122"/>
              <a:ea typeface="微软雅黑" panose="020B0503020204020204" pitchFamily="34" charset="-122"/>
            </a:endParaRPr>
          </a:p>
        </p:txBody>
      </p:sp>
      <p:pic>
        <p:nvPicPr>
          <p:cNvPr id="152" name="Google Shape;152;p15" descr="image.png"/>
          <p:cNvPicPr preferRelativeResize="0"/>
          <p:nvPr/>
        </p:nvPicPr>
        <p:blipFill rotWithShape="1">
          <a:blip r:embed="rId6">
            <a:alphaModFix/>
          </a:blip>
          <a:srcRect/>
          <a:stretch/>
        </p:blipFill>
        <p:spPr>
          <a:xfrm>
            <a:off x="962025" y="2767012"/>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pic>
        <p:nvPicPr>
          <p:cNvPr id="153" name="Google Shape;153;p15" descr="image.png"/>
          <p:cNvPicPr preferRelativeResize="0"/>
          <p:nvPr/>
        </p:nvPicPr>
        <p:blipFill rotWithShape="1">
          <a:blip r:embed="rId6">
            <a:alphaModFix/>
          </a:blip>
          <a:srcRect/>
          <a:stretch/>
        </p:blipFill>
        <p:spPr>
          <a:xfrm>
            <a:off x="962025" y="3462337"/>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pic>
        <p:nvPicPr>
          <p:cNvPr id="154" name="Google Shape;154;p15" descr="image.png"/>
          <p:cNvPicPr preferRelativeResize="0"/>
          <p:nvPr/>
        </p:nvPicPr>
        <p:blipFill rotWithShape="1">
          <a:blip r:embed="rId6">
            <a:alphaModFix/>
          </a:blip>
          <a:srcRect/>
          <a:stretch/>
        </p:blipFill>
        <p:spPr>
          <a:xfrm>
            <a:off x="962025" y="4157662"/>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pic>
        <p:nvPicPr>
          <p:cNvPr id="155" name="Google Shape;155;p15" descr="image.png"/>
          <p:cNvPicPr preferRelativeResize="0"/>
          <p:nvPr/>
        </p:nvPicPr>
        <p:blipFill rotWithShape="1">
          <a:blip r:embed="rId6">
            <a:alphaModFix/>
          </a:blip>
          <a:srcRect/>
          <a:stretch/>
        </p:blipFill>
        <p:spPr>
          <a:xfrm>
            <a:off x="962025" y="4852987"/>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sp>
        <p:nvSpPr>
          <p:cNvPr id="156" name="Google Shape;156;p15"/>
          <p:cNvSpPr txBox="1"/>
          <p:nvPr/>
        </p:nvSpPr>
        <p:spPr>
          <a:xfrm>
            <a:off x="6891337" y="2138704"/>
            <a:ext cx="433863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err="1">
                <a:solidFill>
                  <a:srgbClr val="BC13FE"/>
                </a:solidFill>
                <a:latin typeface="微软雅黑" panose="020B0503020204020204" pitchFamily="34" charset="-122"/>
                <a:ea typeface="微软雅黑" panose="020B0503020204020204" pitchFamily="34" charset="-122"/>
                <a:cs typeface="Inter"/>
                <a:sym typeface="Inter"/>
              </a:rPr>
              <a:t>大数据与算法引擎</a:t>
            </a:r>
            <a:endParaRPr dirty="0">
              <a:latin typeface="微软雅黑" panose="020B0503020204020204" pitchFamily="34" charset="-122"/>
              <a:ea typeface="微软雅黑" panose="020B0503020204020204" pitchFamily="34" charset="-122"/>
            </a:endParaRPr>
          </a:p>
        </p:txBody>
      </p:sp>
      <p:pic>
        <p:nvPicPr>
          <p:cNvPr id="157" name="Google Shape;157;p15" descr="image.png"/>
          <p:cNvPicPr preferRelativeResize="0"/>
          <p:nvPr/>
        </p:nvPicPr>
        <p:blipFill rotWithShape="1">
          <a:blip r:embed="rId7">
            <a:alphaModFix/>
          </a:blip>
          <a:srcRect/>
          <a:stretch/>
        </p:blipFill>
        <p:spPr>
          <a:xfrm>
            <a:off x="6481762" y="2767012"/>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pic>
        <p:nvPicPr>
          <p:cNvPr id="158" name="Google Shape;158;p15" descr="image.png"/>
          <p:cNvPicPr preferRelativeResize="0"/>
          <p:nvPr/>
        </p:nvPicPr>
        <p:blipFill rotWithShape="1">
          <a:blip r:embed="rId7">
            <a:alphaModFix/>
          </a:blip>
          <a:srcRect/>
          <a:stretch/>
        </p:blipFill>
        <p:spPr>
          <a:xfrm>
            <a:off x="6481762" y="3462337"/>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pic>
        <p:nvPicPr>
          <p:cNvPr id="159" name="Google Shape;159;p15" descr="image.png"/>
          <p:cNvPicPr preferRelativeResize="0"/>
          <p:nvPr/>
        </p:nvPicPr>
        <p:blipFill rotWithShape="1">
          <a:blip r:embed="rId7">
            <a:alphaModFix/>
          </a:blip>
          <a:srcRect/>
          <a:stretch/>
        </p:blipFill>
        <p:spPr>
          <a:xfrm>
            <a:off x="6481762" y="4157662"/>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pic>
        <p:nvPicPr>
          <p:cNvPr id="160" name="Google Shape;160;p15" descr="image.png"/>
          <p:cNvPicPr preferRelativeResize="0"/>
          <p:nvPr/>
        </p:nvPicPr>
        <p:blipFill rotWithShape="1">
          <a:blip r:embed="rId7">
            <a:alphaModFix/>
          </a:blip>
          <a:srcRect/>
          <a:stretch/>
        </p:blipFill>
        <p:spPr>
          <a:xfrm>
            <a:off x="6481762" y="4852987"/>
            <a:ext cx="4748212" cy="552450"/>
          </a:xfrm>
          <a:prstGeom prst="roundRect">
            <a:avLst>
              <a:gd name="adj" fmla="val 8594"/>
            </a:avLst>
          </a:prstGeom>
          <a:solidFill>
            <a:schemeClr val="tx1">
              <a:lumMod val="50000"/>
              <a:lumOff val="50000"/>
            </a:schemeClr>
          </a:solidFill>
          <a:ln>
            <a:noFill/>
          </a:ln>
          <a:effectLst>
            <a:reflection blurRad="12700" stA="38000" endPos="28000" dist="5000" dir="5400000" sy="-100000" algn="bl" rotWithShape="0"/>
          </a:effectLst>
        </p:spPr>
      </p:pic>
      <p:pic>
        <p:nvPicPr>
          <p:cNvPr id="161" name="Google Shape;161;p15" descr="image.png"/>
          <p:cNvPicPr preferRelativeResize="0"/>
          <p:nvPr/>
        </p:nvPicPr>
        <p:blipFill rotWithShape="1">
          <a:blip r:embed="rId8">
            <a:alphaModFix/>
          </a:blip>
          <a:srcRect/>
          <a:stretch/>
        </p:blipFill>
        <p:spPr>
          <a:xfrm>
            <a:off x="962025" y="2166937"/>
            <a:ext cx="266700" cy="266700"/>
          </a:xfrm>
          <a:prstGeom prst="rect">
            <a:avLst/>
          </a:prstGeom>
          <a:noFill/>
          <a:ln>
            <a:noFill/>
          </a:ln>
        </p:spPr>
      </p:pic>
      <p:sp>
        <p:nvSpPr>
          <p:cNvPr id="162" name="Google Shape;162;p15"/>
          <p:cNvSpPr txBox="1"/>
          <p:nvPr/>
        </p:nvSpPr>
        <p:spPr>
          <a:xfrm>
            <a:off x="1217354" y="2916186"/>
            <a:ext cx="2409823" cy="276999"/>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chemeClr val="bg1"/>
                </a:solidFill>
                <a:latin typeface="微软雅黑" panose="020B0503020204020204" pitchFamily="34" charset="-122"/>
                <a:ea typeface="微软雅黑" panose="020B0503020204020204" pitchFamily="34" charset="-122"/>
                <a:cs typeface="Inter SemiBold"/>
                <a:sym typeface="Inter SemiBold"/>
              </a:rPr>
              <a:t> Core Language</a:t>
            </a:r>
            <a:endParaRPr b="1" dirty="0">
              <a:solidFill>
                <a:schemeClr val="bg1"/>
              </a:solidFill>
              <a:latin typeface="微软雅黑" panose="020B0503020204020204" pitchFamily="34" charset="-122"/>
              <a:ea typeface="微软雅黑" panose="020B0503020204020204" pitchFamily="34" charset="-122"/>
            </a:endParaRPr>
          </a:p>
        </p:txBody>
      </p:sp>
      <p:pic>
        <p:nvPicPr>
          <p:cNvPr id="163" name="Google Shape;163;p15" descr="image.png"/>
          <p:cNvPicPr preferRelativeResize="0"/>
          <p:nvPr/>
        </p:nvPicPr>
        <p:blipFill rotWithShape="1">
          <a:blip r:embed="rId9">
            <a:alphaModFix/>
          </a:blip>
          <a:srcRect/>
          <a:stretch/>
        </p:blipFill>
        <p:spPr>
          <a:xfrm>
            <a:off x="4824412" y="2919412"/>
            <a:ext cx="685800" cy="247650"/>
          </a:xfrm>
          <a:prstGeom prst="rect">
            <a:avLst/>
          </a:prstGeom>
          <a:solidFill>
            <a:schemeClr val="tx1"/>
          </a:solidFill>
          <a:ln>
            <a:noFill/>
          </a:ln>
        </p:spPr>
      </p:pic>
      <p:sp>
        <p:nvSpPr>
          <p:cNvPr id="164" name="Google Shape;164;p15"/>
          <p:cNvSpPr txBox="1"/>
          <p:nvPr/>
        </p:nvSpPr>
        <p:spPr>
          <a:xfrm>
            <a:off x="1190625" y="3610435"/>
            <a:ext cx="255857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Web Framework</a:t>
            </a:r>
            <a:endParaRPr b="1" dirty="0">
              <a:latin typeface="微软雅黑" panose="020B0503020204020204" pitchFamily="34" charset="-122"/>
              <a:ea typeface="微软雅黑" panose="020B0503020204020204" pitchFamily="34" charset="-122"/>
            </a:endParaRPr>
          </a:p>
        </p:txBody>
      </p:sp>
      <p:pic>
        <p:nvPicPr>
          <p:cNvPr id="165" name="Google Shape;165;p15" descr="image.png"/>
          <p:cNvPicPr preferRelativeResize="0"/>
          <p:nvPr/>
        </p:nvPicPr>
        <p:blipFill rotWithShape="1">
          <a:blip r:embed="rId10">
            <a:alphaModFix/>
          </a:blip>
          <a:srcRect/>
          <a:stretch/>
        </p:blipFill>
        <p:spPr>
          <a:xfrm>
            <a:off x="3977802" y="3614737"/>
            <a:ext cx="1532409" cy="247650"/>
          </a:xfrm>
          <a:prstGeom prst="rect">
            <a:avLst/>
          </a:prstGeom>
          <a:solidFill>
            <a:schemeClr val="tx1"/>
          </a:solidFill>
          <a:ln>
            <a:noFill/>
          </a:ln>
        </p:spPr>
      </p:pic>
      <p:sp>
        <p:nvSpPr>
          <p:cNvPr id="166" name="Google Shape;166;p15"/>
          <p:cNvSpPr txBox="1"/>
          <p:nvPr/>
        </p:nvSpPr>
        <p:spPr>
          <a:xfrm>
            <a:off x="1190625" y="4308931"/>
            <a:ext cx="1651175"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Database</a:t>
            </a:r>
            <a:endParaRPr b="1" dirty="0">
              <a:latin typeface="微软雅黑" panose="020B0503020204020204" pitchFamily="34" charset="-122"/>
              <a:ea typeface="微软雅黑" panose="020B0503020204020204" pitchFamily="34" charset="-122"/>
            </a:endParaRPr>
          </a:p>
        </p:txBody>
      </p:sp>
      <p:pic>
        <p:nvPicPr>
          <p:cNvPr id="167" name="Google Shape;167;p15" descr="image.png"/>
          <p:cNvPicPr preferRelativeResize="0"/>
          <p:nvPr/>
        </p:nvPicPr>
        <p:blipFill rotWithShape="1">
          <a:blip r:embed="rId11">
            <a:alphaModFix/>
          </a:blip>
          <a:srcRect/>
          <a:stretch/>
        </p:blipFill>
        <p:spPr>
          <a:xfrm>
            <a:off x="4519612" y="4310062"/>
            <a:ext cx="990600" cy="247650"/>
          </a:xfrm>
          <a:prstGeom prst="rect">
            <a:avLst/>
          </a:prstGeom>
          <a:solidFill>
            <a:schemeClr val="tx1"/>
          </a:solidFill>
          <a:ln>
            <a:noFill/>
          </a:ln>
        </p:spPr>
      </p:pic>
      <p:sp>
        <p:nvSpPr>
          <p:cNvPr id="168" name="Google Shape;168;p15"/>
          <p:cNvSpPr txBox="1"/>
          <p:nvPr/>
        </p:nvSpPr>
        <p:spPr>
          <a:xfrm>
            <a:off x="1162050" y="5004256"/>
            <a:ext cx="258832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Connection Pool</a:t>
            </a:r>
            <a:endParaRPr b="1" dirty="0">
              <a:latin typeface="微软雅黑" panose="020B0503020204020204" pitchFamily="34" charset="-122"/>
              <a:ea typeface="微软雅黑" panose="020B0503020204020204" pitchFamily="34" charset="-122"/>
            </a:endParaRPr>
          </a:p>
        </p:txBody>
      </p:sp>
      <p:pic>
        <p:nvPicPr>
          <p:cNvPr id="169" name="Google Shape;169;p15" descr="image.png"/>
          <p:cNvPicPr preferRelativeResize="0"/>
          <p:nvPr/>
        </p:nvPicPr>
        <p:blipFill rotWithShape="1">
          <a:blip r:embed="rId12">
            <a:alphaModFix/>
          </a:blip>
          <a:srcRect/>
          <a:stretch/>
        </p:blipFill>
        <p:spPr>
          <a:xfrm>
            <a:off x="4443412" y="5005387"/>
            <a:ext cx="1066800" cy="247650"/>
          </a:xfrm>
          <a:prstGeom prst="rect">
            <a:avLst/>
          </a:prstGeom>
          <a:solidFill>
            <a:schemeClr val="tx1"/>
          </a:solidFill>
          <a:ln>
            <a:noFill/>
          </a:ln>
        </p:spPr>
      </p:pic>
      <p:pic>
        <p:nvPicPr>
          <p:cNvPr id="170" name="Google Shape;170;p15" descr="image.png"/>
          <p:cNvPicPr preferRelativeResize="0"/>
          <p:nvPr/>
        </p:nvPicPr>
        <p:blipFill rotWithShape="1">
          <a:blip r:embed="rId13">
            <a:alphaModFix/>
          </a:blip>
          <a:srcRect/>
          <a:stretch/>
        </p:blipFill>
        <p:spPr>
          <a:xfrm>
            <a:off x="6481762" y="2166937"/>
            <a:ext cx="266700" cy="266700"/>
          </a:xfrm>
          <a:prstGeom prst="rect">
            <a:avLst/>
          </a:prstGeom>
          <a:noFill/>
          <a:ln>
            <a:noFill/>
          </a:ln>
        </p:spPr>
      </p:pic>
      <p:sp>
        <p:nvSpPr>
          <p:cNvPr id="171" name="Google Shape;171;p15"/>
          <p:cNvSpPr txBox="1"/>
          <p:nvPr/>
        </p:nvSpPr>
        <p:spPr>
          <a:xfrm>
            <a:off x="6718040" y="2906912"/>
            <a:ext cx="2409823"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Core Language</a:t>
            </a:r>
            <a:endParaRPr b="1" dirty="0">
              <a:latin typeface="微软雅黑" panose="020B0503020204020204" pitchFamily="34" charset="-122"/>
              <a:ea typeface="微软雅黑" panose="020B0503020204020204" pitchFamily="34" charset="-122"/>
            </a:endParaRPr>
          </a:p>
        </p:txBody>
      </p:sp>
      <p:pic>
        <p:nvPicPr>
          <p:cNvPr id="172" name="Google Shape;172;p15" descr="image.png"/>
          <p:cNvPicPr preferRelativeResize="0"/>
          <p:nvPr/>
        </p:nvPicPr>
        <p:blipFill rotWithShape="1">
          <a:blip r:embed="rId14">
            <a:alphaModFix/>
          </a:blip>
          <a:srcRect/>
          <a:stretch/>
        </p:blipFill>
        <p:spPr>
          <a:xfrm>
            <a:off x="10039350" y="2919412"/>
            <a:ext cx="990600" cy="247650"/>
          </a:xfrm>
          <a:prstGeom prst="rect">
            <a:avLst/>
          </a:prstGeom>
          <a:solidFill>
            <a:schemeClr val="tx1"/>
          </a:solidFill>
          <a:ln>
            <a:noFill/>
          </a:ln>
        </p:spPr>
      </p:pic>
      <p:sp>
        <p:nvSpPr>
          <p:cNvPr id="173" name="Google Shape;173;p15"/>
          <p:cNvSpPr txBox="1"/>
          <p:nvPr/>
        </p:nvSpPr>
        <p:spPr>
          <a:xfrm>
            <a:off x="6718040" y="3617809"/>
            <a:ext cx="3049467"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Big Data Framework</a:t>
            </a:r>
            <a:endParaRPr b="1" dirty="0">
              <a:latin typeface="微软雅黑" panose="020B0503020204020204" pitchFamily="34" charset="-122"/>
              <a:ea typeface="微软雅黑" panose="020B0503020204020204" pitchFamily="34" charset="-122"/>
            </a:endParaRPr>
          </a:p>
        </p:txBody>
      </p:sp>
      <p:pic>
        <p:nvPicPr>
          <p:cNvPr id="174" name="Google Shape;174;p15" descr="image.png"/>
          <p:cNvPicPr preferRelativeResize="0"/>
          <p:nvPr/>
        </p:nvPicPr>
        <p:blipFill rotWithShape="1">
          <a:blip r:embed="rId15">
            <a:alphaModFix/>
          </a:blip>
          <a:srcRect/>
          <a:stretch/>
        </p:blipFill>
        <p:spPr>
          <a:xfrm>
            <a:off x="10344150" y="3614737"/>
            <a:ext cx="685800" cy="247650"/>
          </a:xfrm>
          <a:prstGeom prst="rect">
            <a:avLst/>
          </a:prstGeom>
          <a:solidFill>
            <a:schemeClr val="tx1"/>
          </a:solidFill>
          <a:ln>
            <a:noFill/>
          </a:ln>
        </p:spPr>
      </p:pic>
      <p:sp>
        <p:nvSpPr>
          <p:cNvPr id="175" name="Google Shape;175;p15"/>
          <p:cNvSpPr txBox="1"/>
          <p:nvPr/>
        </p:nvSpPr>
        <p:spPr>
          <a:xfrm>
            <a:off x="6718040" y="4308931"/>
            <a:ext cx="1770179"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DL Library</a:t>
            </a:r>
            <a:endParaRPr b="1" dirty="0">
              <a:latin typeface="微软雅黑" panose="020B0503020204020204" pitchFamily="34" charset="-122"/>
              <a:ea typeface="微软雅黑" panose="020B0503020204020204" pitchFamily="34" charset="-122"/>
            </a:endParaRPr>
          </a:p>
        </p:txBody>
      </p:sp>
      <p:pic>
        <p:nvPicPr>
          <p:cNvPr id="176" name="Google Shape;176;p15" descr="image.png"/>
          <p:cNvPicPr preferRelativeResize="0"/>
          <p:nvPr/>
        </p:nvPicPr>
        <p:blipFill rotWithShape="1">
          <a:blip r:embed="rId16">
            <a:alphaModFix/>
          </a:blip>
          <a:srcRect/>
          <a:stretch/>
        </p:blipFill>
        <p:spPr>
          <a:xfrm>
            <a:off x="9124950" y="4310062"/>
            <a:ext cx="1905000" cy="247650"/>
          </a:xfrm>
          <a:prstGeom prst="rect">
            <a:avLst/>
          </a:prstGeom>
          <a:solidFill>
            <a:schemeClr val="tx1"/>
          </a:solidFill>
          <a:ln>
            <a:noFill/>
          </a:ln>
        </p:spPr>
      </p:pic>
      <p:sp>
        <p:nvSpPr>
          <p:cNvPr id="177" name="Google Shape;177;p15"/>
          <p:cNvSpPr txBox="1"/>
          <p:nvPr/>
        </p:nvSpPr>
        <p:spPr>
          <a:xfrm>
            <a:off x="6710361" y="5005387"/>
            <a:ext cx="255857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Core Algorithms</a:t>
            </a:r>
            <a:endParaRPr b="1" dirty="0">
              <a:latin typeface="微软雅黑" panose="020B0503020204020204" pitchFamily="34" charset="-122"/>
              <a:ea typeface="微软雅黑" panose="020B0503020204020204" pitchFamily="34" charset="-122"/>
            </a:endParaRPr>
          </a:p>
        </p:txBody>
      </p:sp>
      <p:pic>
        <p:nvPicPr>
          <p:cNvPr id="178" name="Google Shape;178;p15" descr="image.png"/>
          <p:cNvPicPr preferRelativeResize="0"/>
          <p:nvPr/>
        </p:nvPicPr>
        <p:blipFill rotWithShape="1">
          <a:blip r:embed="rId17">
            <a:alphaModFix/>
          </a:blip>
          <a:srcRect/>
          <a:stretch/>
        </p:blipFill>
        <p:spPr>
          <a:xfrm>
            <a:off x="9120184" y="5005387"/>
            <a:ext cx="1909766" cy="247650"/>
          </a:xfrm>
          <a:prstGeom prst="rect">
            <a:avLst/>
          </a:prstGeom>
          <a:solidFill>
            <a:schemeClr val="tx1"/>
          </a:solidFill>
          <a:ln>
            <a:noFill/>
          </a:ln>
        </p:spPr>
      </p:pic>
      <p:pic>
        <p:nvPicPr>
          <p:cNvPr id="180" name="Google Shape;180;p15" descr="image.png"/>
          <p:cNvPicPr preferRelativeResize="0"/>
          <p:nvPr/>
        </p:nvPicPr>
        <p:blipFill rotWithShape="1">
          <a:blip r:embed="rId18">
            <a:alphaModFix/>
          </a:blip>
          <a:srcRect/>
          <a:stretch/>
        </p:blipFill>
        <p:spPr>
          <a:xfrm>
            <a:off x="1190625" y="3657600"/>
            <a:ext cx="238125" cy="171450"/>
          </a:xfrm>
          <a:prstGeom prst="rect">
            <a:avLst/>
          </a:prstGeom>
          <a:noFill/>
          <a:ln>
            <a:noFill/>
          </a:ln>
        </p:spPr>
      </p:pic>
      <p:pic>
        <p:nvPicPr>
          <p:cNvPr id="181" name="Google Shape;181;p15" descr="image.png"/>
          <p:cNvPicPr preferRelativeResize="0"/>
          <p:nvPr/>
        </p:nvPicPr>
        <p:blipFill rotWithShape="1">
          <a:blip r:embed="rId19">
            <a:alphaModFix/>
          </a:blip>
          <a:srcRect/>
          <a:stretch/>
        </p:blipFill>
        <p:spPr>
          <a:xfrm>
            <a:off x="1190625" y="4352925"/>
            <a:ext cx="238125" cy="171450"/>
          </a:xfrm>
          <a:prstGeom prst="rect">
            <a:avLst/>
          </a:prstGeom>
          <a:noFill/>
          <a:ln>
            <a:noFill/>
          </a:ln>
        </p:spPr>
      </p:pic>
      <p:pic>
        <p:nvPicPr>
          <p:cNvPr id="182" name="Google Shape;182;p15" descr="image.png"/>
          <p:cNvPicPr preferRelativeResize="0"/>
          <p:nvPr/>
        </p:nvPicPr>
        <p:blipFill rotWithShape="1">
          <a:blip r:embed="rId20">
            <a:alphaModFix/>
          </a:blip>
          <a:srcRect/>
          <a:stretch/>
        </p:blipFill>
        <p:spPr>
          <a:xfrm>
            <a:off x="1190625" y="5048250"/>
            <a:ext cx="238125" cy="171450"/>
          </a:xfrm>
          <a:prstGeom prst="rect">
            <a:avLst/>
          </a:prstGeom>
          <a:noFill/>
          <a:ln>
            <a:noFill/>
          </a:ln>
        </p:spPr>
      </p:pic>
      <p:pic>
        <p:nvPicPr>
          <p:cNvPr id="183" name="Google Shape;183;p15" descr="image.png"/>
          <p:cNvPicPr preferRelativeResize="0"/>
          <p:nvPr/>
        </p:nvPicPr>
        <p:blipFill rotWithShape="1">
          <a:blip r:embed="rId21">
            <a:alphaModFix/>
          </a:blip>
          <a:srcRect/>
          <a:stretch/>
        </p:blipFill>
        <p:spPr>
          <a:xfrm>
            <a:off x="6710362" y="2962275"/>
            <a:ext cx="238125" cy="171450"/>
          </a:xfrm>
          <a:prstGeom prst="rect">
            <a:avLst/>
          </a:prstGeom>
          <a:noFill/>
          <a:ln>
            <a:noFill/>
          </a:ln>
        </p:spPr>
      </p:pic>
      <p:pic>
        <p:nvPicPr>
          <p:cNvPr id="184" name="Google Shape;184;p15" descr="image.png"/>
          <p:cNvPicPr preferRelativeResize="0"/>
          <p:nvPr/>
        </p:nvPicPr>
        <p:blipFill rotWithShape="1">
          <a:blip r:embed="rId22">
            <a:alphaModFix/>
          </a:blip>
          <a:srcRect/>
          <a:stretch/>
        </p:blipFill>
        <p:spPr>
          <a:xfrm>
            <a:off x="6710362" y="3657600"/>
            <a:ext cx="238125" cy="171450"/>
          </a:xfrm>
          <a:prstGeom prst="rect">
            <a:avLst/>
          </a:prstGeom>
          <a:noFill/>
          <a:ln>
            <a:noFill/>
          </a:ln>
        </p:spPr>
      </p:pic>
      <p:pic>
        <p:nvPicPr>
          <p:cNvPr id="185" name="Google Shape;185;p15" descr="image.png"/>
          <p:cNvPicPr preferRelativeResize="0"/>
          <p:nvPr/>
        </p:nvPicPr>
        <p:blipFill rotWithShape="1">
          <a:blip r:embed="rId23">
            <a:alphaModFix/>
          </a:blip>
          <a:srcRect/>
          <a:stretch/>
        </p:blipFill>
        <p:spPr>
          <a:xfrm>
            <a:off x="6682739" y="4352925"/>
            <a:ext cx="238125" cy="171450"/>
          </a:xfrm>
          <a:prstGeom prst="rect">
            <a:avLst/>
          </a:prstGeom>
          <a:noFill/>
          <a:ln>
            <a:noFill/>
          </a:ln>
        </p:spPr>
      </p:pic>
      <p:pic>
        <p:nvPicPr>
          <p:cNvPr id="186" name="Google Shape;186;p15" descr="image.png"/>
          <p:cNvPicPr preferRelativeResize="0"/>
          <p:nvPr/>
        </p:nvPicPr>
        <p:blipFill rotWithShape="1">
          <a:blip r:embed="rId24">
            <a:alphaModFix/>
          </a:blip>
          <a:srcRect/>
          <a:stretch/>
        </p:blipFill>
        <p:spPr>
          <a:xfrm>
            <a:off x="6710362" y="5048250"/>
            <a:ext cx="238125" cy="171450"/>
          </a:xfrm>
          <a:prstGeom prst="rect">
            <a:avLst/>
          </a:prstGeom>
          <a:noFill/>
          <a:ln>
            <a:noFill/>
          </a:ln>
        </p:spPr>
      </p:pic>
      <p:sp>
        <p:nvSpPr>
          <p:cNvPr id="189" name="Google Shape;189;p15"/>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spc="1000" dirty="0" err="1">
                <a:latin typeface="微软雅黑" panose="020B0503020204020204" pitchFamily="34" charset="-122"/>
                <a:ea typeface="微软雅黑" panose="020B0503020204020204" pitchFamily="34" charset="-122"/>
                <a:cs typeface="Inter ExtraBold"/>
                <a:sym typeface="Inter ExtraBold"/>
              </a:rPr>
              <a:t>研发环境与核心工具选型</a:t>
            </a:r>
            <a:endParaRPr sz="2850" b="1" spc="1000" dirty="0">
              <a:latin typeface="微软雅黑" panose="020B0503020204020204" pitchFamily="34" charset="-122"/>
              <a:ea typeface="微软雅黑" panose="020B0503020204020204" pitchFamily="34" charset="-122"/>
            </a:endParaRPr>
          </a:p>
        </p:txBody>
      </p:sp>
      <p:sp>
        <p:nvSpPr>
          <p:cNvPr id="190" name="Google Shape;190;p15"/>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463475B1-0241-A8B4-B146-F4F3316C7166}"/>
              </a:ext>
            </a:extLst>
          </p:cNvPr>
          <p:cNvCxnSpPr>
            <a:cxnSpLocks/>
          </p:cNvCxnSpPr>
          <p:nvPr/>
        </p:nvCxnSpPr>
        <p:spPr>
          <a:xfrm>
            <a:off x="581025" y="1002937"/>
            <a:ext cx="1109639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图形 5">
            <a:extLst>
              <a:ext uri="{FF2B5EF4-FFF2-40B4-BE49-F238E27FC236}">
                <a16:creationId xmlns:a16="http://schemas.microsoft.com/office/drawing/2014/main" id="{93197C9A-E7E3-624A-FF30-EF0B91C6AC58}"/>
              </a:ext>
            </a:extLst>
          </p:cNvPr>
          <p:cNvPicPr>
            <a:picLocks noChangeAspect="1"/>
          </p:cNvPicPr>
          <p:nvPr>
            <p:custDataLst>
              <p:tags r:id="rId1"/>
            </p:custDataLst>
          </p:nvPr>
        </p:nvPicPr>
        <p:blipFill>
          <a:blip r:embed="rId25">
            <a:extLst>
              <a:ext uri="{96DAC541-7B7A-43D3-8B79-37D633B846F1}">
                <asvg:svgBlip xmlns:asvg="http://schemas.microsoft.com/office/drawing/2016/SVG/main" r:embed="rId26"/>
              </a:ext>
            </a:extLst>
          </a:blip>
          <a:stretch>
            <a:fillRect/>
          </a:stretch>
        </p:blipFill>
        <p:spPr>
          <a:xfrm flipH="1">
            <a:off x="1084137" y="2908157"/>
            <a:ext cx="266435" cy="2664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fontScale="90000"/>
          </a:bodyPr>
          <a:lstStyle/>
          <a:p>
            <a:pPr lvl="0"/>
            <a:r>
              <a:rPr lang="en-US" dirty="0">
                <a:latin typeface="+mn-ea"/>
                <a:ea typeface="+mn-ea"/>
              </a:rPr>
              <a:t>05.</a:t>
            </a:r>
            <a:r>
              <a:rPr lang="zh-CN" altLang="en-US" dirty="0">
                <a:latin typeface="+mn-ea"/>
                <a:ea typeface="+mn-ea"/>
              </a:rPr>
              <a:t>预期成果与创新点</a:t>
            </a:r>
            <a:endParaRPr lang="en-US" dirty="0">
              <a:latin typeface="+mn-ea"/>
              <a:ea typeface="+mn-ea"/>
            </a:endParaRPr>
          </a:p>
        </p:txBody>
      </p:sp>
    </p:spTree>
    <p:custDataLst>
      <p:tags r:id="rId1"/>
    </p:custDataLst>
    <p:extLst>
      <p:ext uri="{BB962C8B-B14F-4D97-AF65-F5344CB8AC3E}">
        <p14:creationId xmlns:p14="http://schemas.microsoft.com/office/powerpoint/2010/main" val="396461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oogle Shape;109;p14" descr="image.png">
            <a:extLst>
              <a:ext uri="{FF2B5EF4-FFF2-40B4-BE49-F238E27FC236}">
                <a16:creationId xmlns:a16="http://schemas.microsoft.com/office/drawing/2014/main" id="{12D0BB6A-0050-6B6F-135A-914A7D67C6CA}"/>
              </a:ext>
            </a:extLst>
          </p:cNvPr>
          <p:cNvPicPr preferRelativeResize="0"/>
          <p:nvPr/>
        </p:nvPicPr>
        <p:blipFill rotWithShape="1">
          <a:blip r:embed="rId4">
            <a:alphaModFix/>
          </a:blip>
          <a:srcRect/>
          <a:stretch/>
        </p:blipFill>
        <p:spPr>
          <a:xfrm>
            <a:off x="581025" y="1531554"/>
            <a:ext cx="3454300" cy="5252696"/>
          </a:xfrm>
          <a:prstGeom prst="rect">
            <a:avLst/>
          </a:prstGeom>
          <a:noFill/>
          <a:ln>
            <a:noFill/>
          </a:ln>
        </p:spPr>
      </p:pic>
      <p:pic>
        <p:nvPicPr>
          <p:cNvPr id="27" name="Google Shape;110;p14" descr="image.png">
            <a:extLst>
              <a:ext uri="{FF2B5EF4-FFF2-40B4-BE49-F238E27FC236}">
                <a16:creationId xmlns:a16="http://schemas.microsoft.com/office/drawing/2014/main" id="{1801C47E-8608-AE4B-E393-361BDB1ED603}"/>
              </a:ext>
            </a:extLst>
          </p:cNvPr>
          <p:cNvPicPr preferRelativeResize="0"/>
          <p:nvPr/>
        </p:nvPicPr>
        <p:blipFill rotWithShape="1">
          <a:blip r:embed="rId5">
            <a:alphaModFix/>
          </a:blip>
          <a:srcRect/>
          <a:stretch/>
        </p:blipFill>
        <p:spPr>
          <a:xfrm>
            <a:off x="4368700" y="1531555"/>
            <a:ext cx="3454449" cy="5252699"/>
          </a:xfrm>
          <a:prstGeom prst="rect">
            <a:avLst/>
          </a:prstGeom>
          <a:noFill/>
          <a:ln>
            <a:noFill/>
          </a:ln>
        </p:spPr>
      </p:pic>
      <p:pic>
        <p:nvPicPr>
          <p:cNvPr id="28" name="Google Shape;111;p14" descr="image.png">
            <a:extLst>
              <a:ext uri="{FF2B5EF4-FFF2-40B4-BE49-F238E27FC236}">
                <a16:creationId xmlns:a16="http://schemas.microsoft.com/office/drawing/2014/main" id="{4021A070-2625-0A5B-66E5-61F40D7D12F5}"/>
              </a:ext>
            </a:extLst>
          </p:cNvPr>
          <p:cNvPicPr preferRelativeResize="0"/>
          <p:nvPr/>
        </p:nvPicPr>
        <p:blipFill rotWithShape="1">
          <a:blip r:embed="rId6">
            <a:alphaModFix/>
          </a:blip>
          <a:srcRect/>
          <a:stretch/>
        </p:blipFill>
        <p:spPr>
          <a:xfrm>
            <a:off x="8156525" y="1531555"/>
            <a:ext cx="3454300" cy="5252692"/>
          </a:xfrm>
          <a:prstGeom prst="rect">
            <a:avLst/>
          </a:prstGeom>
          <a:noFill/>
          <a:ln>
            <a:noFill/>
          </a:ln>
        </p:spPr>
      </p:pic>
      <p:grpSp>
        <p:nvGrpSpPr>
          <p:cNvPr id="29" name="组合 28">
            <a:extLst>
              <a:ext uri="{FF2B5EF4-FFF2-40B4-BE49-F238E27FC236}">
                <a16:creationId xmlns:a16="http://schemas.microsoft.com/office/drawing/2014/main" id="{A8E9DFAF-A686-A6C5-4A9E-26167D9EDB9A}"/>
              </a:ext>
            </a:extLst>
          </p:cNvPr>
          <p:cNvGrpSpPr/>
          <p:nvPr/>
        </p:nvGrpSpPr>
        <p:grpSpPr>
          <a:xfrm>
            <a:off x="865138" y="1398206"/>
            <a:ext cx="2988379" cy="4943407"/>
            <a:chOff x="865138" y="1843087"/>
            <a:chExt cx="2988379" cy="4943407"/>
          </a:xfrm>
        </p:grpSpPr>
        <p:pic>
          <p:nvPicPr>
            <p:cNvPr id="30" name="Google Shape;112;p14" descr="image.png">
              <a:extLst>
                <a:ext uri="{FF2B5EF4-FFF2-40B4-BE49-F238E27FC236}">
                  <a16:creationId xmlns:a16="http://schemas.microsoft.com/office/drawing/2014/main" id="{2153AFD9-0653-4FDE-DDB9-7959190514A8}"/>
                </a:ext>
              </a:extLst>
            </p:cNvPr>
            <p:cNvPicPr preferRelativeResize="0"/>
            <p:nvPr/>
          </p:nvPicPr>
          <p:blipFill rotWithShape="1">
            <a:blip r:embed="rId7">
              <a:alphaModFix/>
            </a:blip>
            <a:srcRect/>
            <a:stretch/>
          </p:blipFill>
          <p:spPr>
            <a:xfrm>
              <a:off x="1660475" y="1843087"/>
              <a:ext cx="1295400" cy="285750"/>
            </a:xfrm>
            <a:prstGeom prst="rect">
              <a:avLst/>
            </a:prstGeom>
            <a:noFill/>
            <a:ln>
              <a:noFill/>
            </a:ln>
          </p:spPr>
        </p:pic>
        <p:pic>
          <p:nvPicPr>
            <p:cNvPr id="31" name="Google Shape;117;p14" descr="image.png">
              <a:extLst>
                <a:ext uri="{FF2B5EF4-FFF2-40B4-BE49-F238E27FC236}">
                  <a16:creationId xmlns:a16="http://schemas.microsoft.com/office/drawing/2014/main" id="{568135D2-D180-C8CE-0970-B0CDF030F8A6}"/>
                </a:ext>
              </a:extLst>
            </p:cNvPr>
            <p:cNvPicPr preferRelativeResize="0"/>
            <p:nvPr/>
          </p:nvPicPr>
          <p:blipFill rotWithShape="1">
            <a:blip r:embed="rId8">
              <a:alphaModFix/>
            </a:blip>
            <a:srcRect/>
            <a:stretch/>
          </p:blipFill>
          <p:spPr>
            <a:xfrm>
              <a:off x="1812875" y="2340559"/>
              <a:ext cx="952500" cy="952500"/>
            </a:xfrm>
            <a:prstGeom prst="rect">
              <a:avLst/>
            </a:prstGeom>
            <a:noFill/>
            <a:ln>
              <a:noFill/>
            </a:ln>
          </p:spPr>
        </p:pic>
        <p:sp>
          <p:nvSpPr>
            <p:cNvPr id="32" name="Google Shape;118;p14">
              <a:extLst>
                <a:ext uri="{FF2B5EF4-FFF2-40B4-BE49-F238E27FC236}">
                  <a16:creationId xmlns:a16="http://schemas.microsoft.com/office/drawing/2014/main" id="{C924CBEB-65AE-4E87-D5B8-1DA24B3413C7}"/>
                </a:ext>
              </a:extLst>
            </p:cNvPr>
            <p:cNvSpPr txBox="1"/>
            <p:nvPr/>
          </p:nvSpPr>
          <p:spPr>
            <a:xfrm>
              <a:off x="865138" y="3432565"/>
              <a:ext cx="2988379" cy="307777"/>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轻量级异构协同架构设计</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33" name="Google Shape;119;p14">
              <a:extLst>
                <a:ext uri="{FF2B5EF4-FFF2-40B4-BE49-F238E27FC236}">
                  <a16:creationId xmlns:a16="http://schemas.microsoft.com/office/drawing/2014/main" id="{5D8AC8C1-856C-541D-DD3D-0614BB5D463A}"/>
                </a:ext>
              </a:extLst>
            </p:cNvPr>
            <p:cNvSpPr txBox="1"/>
            <p:nvPr/>
          </p:nvSpPr>
          <p:spPr>
            <a:xfrm>
              <a:off x="876300" y="4127304"/>
              <a:ext cx="2863750" cy="2659190"/>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bg1"/>
                  </a:solidFill>
                  <a:latin typeface="微软雅黑" panose="020B0503020204020204" pitchFamily="34" charset="-122"/>
                  <a:ea typeface="微软雅黑" panose="020B0503020204020204" pitchFamily="34" charset="-122"/>
                </a:rPr>
                <a:t>提出一种</a:t>
              </a:r>
              <a:r>
                <a:rPr lang="en-US" altLang="zh-CN" b="1" dirty="0">
                  <a:solidFill>
                    <a:schemeClr val="bg1"/>
                  </a:solidFill>
                  <a:latin typeface="微软雅黑" panose="020B0503020204020204" pitchFamily="34" charset="-122"/>
                  <a:ea typeface="微软雅黑" panose="020B0503020204020204" pitchFamily="34" charset="-122"/>
                </a:rPr>
                <a:t>Java </a:t>
              </a:r>
              <a:r>
                <a:rPr lang="zh-CN" altLang="en-US" b="1" dirty="0">
                  <a:solidFill>
                    <a:schemeClr val="bg1"/>
                  </a:solidFill>
                  <a:latin typeface="微软雅黑" panose="020B0503020204020204" pitchFamily="34" charset="-122"/>
                  <a:ea typeface="微软雅黑" panose="020B0503020204020204" pitchFamily="34" charset="-122"/>
                </a:rPr>
                <a:t>业务与 </a:t>
              </a:r>
              <a:r>
                <a:rPr lang="en-US" altLang="zh-CN" b="1" dirty="0">
                  <a:solidFill>
                    <a:schemeClr val="bg1"/>
                  </a:solidFill>
                  <a:latin typeface="微软雅黑" panose="020B0503020204020204" pitchFamily="34" charset="-122"/>
                  <a:ea typeface="微软雅黑" panose="020B0503020204020204" pitchFamily="34" charset="-122"/>
                </a:rPr>
                <a:t>Python </a:t>
              </a:r>
              <a:r>
                <a:rPr lang="zh-CN" altLang="en-US" b="1" dirty="0">
                  <a:solidFill>
                    <a:schemeClr val="bg1"/>
                  </a:solidFill>
                  <a:latin typeface="微软雅黑" panose="020B0503020204020204" pitchFamily="34" charset="-122"/>
                  <a:ea typeface="微软雅黑" panose="020B0503020204020204" pitchFamily="34" charset="-122"/>
                </a:rPr>
                <a:t>算力解耦的轻量级集成范式，通过 </a:t>
              </a:r>
              <a:r>
                <a:rPr lang="en-US" altLang="zh-CN" b="1" dirty="0">
                  <a:solidFill>
                    <a:schemeClr val="bg1"/>
                  </a:solidFill>
                  <a:latin typeface="微软雅黑" panose="020B0503020204020204" pitchFamily="34" charset="-122"/>
                  <a:ea typeface="微软雅黑" panose="020B0503020204020204" pitchFamily="34" charset="-122"/>
                </a:rPr>
                <a:t>JDBC</a:t>
              </a:r>
              <a:r>
                <a:rPr lang="zh-CN" altLang="en-US" b="1" dirty="0">
                  <a:solidFill>
                    <a:schemeClr val="bg1"/>
                  </a:solidFill>
                  <a:latin typeface="微软雅黑" panose="020B0503020204020204" pitchFamily="34" charset="-122"/>
                  <a:ea typeface="微软雅黑" panose="020B0503020204020204" pitchFamily="34" charset="-122"/>
                </a:rPr>
                <a:t>自动化回传机制 ，有效解决了中小规模资源下高并发服务与复杂离线计算的协同瓶颈 。</a:t>
              </a:r>
              <a:endParaRPr b="1" dirty="0">
                <a:solidFill>
                  <a:schemeClr val="bg1"/>
                </a:solidFill>
                <a:latin typeface="微软雅黑" panose="020B0503020204020204" pitchFamily="34" charset="-122"/>
                <a:ea typeface="微软雅黑" panose="020B0503020204020204" pitchFamily="34" charset="-122"/>
              </a:endParaRPr>
            </a:p>
          </p:txBody>
        </p:sp>
        <p:pic>
          <p:nvPicPr>
            <p:cNvPr id="34" name="Google Shape;126;p14" descr="image.png">
              <a:extLst>
                <a:ext uri="{FF2B5EF4-FFF2-40B4-BE49-F238E27FC236}">
                  <a16:creationId xmlns:a16="http://schemas.microsoft.com/office/drawing/2014/main" id="{1042D6B7-34CE-2FD0-3A61-7B3ECF27E09C}"/>
                </a:ext>
              </a:extLst>
            </p:cNvPr>
            <p:cNvPicPr preferRelativeResize="0"/>
            <p:nvPr/>
          </p:nvPicPr>
          <p:blipFill rotWithShape="1">
            <a:blip r:embed="rId9">
              <a:alphaModFix/>
            </a:blip>
            <a:srcRect/>
            <a:stretch/>
          </p:blipFill>
          <p:spPr>
            <a:xfrm>
              <a:off x="2117675" y="2603449"/>
              <a:ext cx="381000" cy="381000"/>
            </a:xfrm>
            <a:prstGeom prst="rect">
              <a:avLst/>
            </a:prstGeom>
            <a:noFill/>
            <a:ln>
              <a:noFill/>
            </a:ln>
          </p:spPr>
        </p:pic>
      </p:grpSp>
      <p:grpSp>
        <p:nvGrpSpPr>
          <p:cNvPr id="35" name="组合 34">
            <a:extLst>
              <a:ext uri="{FF2B5EF4-FFF2-40B4-BE49-F238E27FC236}">
                <a16:creationId xmlns:a16="http://schemas.microsoft.com/office/drawing/2014/main" id="{9D083856-5137-7CE0-DEDD-7612D774DBF4}"/>
              </a:ext>
            </a:extLst>
          </p:cNvPr>
          <p:cNvGrpSpPr/>
          <p:nvPr/>
        </p:nvGrpSpPr>
        <p:grpSpPr>
          <a:xfrm>
            <a:off x="4530286" y="1398206"/>
            <a:ext cx="3131127" cy="5388738"/>
            <a:chOff x="4530286" y="1843087"/>
            <a:chExt cx="3131127" cy="5388738"/>
          </a:xfrm>
        </p:grpSpPr>
        <p:pic>
          <p:nvPicPr>
            <p:cNvPr id="36" name="Google Shape;113;p14" descr="image.png">
              <a:extLst>
                <a:ext uri="{FF2B5EF4-FFF2-40B4-BE49-F238E27FC236}">
                  <a16:creationId xmlns:a16="http://schemas.microsoft.com/office/drawing/2014/main" id="{3106FCF5-0234-6508-216B-4FC771681FAF}"/>
                </a:ext>
              </a:extLst>
            </p:cNvPr>
            <p:cNvPicPr preferRelativeResize="0"/>
            <p:nvPr/>
          </p:nvPicPr>
          <p:blipFill rotWithShape="1">
            <a:blip r:embed="rId10">
              <a:alphaModFix/>
            </a:blip>
            <a:srcRect/>
            <a:stretch/>
          </p:blipFill>
          <p:spPr>
            <a:xfrm>
              <a:off x="5448151" y="1843087"/>
              <a:ext cx="1295400" cy="285750"/>
            </a:xfrm>
            <a:prstGeom prst="rect">
              <a:avLst/>
            </a:prstGeom>
            <a:noFill/>
            <a:ln>
              <a:noFill/>
            </a:ln>
          </p:spPr>
        </p:pic>
        <p:pic>
          <p:nvPicPr>
            <p:cNvPr id="37" name="Google Shape;120;p14" descr="image.png">
              <a:extLst>
                <a:ext uri="{FF2B5EF4-FFF2-40B4-BE49-F238E27FC236}">
                  <a16:creationId xmlns:a16="http://schemas.microsoft.com/office/drawing/2014/main" id="{E90F945D-D86F-3555-2FE0-D74E8F044C5E}"/>
                </a:ext>
              </a:extLst>
            </p:cNvPr>
            <p:cNvPicPr preferRelativeResize="0"/>
            <p:nvPr/>
          </p:nvPicPr>
          <p:blipFill rotWithShape="1">
            <a:blip r:embed="rId11">
              <a:alphaModFix/>
            </a:blip>
            <a:srcRect/>
            <a:stretch/>
          </p:blipFill>
          <p:spPr>
            <a:xfrm>
              <a:off x="5619600" y="2338625"/>
              <a:ext cx="952500" cy="952500"/>
            </a:xfrm>
            <a:prstGeom prst="rect">
              <a:avLst/>
            </a:prstGeom>
            <a:noFill/>
            <a:ln>
              <a:noFill/>
            </a:ln>
          </p:spPr>
        </p:pic>
        <p:sp>
          <p:nvSpPr>
            <p:cNvPr id="38" name="Google Shape;121;p14">
              <a:extLst>
                <a:ext uri="{FF2B5EF4-FFF2-40B4-BE49-F238E27FC236}">
                  <a16:creationId xmlns:a16="http://schemas.microsoft.com/office/drawing/2014/main" id="{5D89CEE1-8E0A-4C6F-C7DA-966217C455EF}"/>
                </a:ext>
              </a:extLst>
            </p:cNvPr>
            <p:cNvSpPr txBox="1"/>
            <p:nvPr/>
          </p:nvSpPr>
          <p:spPr>
            <a:xfrm>
              <a:off x="4530286" y="3433399"/>
              <a:ext cx="3131127" cy="615553"/>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基于 </a:t>
              </a:r>
              <a:r>
                <a:rPr lang="en-US" altLang="zh-CN" sz="1950" b="1" dirty="0" err="1">
                  <a:solidFill>
                    <a:srgbClr val="FFFFFF"/>
                  </a:solidFill>
                  <a:latin typeface="微软雅黑" panose="020B0503020204020204" pitchFamily="34" charset="-122"/>
                  <a:ea typeface="微软雅黑" panose="020B0503020204020204" pitchFamily="34" charset="-122"/>
                </a:rPr>
                <a:t>DeepFM</a:t>
              </a:r>
              <a:r>
                <a:rPr lang="en-US" altLang="zh-CN" sz="1950" b="1" dirty="0">
                  <a:solidFill>
                    <a:srgbClr val="FFFFFF"/>
                  </a:solidFill>
                  <a:latin typeface="微软雅黑" panose="020B0503020204020204" pitchFamily="34" charset="-122"/>
                  <a:ea typeface="微软雅黑" panose="020B0503020204020204" pitchFamily="34" charset="-122"/>
                </a:rPr>
                <a:t> </a:t>
              </a:r>
              <a:r>
                <a:rPr lang="zh-CN" altLang="en-US" sz="1950" b="1" dirty="0">
                  <a:solidFill>
                    <a:srgbClr val="FFFFFF"/>
                  </a:solidFill>
                  <a:latin typeface="微软雅黑" panose="020B0503020204020204" pitchFamily="34" charset="-122"/>
                  <a:ea typeface="微软雅黑" panose="020B0503020204020204" pitchFamily="34" charset="-122"/>
                </a:rPr>
                <a:t>的多源特征融合策略</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39" name="Google Shape;122;p14">
              <a:extLst>
                <a:ext uri="{FF2B5EF4-FFF2-40B4-BE49-F238E27FC236}">
                  <a16:creationId xmlns:a16="http://schemas.microsoft.com/office/drawing/2014/main" id="{AD9C34DF-3002-E8F5-D7A2-7AB760C6906C}"/>
                </a:ext>
              </a:extLst>
            </p:cNvPr>
            <p:cNvSpPr txBox="1"/>
            <p:nvPr/>
          </p:nvSpPr>
          <p:spPr>
            <a:xfrm>
              <a:off x="4683770" y="4129437"/>
              <a:ext cx="2891580" cy="3102388"/>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bg1"/>
                  </a:solidFill>
                  <a:latin typeface="微软雅黑" panose="020B0503020204020204" pitchFamily="34" charset="-122"/>
                  <a:ea typeface="微软雅黑" panose="020B0503020204020204" pitchFamily="34" charset="-122"/>
                </a:rPr>
                <a:t>针对稀疏数据场景，构建了融合歌曲元数据、用户静态画像与显性交互行为的多维特征输入层 ，利用 </a:t>
              </a:r>
              <a:r>
                <a:rPr lang="en-US" altLang="zh-CN" b="1" dirty="0" err="1">
                  <a:solidFill>
                    <a:schemeClr val="bg1"/>
                  </a:solidFill>
                  <a:latin typeface="微软雅黑" panose="020B0503020204020204" pitchFamily="34" charset="-122"/>
                  <a:ea typeface="微软雅黑" panose="020B0503020204020204" pitchFamily="34" charset="-122"/>
                </a:rPr>
                <a:t>DeepFM</a:t>
              </a:r>
              <a:r>
                <a:rPr lang="en-US" altLang="zh-CN" b="1" dirty="0">
                  <a:solidFill>
                    <a:schemeClr val="bg1"/>
                  </a:solidFill>
                  <a:latin typeface="微软雅黑" panose="020B0503020204020204" pitchFamily="34" charset="-122"/>
                  <a:ea typeface="微软雅黑" panose="020B0503020204020204" pitchFamily="34" charset="-122"/>
                </a:rPr>
                <a:t> </a:t>
              </a:r>
              <a:r>
                <a:rPr lang="zh-CN" altLang="en-US" b="1" dirty="0">
                  <a:solidFill>
                    <a:schemeClr val="bg1"/>
                  </a:solidFill>
                  <a:latin typeface="微软雅黑" panose="020B0503020204020204" pitchFamily="34" charset="-122"/>
                  <a:ea typeface="微软雅黑" panose="020B0503020204020204" pitchFamily="34" charset="-122"/>
                </a:rPr>
                <a:t>自动学习高阶非线性特征，突破了传统协同过滤在冷启动下的精度局限 。</a:t>
              </a:r>
              <a:endParaRPr b="1" dirty="0">
                <a:solidFill>
                  <a:schemeClr val="bg1"/>
                </a:solidFill>
                <a:latin typeface="微软雅黑" panose="020B0503020204020204" pitchFamily="34" charset="-122"/>
                <a:ea typeface="微软雅黑" panose="020B0503020204020204" pitchFamily="34" charset="-122"/>
              </a:endParaRPr>
            </a:p>
          </p:txBody>
        </p:sp>
        <p:pic>
          <p:nvPicPr>
            <p:cNvPr id="40" name="Google Shape;127;p14" descr="image.png">
              <a:extLst>
                <a:ext uri="{FF2B5EF4-FFF2-40B4-BE49-F238E27FC236}">
                  <a16:creationId xmlns:a16="http://schemas.microsoft.com/office/drawing/2014/main" id="{9F108729-6283-897B-3B3C-A18E460B695D}"/>
                </a:ext>
              </a:extLst>
            </p:cNvPr>
            <p:cNvPicPr preferRelativeResize="0"/>
            <p:nvPr/>
          </p:nvPicPr>
          <p:blipFill rotWithShape="1">
            <a:blip r:embed="rId12">
              <a:alphaModFix/>
            </a:blip>
            <a:srcRect/>
            <a:stretch/>
          </p:blipFill>
          <p:spPr>
            <a:xfrm>
              <a:off x="5857725" y="2624375"/>
              <a:ext cx="476250" cy="381000"/>
            </a:xfrm>
            <a:prstGeom prst="rect">
              <a:avLst/>
            </a:prstGeom>
            <a:noFill/>
            <a:ln>
              <a:noFill/>
            </a:ln>
          </p:spPr>
        </p:pic>
      </p:grpSp>
      <p:grpSp>
        <p:nvGrpSpPr>
          <p:cNvPr id="41" name="组合 40">
            <a:extLst>
              <a:ext uri="{FF2B5EF4-FFF2-40B4-BE49-F238E27FC236}">
                <a16:creationId xmlns:a16="http://schemas.microsoft.com/office/drawing/2014/main" id="{2711F55D-DB52-5B4B-1DAC-9100FFCE2897}"/>
              </a:ext>
            </a:extLst>
          </p:cNvPr>
          <p:cNvGrpSpPr/>
          <p:nvPr/>
        </p:nvGrpSpPr>
        <p:grpSpPr>
          <a:xfrm>
            <a:off x="8451800" y="1398206"/>
            <a:ext cx="2954985" cy="5166349"/>
            <a:chOff x="8451800" y="1843087"/>
            <a:chExt cx="2954985" cy="5166349"/>
          </a:xfrm>
        </p:grpSpPr>
        <p:pic>
          <p:nvPicPr>
            <p:cNvPr id="42" name="Google Shape;114;p14" descr="image.png">
              <a:extLst>
                <a:ext uri="{FF2B5EF4-FFF2-40B4-BE49-F238E27FC236}">
                  <a16:creationId xmlns:a16="http://schemas.microsoft.com/office/drawing/2014/main" id="{27A1B550-67AC-BF4A-2F14-644027DBBAC4}"/>
                </a:ext>
              </a:extLst>
            </p:cNvPr>
            <p:cNvPicPr preferRelativeResize="0"/>
            <p:nvPr/>
          </p:nvPicPr>
          <p:blipFill rotWithShape="1">
            <a:blip r:embed="rId13">
              <a:alphaModFix/>
            </a:blip>
            <a:srcRect/>
            <a:stretch/>
          </p:blipFill>
          <p:spPr>
            <a:xfrm>
              <a:off x="9235975" y="1843087"/>
              <a:ext cx="1295400" cy="285750"/>
            </a:xfrm>
            <a:prstGeom prst="rect">
              <a:avLst/>
            </a:prstGeom>
            <a:noFill/>
            <a:ln>
              <a:noFill/>
            </a:ln>
          </p:spPr>
        </p:pic>
        <p:pic>
          <p:nvPicPr>
            <p:cNvPr id="43" name="Google Shape;123;p14" descr="image.png">
              <a:extLst>
                <a:ext uri="{FF2B5EF4-FFF2-40B4-BE49-F238E27FC236}">
                  <a16:creationId xmlns:a16="http://schemas.microsoft.com/office/drawing/2014/main" id="{3AEF826F-F976-A2BE-F855-745B3ABFC745}"/>
                </a:ext>
              </a:extLst>
            </p:cNvPr>
            <p:cNvPicPr preferRelativeResize="0"/>
            <p:nvPr/>
          </p:nvPicPr>
          <p:blipFill rotWithShape="1">
            <a:blip r:embed="rId14">
              <a:alphaModFix/>
            </a:blip>
            <a:srcRect/>
            <a:stretch/>
          </p:blipFill>
          <p:spPr>
            <a:xfrm>
              <a:off x="9426625" y="2338625"/>
              <a:ext cx="952500" cy="952500"/>
            </a:xfrm>
            <a:prstGeom prst="rect">
              <a:avLst/>
            </a:prstGeom>
            <a:noFill/>
            <a:ln>
              <a:noFill/>
            </a:ln>
          </p:spPr>
        </p:pic>
        <p:sp>
          <p:nvSpPr>
            <p:cNvPr id="44" name="Google Shape;124;p14">
              <a:extLst>
                <a:ext uri="{FF2B5EF4-FFF2-40B4-BE49-F238E27FC236}">
                  <a16:creationId xmlns:a16="http://schemas.microsoft.com/office/drawing/2014/main" id="{1D6CBD7F-9E78-ED4E-6D7A-45A5902F5D66}"/>
                </a:ext>
              </a:extLst>
            </p:cNvPr>
            <p:cNvSpPr txBox="1"/>
            <p:nvPr/>
          </p:nvSpPr>
          <p:spPr>
            <a:xfrm>
              <a:off x="8490404" y="3424475"/>
              <a:ext cx="2916381" cy="615553"/>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基于实时意图的兴趣漂移修正机制</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45" name="Google Shape;125;p14">
              <a:extLst>
                <a:ext uri="{FF2B5EF4-FFF2-40B4-BE49-F238E27FC236}">
                  <a16:creationId xmlns:a16="http://schemas.microsoft.com/office/drawing/2014/main" id="{7C097AD4-BCE4-D0AB-D49E-A846A98E06C2}"/>
                </a:ext>
              </a:extLst>
            </p:cNvPr>
            <p:cNvSpPr txBox="1"/>
            <p:nvPr/>
          </p:nvSpPr>
          <p:spPr>
            <a:xfrm>
              <a:off x="8451800" y="4350246"/>
              <a:ext cx="2863750" cy="2659190"/>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bg1"/>
                  </a:solidFill>
                  <a:latin typeface="微软雅黑" panose="020B0503020204020204" pitchFamily="34" charset="-122"/>
                  <a:ea typeface="微软雅黑" panose="020B0503020204020204" pitchFamily="34" charset="-122"/>
                </a:rPr>
                <a:t>引入实时搜索关键词作为强反馈号 ，构建了从用户瞬时意图到推荐列表更新的动态反馈闭环，实现了对用户短期兴趣漂移的秒级捕捉与修正。</a:t>
              </a:r>
              <a:endParaRPr b="1" dirty="0">
                <a:solidFill>
                  <a:schemeClr val="bg1"/>
                </a:solidFill>
                <a:latin typeface="微软雅黑" panose="020B0503020204020204" pitchFamily="34" charset="-122"/>
                <a:ea typeface="微软雅黑" panose="020B0503020204020204" pitchFamily="34" charset="-122"/>
              </a:endParaRPr>
            </a:p>
          </p:txBody>
        </p:sp>
        <p:pic>
          <p:nvPicPr>
            <p:cNvPr id="46" name="Google Shape;128;p14" descr="image.png">
              <a:extLst>
                <a:ext uri="{FF2B5EF4-FFF2-40B4-BE49-F238E27FC236}">
                  <a16:creationId xmlns:a16="http://schemas.microsoft.com/office/drawing/2014/main" id="{DEC30AC0-1D20-937E-B48A-427E74B4A873}"/>
                </a:ext>
              </a:extLst>
            </p:cNvPr>
            <p:cNvPicPr preferRelativeResize="0"/>
            <p:nvPr/>
          </p:nvPicPr>
          <p:blipFill rotWithShape="1">
            <a:blip r:embed="rId15">
              <a:alphaModFix/>
            </a:blip>
            <a:srcRect/>
            <a:stretch/>
          </p:blipFill>
          <p:spPr>
            <a:xfrm>
              <a:off x="9710470" y="2624375"/>
              <a:ext cx="476250" cy="381000"/>
            </a:xfrm>
            <a:prstGeom prst="rect">
              <a:avLst/>
            </a:prstGeom>
            <a:noFill/>
            <a:ln>
              <a:noFill/>
            </a:ln>
          </p:spPr>
        </p:pic>
      </p:grpSp>
      <p:sp>
        <p:nvSpPr>
          <p:cNvPr id="47" name="Google Shape;129;p14">
            <a:extLst>
              <a:ext uri="{FF2B5EF4-FFF2-40B4-BE49-F238E27FC236}">
                <a16:creationId xmlns:a16="http://schemas.microsoft.com/office/drawing/2014/main" id="{5E2D459C-125C-3380-4E55-5E02D9CA277A}"/>
              </a:ext>
            </a:extLst>
          </p:cNvPr>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spc="1000" dirty="0" err="1">
                <a:latin typeface="微软雅黑" panose="020B0503020204020204" pitchFamily="34" charset="-122"/>
                <a:ea typeface="微软雅黑" panose="020B0503020204020204" pitchFamily="34" charset="-122"/>
                <a:cs typeface="Inter ExtraBold"/>
                <a:sym typeface="Inter ExtraBold"/>
              </a:rPr>
              <a:t>项目创新点</a:t>
            </a:r>
            <a:endParaRPr sz="2850" b="1" spc="1000" dirty="0">
              <a:latin typeface="微软雅黑" panose="020B0503020204020204" pitchFamily="34" charset="-122"/>
              <a:ea typeface="微软雅黑" panose="020B0503020204020204" pitchFamily="34" charset="-122"/>
            </a:endParaRPr>
          </a:p>
        </p:txBody>
      </p:sp>
      <p:cxnSp>
        <p:nvCxnSpPr>
          <p:cNvPr id="48" name="直接连接符 47">
            <a:extLst>
              <a:ext uri="{FF2B5EF4-FFF2-40B4-BE49-F238E27FC236}">
                <a16:creationId xmlns:a16="http://schemas.microsoft.com/office/drawing/2014/main" id="{D940E50F-AA25-9FC0-1DA5-0B2B98C27457}"/>
              </a:ext>
            </a:extLst>
          </p:cNvPr>
          <p:cNvCxnSpPr>
            <a:cxnSpLocks/>
          </p:cNvCxnSpPr>
          <p:nvPr/>
        </p:nvCxnSpPr>
        <p:spPr>
          <a:xfrm>
            <a:off x="514426" y="1024708"/>
            <a:ext cx="1109639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88272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oogle Shape;85;p13" descr="image.png">
            <a:extLst>
              <a:ext uri="{FF2B5EF4-FFF2-40B4-BE49-F238E27FC236}">
                <a16:creationId xmlns:a16="http://schemas.microsoft.com/office/drawing/2014/main" id="{6432EE94-42A3-FBE7-C702-8D92173BA0B3}"/>
              </a:ext>
            </a:extLst>
          </p:cNvPr>
          <p:cNvPicPr preferRelativeResize="0"/>
          <p:nvPr/>
        </p:nvPicPr>
        <p:blipFill rotWithShape="1">
          <a:blip r:embed="rId3">
            <a:alphaModFix/>
          </a:blip>
          <a:srcRect/>
          <a:stretch/>
        </p:blipFill>
        <p:spPr>
          <a:xfrm>
            <a:off x="581025" y="1976437"/>
            <a:ext cx="3454300" cy="3810000"/>
          </a:xfrm>
          <a:prstGeom prst="rect">
            <a:avLst/>
          </a:prstGeom>
          <a:noFill/>
          <a:ln>
            <a:noFill/>
          </a:ln>
        </p:spPr>
      </p:pic>
      <p:pic>
        <p:nvPicPr>
          <p:cNvPr id="16" name="Google Shape;86;p13" descr="image.png">
            <a:extLst>
              <a:ext uri="{FF2B5EF4-FFF2-40B4-BE49-F238E27FC236}">
                <a16:creationId xmlns:a16="http://schemas.microsoft.com/office/drawing/2014/main" id="{F0FEC84C-6FF6-444E-535B-31A2B99FE09C}"/>
              </a:ext>
            </a:extLst>
          </p:cNvPr>
          <p:cNvPicPr preferRelativeResize="0"/>
          <p:nvPr/>
        </p:nvPicPr>
        <p:blipFill rotWithShape="1">
          <a:blip r:embed="rId4">
            <a:alphaModFix/>
          </a:blip>
          <a:srcRect/>
          <a:stretch/>
        </p:blipFill>
        <p:spPr>
          <a:xfrm>
            <a:off x="4368700" y="1976437"/>
            <a:ext cx="3454449" cy="3810000"/>
          </a:xfrm>
          <a:prstGeom prst="rect">
            <a:avLst/>
          </a:prstGeom>
          <a:noFill/>
          <a:ln>
            <a:noFill/>
          </a:ln>
        </p:spPr>
      </p:pic>
      <p:sp>
        <p:nvSpPr>
          <p:cNvPr id="5" name="Google Shape;88;p13">
            <a:extLst>
              <a:ext uri="{FF2B5EF4-FFF2-40B4-BE49-F238E27FC236}">
                <a16:creationId xmlns:a16="http://schemas.microsoft.com/office/drawing/2014/main" id="{1DBA6C23-F532-BFB8-28D0-084B2928A79E}"/>
              </a:ext>
            </a:extLst>
          </p:cNvPr>
          <p:cNvSpPr/>
          <p:nvPr/>
        </p:nvSpPr>
        <p:spPr>
          <a:xfrm>
            <a:off x="9324975" y="-942975"/>
            <a:ext cx="3810000" cy="3810000"/>
          </a:xfrm>
          <a:prstGeom prst="roundRect">
            <a:avLst>
              <a:gd name="adj" fmla="val 50000"/>
            </a:avLst>
          </a:prstGeom>
          <a:solidFill>
            <a:srgbClr val="00B0F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 name="Google Shape;87;p13" descr="image.png">
            <a:extLst>
              <a:ext uri="{FF2B5EF4-FFF2-40B4-BE49-F238E27FC236}">
                <a16:creationId xmlns:a16="http://schemas.microsoft.com/office/drawing/2014/main" id="{3F217F9F-5647-AC7A-CF6B-95E7B9EA1F02}"/>
              </a:ext>
            </a:extLst>
          </p:cNvPr>
          <p:cNvPicPr preferRelativeResize="0"/>
          <p:nvPr/>
        </p:nvPicPr>
        <p:blipFill rotWithShape="1">
          <a:blip r:embed="rId5">
            <a:alphaModFix/>
          </a:blip>
          <a:srcRect/>
          <a:stretch/>
        </p:blipFill>
        <p:spPr>
          <a:xfrm>
            <a:off x="8156525" y="1976437"/>
            <a:ext cx="3454300" cy="3810000"/>
          </a:xfrm>
          <a:prstGeom prst="rect">
            <a:avLst/>
          </a:prstGeom>
          <a:noFill/>
          <a:ln>
            <a:noFill/>
          </a:ln>
        </p:spPr>
      </p:pic>
      <p:sp>
        <p:nvSpPr>
          <p:cNvPr id="18" name="Google Shape;102;p13">
            <a:extLst>
              <a:ext uri="{FF2B5EF4-FFF2-40B4-BE49-F238E27FC236}">
                <a16:creationId xmlns:a16="http://schemas.microsoft.com/office/drawing/2014/main" id="{3B6DB4FB-CFA7-F426-FEE3-D6CC8D52B2E7}"/>
              </a:ext>
            </a:extLst>
          </p:cNvPr>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spc="1000" dirty="0" err="1">
                <a:latin typeface="微软雅黑" panose="020B0503020204020204" pitchFamily="34" charset="-122"/>
                <a:ea typeface="微软雅黑" panose="020B0503020204020204" pitchFamily="34" charset="-122"/>
                <a:cs typeface="Inter ExtraBold"/>
                <a:sym typeface="Inter ExtraBold"/>
              </a:rPr>
              <a:t>预期研究成果</a:t>
            </a:r>
            <a:endParaRPr sz="2850" b="1" spc="1000" dirty="0">
              <a:latin typeface="微软雅黑" panose="020B0503020204020204" pitchFamily="34" charset="-122"/>
              <a:ea typeface="微软雅黑" panose="020B0503020204020204" pitchFamily="34" charset="-122"/>
            </a:endParaRPr>
          </a:p>
        </p:txBody>
      </p:sp>
      <p:cxnSp>
        <p:nvCxnSpPr>
          <p:cNvPr id="19" name="直接连接符 18">
            <a:extLst>
              <a:ext uri="{FF2B5EF4-FFF2-40B4-BE49-F238E27FC236}">
                <a16:creationId xmlns:a16="http://schemas.microsoft.com/office/drawing/2014/main" id="{3971807F-7E9D-311B-5F7E-25A9FC32FD74}"/>
              </a:ext>
            </a:extLst>
          </p:cNvPr>
          <p:cNvCxnSpPr>
            <a:cxnSpLocks/>
          </p:cNvCxnSpPr>
          <p:nvPr/>
        </p:nvCxnSpPr>
        <p:spPr>
          <a:xfrm>
            <a:off x="581025" y="1090022"/>
            <a:ext cx="1109639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5B56D8E0-8D3B-B4C0-8211-23AA4E58E56F}"/>
              </a:ext>
            </a:extLst>
          </p:cNvPr>
          <p:cNvGrpSpPr/>
          <p:nvPr/>
        </p:nvGrpSpPr>
        <p:grpSpPr>
          <a:xfrm>
            <a:off x="1103262" y="2481437"/>
            <a:ext cx="2409825" cy="3226181"/>
            <a:chOff x="1103262" y="2481437"/>
            <a:chExt cx="2409825" cy="3226181"/>
          </a:xfrm>
        </p:grpSpPr>
        <p:pic>
          <p:nvPicPr>
            <p:cNvPr id="21" name="Google Shape;90;p13" descr="image.png">
              <a:extLst>
                <a:ext uri="{FF2B5EF4-FFF2-40B4-BE49-F238E27FC236}">
                  <a16:creationId xmlns:a16="http://schemas.microsoft.com/office/drawing/2014/main" id="{BFE5F061-226C-D6F7-4371-C628848D4F84}"/>
                </a:ext>
              </a:extLst>
            </p:cNvPr>
            <p:cNvPicPr preferRelativeResize="0"/>
            <p:nvPr/>
          </p:nvPicPr>
          <p:blipFill rotWithShape="1">
            <a:blip r:embed="rId6">
              <a:alphaModFix/>
            </a:blip>
            <a:srcRect/>
            <a:stretch/>
          </p:blipFill>
          <p:spPr>
            <a:xfrm>
              <a:off x="1813025" y="2481437"/>
              <a:ext cx="952500" cy="952500"/>
            </a:xfrm>
            <a:prstGeom prst="rect">
              <a:avLst/>
            </a:prstGeom>
            <a:noFill/>
            <a:ln>
              <a:noFill/>
            </a:ln>
          </p:spPr>
        </p:pic>
        <p:sp>
          <p:nvSpPr>
            <p:cNvPr id="22" name="Google Shape;91;p13">
              <a:extLst>
                <a:ext uri="{FF2B5EF4-FFF2-40B4-BE49-F238E27FC236}">
                  <a16:creationId xmlns:a16="http://schemas.microsoft.com/office/drawing/2014/main" id="{3E53D0F1-F26D-8F6E-513C-E36F6F36497B}"/>
                </a:ext>
              </a:extLst>
            </p:cNvPr>
            <p:cNvSpPr txBox="1"/>
            <p:nvPr/>
          </p:nvSpPr>
          <p:spPr>
            <a:xfrm>
              <a:off x="1713756" y="3594332"/>
              <a:ext cx="1151037"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系统原型</a:t>
              </a:r>
              <a:endParaRPr dirty="0">
                <a:latin typeface="微软雅黑" panose="020B0503020204020204" pitchFamily="34" charset="-122"/>
                <a:ea typeface="微软雅黑" panose="020B0503020204020204" pitchFamily="34" charset="-122"/>
              </a:endParaRPr>
            </a:p>
          </p:txBody>
        </p:sp>
        <p:sp>
          <p:nvSpPr>
            <p:cNvPr id="29" name="Google Shape;92;p13">
              <a:extLst>
                <a:ext uri="{FF2B5EF4-FFF2-40B4-BE49-F238E27FC236}">
                  <a16:creationId xmlns:a16="http://schemas.microsoft.com/office/drawing/2014/main" id="{6DF04CB1-3049-7229-7ED9-7F85CB1BE5D8}"/>
                </a:ext>
              </a:extLst>
            </p:cNvPr>
            <p:cNvSpPr txBox="1"/>
            <p:nvPr/>
          </p:nvSpPr>
          <p:spPr>
            <a:xfrm>
              <a:off x="1103262" y="4230290"/>
              <a:ext cx="2409825" cy="147732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chemeClr val="bg1"/>
                  </a:solidFill>
                  <a:latin typeface="微软雅黑" panose="020B0503020204020204" pitchFamily="34" charset="-122"/>
                  <a:ea typeface="微软雅黑" panose="020B0503020204020204" pitchFamily="34" charset="-122"/>
                  <a:sym typeface="Inter"/>
                </a:rPr>
                <a:t>一套可部署、可演示的，集成</a:t>
              </a:r>
              <a:r>
                <a:rPr lang="en-US" sz="1600" b="1" dirty="0" err="1">
                  <a:solidFill>
                    <a:schemeClr val="bg1"/>
                  </a:solidFill>
                  <a:latin typeface="微软雅黑" panose="020B0503020204020204" pitchFamily="34" charset="-122"/>
                  <a:ea typeface="微软雅黑" panose="020B0503020204020204" pitchFamily="34" charset="-122"/>
                  <a:sym typeface="Inter SemiBold"/>
                </a:rPr>
                <a:t>“大数据挖掘</a:t>
              </a:r>
              <a:r>
                <a:rPr lang="en-US" sz="1600" b="1" dirty="0">
                  <a:solidFill>
                    <a:schemeClr val="bg1"/>
                  </a:solidFill>
                  <a:latin typeface="微软雅黑" panose="020B0503020204020204" pitchFamily="34" charset="-122"/>
                  <a:ea typeface="微软雅黑" panose="020B0503020204020204" pitchFamily="34" charset="-122"/>
                  <a:sym typeface="Inter SemiBold"/>
                </a:rPr>
                <a:t>”</a:t>
              </a:r>
              <a:r>
                <a:rPr lang="en-US" sz="1600" b="1" dirty="0">
                  <a:solidFill>
                    <a:schemeClr val="bg1"/>
                  </a:solidFill>
                  <a:latin typeface="微软雅黑" panose="020B0503020204020204" pitchFamily="34" charset="-122"/>
                  <a:ea typeface="微软雅黑" panose="020B0503020204020204" pitchFamily="34" charset="-122"/>
                  <a:sym typeface="Inter"/>
                </a:rPr>
                <a:t> 与 </a:t>
              </a:r>
              <a:r>
                <a:rPr lang="en-US" sz="1600" b="1" dirty="0">
                  <a:solidFill>
                    <a:schemeClr val="bg1"/>
                  </a:solidFill>
                  <a:latin typeface="微软雅黑" panose="020B0503020204020204" pitchFamily="34" charset="-122"/>
                  <a:ea typeface="微软雅黑" panose="020B0503020204020204" pitchFamily="34" charset="-122"/>
                  <a:sym typeface="Inter SemiBold"/>
                </a:rPr>
                <a:t>“</a:t>
              </a:r>
              <a:r>
                <a:rPr lang="en-US" sz="1600" b="1" dirty="0" err="1">
                  <a:solidFill>
                    <a:schemeClr val="bg1"/>
                  </a:solidFill>
                  <a:latin typeface="微软雅黑" panose="020B0503020204020204" pitchFamily="34" charset="-122"/>
                  <a:ea typeface="微软雅黑" panose="020B0503020204020204" pitchFamily="34" charset="-122"/>
                  <a:sym typeface="Inter SemiBold"/>
                </a:rPr>
                <a:t>全栈Web开发”</a:t>
              </a:r>
              <a:r>
                <a:rPr lang="en-US" sz="1600" b="1" dirty="0" err="1">
                  <a:solidFill>
                    <a:schemeClr val="bg1"/>
                  </a:solidFill>
                  <a:latin typeface="微软雅黑" panose="020B0503020204020204" pitchFamily="34" charset="-122"/>
                  <a:ea typeface="微软雅黑" panose="020B0503020204020204" pitchFamily="34" charset="-122"/>
                  <a:sym typeface="Inter"/>
                </a:rPr>
                <a:t>的个性化音乐推荐系统</a:t>
              </a:r>
              <a:r>
                <a:rPr lang="en-US" sz="1600" b="1" dirty="0">
                  <a:solidFill>
                    <a:schemeClr val="bg1"/>
                  </a:solidFill>
                  <a:latin typeface="微软雅黑" panose="020B0503020204020204" pitchFamily="34" charset="-122"/>
                  <a:ea typeface="微软雅黑" panose="020B0503020204020204" pitchFamily="34" charset="-122"/>
                  <a:sym typeface="Inter"/>
                </a:rPr>
                <a:t>。</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30" name="Google Shape;99;p13" descr="image.png">
              <a:extLst>
                <a:ext uri="{FF2B5EF4-FFF2-40B4-BE49-F238E27FC236}">
                  <a16:creationId xmlns:a16="http://schemas.microsoft.com/office/drawing/2014/main" id="{9CCF8F80-A206-3CAE-EC4C-A46E27C2BF85}"/>
                </a:ext>
              </a:extLst>
            </p:cNvPr>
            <p:cNvPicPr preferRelativeResize="0"/>
            <p:nvPr/>
          </p:nvPicPr>
          <p:blipFill rotWithShape="1">
            <a:blip r:embed="rId7">
              <a:alphaModFix/>
            </a:blip>
            <a:srcRect/>
            <a:stretch/>
          </p:blipFill>
          <p:spPr>
            <a:xfrm>
              <a:off x="2098775" y="2787104"/>
              <a:ext cx="381000" cy="381000"/>
            </a:xfrm>
            <a:prstGeom prst="rect">
              <a:avLst/>
            </a:prstGeom>
            <a:noFill/>
            <a:ln>
              <a:noFill/>
            </a:ln>
          </p:spPr>
        </p:pic>
      </p:grpSp>
      <p:grpSp>
        <p:nvGrpSpPr>
          <p:cNvPr id="31" name="组合 30">
            <a:extLst>
              <a:ext uri="{FF2B5EF4-FFF2-40B4-BE49-F238E27FC236}">
                <a16:creationId xmlns:a16="http://schemas.microsoft.com/office/drawing/2014/main" id="{90BF5042-726E-4F71-27D3-C4D88D7D7564}"/>
              </a:ext>
            </a:extLst>
          </p:cNvPr>
          <p:cNvGrpSpPr/>
          <p:nvPr/>
        </p:nvGrpSpPr>
        <p:grpSpPr>
          <a:xfrm>
            <a:off x="4871889" y="2478181"/>
            <a:ext cx="2448074" cy="3229437"/>
            <a:chOff x="4871889" y="2478181"/>
            <a:chExt cx="2448074" cy="3229437"/>
          </a:xfrm>
        </p:grpSpPr>
        <p:pic>
          <p:nvPicPr>
            <p:cNvPr id="35" name="Google Shape;93;p13" descr="image.png">
              <a:extLst>
                <a:ext uri="{FF2B5EF4-FFF2-40B4-BE49-F238E27FC236}">
                  <a16:creationId xmlns:a16="http://schemas.microsoft.com/office/drawing/2014/main" id="{BBA91F2A-91F5-9CF1-8132-FEB1FC085AAD}"/>
                </a:ext>
              </a:extLst>
            </p:cNvPr>
            <p:cNvPicPr preferRelativeResize="0"/>
            <p:nvPr/>
          </p:nvPicPr>
          <p:blipFill rotWithShape="1">
            <a:blip r:embed="rId8">
              <a:alphaModFix/>
            </a:blip>
            <a:srcRect/>
            <a:stretch/>
          </p:blipFill>
          <p:spPr>
            <a:xfrm>
              <a:off x="5586738" y="2478181"/>
              <a:ext cx="952500" cy="952500"/>
            </a:xfrm>
            <a:prstGeom prst="rect">
              <a:avLst/>
            </a:prstGeom>
            <a:noFill/>
            <a:ln>
              <a:noFill/>
            </a:ln>
          </p:spPr>
        </p:pic>
        <p:sp>
          <p:nvSpPr>
            <p:cNvPr id="37" name="Google Shape;94;p13">
              <a:extLst>
                <a:ext uri="{FF2B5EF4-FFF2-40B4-BE49-F238E27FC236}">
                  <a16:creationId xmlns:a16="http://schemas.microsoft.com/office/drawing/2014/main" id="{7944447C-5BF1-375D-AB51-38963F5369D4}"/>
                </a:ext>
              </a:extLst>
            </p:cNvPr>
            <p:cNvSpPr txBox="1"/>
            <p:nvPr/>
          </p:nvSpPr>
          <p:spPr>
            <a:xfrm>
              <a:off x="5518472" y="3581355"/>
              <a:ext cx="1154756"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深度模型</a:t>
              </a:r>
              <a:endParaRPr dirty="0">
                <a:latin typeface="微软雅黑" panose="020B0503020204020204" pitchFamily="34" charset="-122"/>
                <a:ea typeface="微软雅黑" panose="020B0503020204020204" pitchFamily="34" charset="-122"/>
              </a:endParaRPr>
            </a:p>
          </p:txBody>
        </p:sp>
        <p:sp>
          <p:nvSpPr>
            <p:cNvPr id="38" name="Google Shape;95;p13">
              <a:extLst>
                <a:ext uri="{FF2B5EF4-FFF2-40B4-BE49-F238E27FC236}">
                  <a16:creationId xmlns:a16="http://schemas.microsoft.com/office/drawing/2014/main" id="{BB7D6982-DA14-EFDF-D836-4DAD9A5943AA}"/>
                </a:ext>
              </a:extLst>
            </p:cNvPr>
            <p:cNvSpPr txBox="1"/>
            <p:nvPr/>
          </p:nvSpPr>
          <p:spPr>
            <a:xfrm>
              <a:off x="4871889" y="4230290"/>
              <a:ext cx="2448074" cy="147732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chemeClr val="bg1"/>
                  </a:solidFill>
                  <a:latin typeface="微软雅黑" panose="020B0503020204020204" pitchFamily="34" charset="-122"/>
                  <a:ea typeface="微软雅黑" panose="020B0503020204020204" pitchFamily="34" charset="-122"/>
                  <a:sym typeface="Inter"/>
                </a:rPr>
                <a:t>一个基于</a:t>
              </a:r>
              <a:r>
                <a:rPr lang="en-US" sz="1600" b="1" dirty="0">
                  <a:solidFill>
                    <a:schemeClr val="bg1"/>
                  </a:solidFill>
                  <a:latin typeface="微软雅黑" panose="020B0503020204020204" pitchFamily="34" charset="-122"/>
                  <a:ea typeface="微软雅黑" panose="020B0503020204020204" pitchFamily="34" charset="-122"/>
                  <a:sym typeface="Inter"/>
                </a:rPr>
                <a:t> </a:t>
              </a:r>
              <a:r>
                <a:rPr lang="en-US" sz="1600" b="1" dirty="0" err="1">
                  <a:solidFill>
                    <a:schemeClr val="bg1"/>
                  </a:solidFill>
                  <a:latin typeface="微软雅黑" panose="020B0503020204020204" pitchFamily="34" charset="-122"/>
                  <a:ea typeface="微软雅黑" panose="020B0503020204020204" pitchFamily="34" charset="-122"/>
                  <a:sym typeface="Inter"/>
                </a:rPr>
                <a:t>KKBox</a:t>
              </a:r>
              <a:r>
                <a:rPr lang="en-US" sz="1600" b="1" dirty="0">
                  <a:solidFill>
                    <a:schemeClr val="bg1"/>
                  </a:solidFill>
                  <a:latin typeface="微软雅黑" panose="020B0503020204020204" pitchFamily="34" charset="-122"/>
                  <a:ea typeface="微软雅黑" panose="020B0503020204020204" pitchFamily="34" charset="-122"/>
                  <a:sym typeface="Inter"/>
                </a:rPr>
                <a:t> </a:t>
              </a:r>
              <a:r>
                <a:rPr lang="en-US" sz="1600" b="1" dirty="0" err="1">
                  <a:solidFill>
                    <a:schemeClr val="bg1"/>
                  </a:solidFill>
                  <a:latin typeface="微软雅黑" panose="020B0503020204020204" pitchFamily="34" charset="-122"/>
                  <a:ea typeface="微软雅黑" panose="020B0503020204020204" pitchFamily="34" charset="-122"/>
                  <a:sym typeface="Inter"/>
                </a:rPr>
                <a:t>公开数据集训练达标的</a:t>
              </a:r>
              <a:r>
                <a:rPr lang="en-US" sz="1600" b="1" dirty="0" err="1">
                  <a:solidFill>
                    <a:schemeClr val="bg1"/>
                  </a:solidFill>
                  <a:latin typeface="微软雅黑" panose="020B0503020204020204" pitchFamily="34" charset="-122"/>
                  <a:ea typeface="微软雅黑" panose="020B0503020204020204" pitchFamily="34" charset="-122"/>
                  <a:sym typeface="Inter SemiBold"/>
                </a:rPr>
                <a:t>DeepFM</a:t>
              </a:r>
              <a:r>
                <a:rPr lang="en-US" sz="1600" b="1" dirty="0">
                  <a:solidFill>
                    <a:schemeClr val="bg1"/>
                  </a:solidFill>
                  <a:latin typeface="微软雅黑" panose="020B0503020204020204" pitchFamily="34" charset="-122"/>
                  <a:ea typeface="微软雅黑" panose="020B0503020204020204" pitchFamily="34" charset="-122"/>
                  <a:sym typeface="Inter SemiBold"/>
                </a:rPr>
                <a:t> </a:t>
              </a:r>
              <a:r>
                <a:rPr lang="en-US" sz="1600" b="1" dirty="0" err="1">
                  <a:solidFill>
                    <a:schemeClr val="bg1"/>
                  </a:solidFill>
                  <a:latin typeface="微软雅黑" panose="020B0503020204020204" pitchFamily="34" charset="-122"/>
                  <a:ea typeface="微软雅黑" panose="020B0503020204020204" pitchFamily="34" charset="-122"/>
                  <a:sym typeface="Inter SemiBold"/>
                </a:rPr>
                <a:t>深度学习模型</a:t>
              </a:r>
              <a:r>
                <a:rPr lang="en-US" sz="1600" b="1" dirty="0" err="1">
                  <a:solidFill>
                    <a:schemeClr val="bg1"/>
                  </a:solidFill>
                  <a:latin typeface="微软雅黑" panose="020B0503020204020204" pitchFamily="34" charset="-122"/>
                  <a:ea typeface="微软雅黑" panose="020B0503020204020204" pitchFamily="34" charset="-122"/>
                  <a:sym typeface="Inter"/>
                </a:rPr>
                <a:t>具备高阶特征捕捉能力</a:t>
              </a:r>
              <a:r>
                <a:rPr lang="en-US" sz="1600" b="1" dirty="0">
                  <a:solidFill>
                    <a:schemeClr val="bg1"/>
                  </a:solidFill>
                  <a:latin typeface="微软雅黑" panose="020B0503020204020204" pitchFamily="34" charset="-122"/>
                  <a:ea typeface="微软雅黑" panose="020B0503020204020204" pitchFamily="34" charset="-122"/>
                  <a:sym typeface="Inter"/>
                </a:rPr>
                <a:t>。</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39" name="Google Shape;100;p13" descr="image.png">
              <a:extLst>
                <a:ext uri="{FF2B5EF4-FFF2-40B4-BE49-F238E27FC236}">
                  <a16:creationId xmlns:a16="http://schemas.microsoft.com/office/drawing/2014/main" id="{4AF21F48-D99C-2371-C7DE-592D53102471}"/>
                </a:ext>
              </a:extLst>
            </p:cNvPr>
            <p:cNvPicPr preferRelativeResize="0"/>
            <p:nvPr/>
          </p:nvPicPr>
          <p:blipFill rotWithShape="1">
            <a:blip r:embed="rId9">
              <a:alphaModFix/>
            </a:blip>
            <a:srcRect/>
            <a:stretch/>
          </p:blipFill>
          <p:spPr>
            <a:xfrm>
              <a:off x="5872488" y="2773293"/>
              <a:ext cx="381000" cy="381000"/>
            </a:xfrm>
            <a:prstGeom prst="rect">
              <a:avLst/>
            </a:prstGeom>
            <a:noFill/>
            <a:ln>
              <a:noFill/>
            </a:ln>
          </p:spPr>
        </p:pic>
      </p:grpSp>
      <p:grpSp>
        <p:nvGrpSpPr>
          <p:cNvPr id="40" name="组合 39">
            <a:extLst>
              <a:ext uri="{FF2B5EF4-FFF2-40B4-BE49-F238E27FC236}">
                <a16:creationId xmlns:a16="http://schemas.microsoft.com/office/drawing/2014/main" id="{20805E32-5C42-3E04-EFD0-DF8DD652C301}"/>
              </a:ext>
            </a:extLst>
          </p:cNvPr>
          <p:cNvGrpSpPr/>
          <p:nvPr/>
        </p:nvGrpSpPr>
        <p:grpSpPr>
          <a:xfrm>
            <a:off x="8519160" y="2487543"/>
            <a:ext cx="2804160" cy="2850743"/>
            <a:chOff x="8519160" y="2487543"/>
            <a:chExt cx="2804160" cy="2850743"/>
          </a:xfrm>
        </p:grpSpPr>
        <p:pic>
          <p:nvPicPr>
            <p:cNvPr id="41" name="Google Shape;96;p13" descr="image.png">
              <a:extLst>
                <a:ext uri="{FF2B5EF4-FFF2-40B4-BE49-F238E27FC236}">
                  <a16:creationId xmlns:a16="http://schemas.microsoft.com/office/drawing/2014/main" id="{C65AB7D2-E491-5735-519F-2D253BC9B06A}"/>
                </a:ext>
              </a:extLst>
            </p:cNvPr>
            <p:cNvPicPr preferRelativeResize="0"/>
            <p:nvPr/>
          </p:nvPicPr>
          <p:blipFill rotWithShape="1">
            <a:blip r:embed="rId10">
              <a:alphaModFix/>
            </a:blip>
            <a:srcRect/>
            <a:stretch/>
          </p:blipFill>
          <p:spPr>
            <a:xfrm>
              <a:off x="9407425" y="2487543"/>
              <a:ext cx="952500" cy="952500"/>
            </a:xfrm>
            <a:prstGeom prst="rect">
              <a:avLst/>
            </a:prstGeom>
            <a:noFill/>
            <a:ln>
              <a:noFill/>
            </a:ln>
          </p:spPr>
        </p:pic>
        <p:sp>
          <p:nvSpPr>
            <p:cNvPr id="42" name="Google Shape;97;p13">
              <a:extLst>
                <a:ext uri="{FF2B5EF4-FFF2-40B4-BE49-F238E27FC236}">
                  <a16:creationId xmlns:a16="http://schemas.microsoft.com/office/drawing/2014/main" id="{1CB6D9AE-9096-6F70-5EA5-BD9CACF120CA}"/>
                </a:ext>
              </a:extLst>
            </p:cNvPr>
            <p:cNvSpPr txBox="1"/>
            <p:nvPr/>
          </p:nvSpPr>
          <p:spPr>
            <a:xfrm>
              <a:off x="9309705" y="3594332"/>
              <a:ext cx="1223069"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研究报告</a:t>
              </a:r>
              <a:endParaRPr dirty="0">
                <a:latin typeface="微软雅黑" panose="020B0503020204020204" pitchFamily="34" charset="-122"/>
                <a:ea typeface="微软雅黑" panose="020B0503020204020204" pitchFamily="34" charset="-122"/>
              </a:endParaRPr>
            </a:p>
          </p:txBody>
        </p:sp>
        <p:sp>
          <p:nvSpPr>
            <p:cNvPr id="43" name="Google Shape;98;p13">
              <a:extLst>
                <a:ext uri="{FF2B5EF4-FFF2-40B4-BE49-F238E27FC236}">
                  <a16:creationId xmlns:a16="http://schemas.microsoft.com/office/drawing/2014/main" id="{4921594B-BEDC-D70B-EF63-F4A34838DEF3}"/>
                </a:ext>
              </a:extLst>
            </p:cNvPr>
            <p:cNvSpPr txBox="1"/>
            <p:nvPr/>
          </p:nvSpPr>
          <p:spPr>
            <a:xfrm>
              <a:off x="8519160" y="4230290"/>
              <a:ext cx="2804160" cy="1107996"/>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chemeClr val="bg1"/>
                  </a:solidFill>
                  <a:latin typeface="微软雅黑" panose="020B0503020204020204" pitchFamily="34" charset="-122"/>
                  <a:ea typeface="微软雅黑" panose="020B0503020204020204" pitchFamily="34" charset="-122"/>
                  <a:sym typeface="Inter"/>
                </a:rPr>
                <a:t>一份详细阐述</a:t>
              </a:r>
              <a:r>
                <a:rPr lang="en-US" sz="1600" b="1" dirty="0" err="1">
                  <a:solidFill>
                    <a:schemeClr val="bg1"/>
                  </a:solidFill>
                  <a:latin typeface="微软雅黑" panose="020B0503020204020204" pitchFamily="34" charset="-122"/>
                  <a:ea typeface="微软雅黑" panose="020B0503020204020204" pitchFamily="34" charset="-122"/>
                  <a:sym typeface="Inter SemiBold"/>
                </a:rPr>
                <a:t>系统架构设计、算法原理实验过程与结果分析</a:t>
              </a:r>
              <a:br>
                <a:rPr lang="en-US" sz="1600" b="1" dirty="0">
                  <a:solidFill>
                    <a:schemeClr val="bg1"/>
                  </a:solidFill>
                  <a:latin typeface="微软雅黑" panose="020B0503020204020204" pitchFamily="34" charset="-122"/>
                  <a:ea typeface="微软雅黑" panose="020B0503020204020204" pitchFamily="34" charset="-122"/>
                  <a:sym typeface="Calibri"/>
                </a:rPr>
              </a:br>
              <a:r>
                <a:rPr lang="en-US" sz="1600" b="1" dirty="0">
                  <a:solidFill>
                    <a:schemeClr val="bg1"/>
                  </a:solidFill>
                  <a:latin typeface="微软雅黑" panose="020B0503020204020204" pitchFamily="34" charset="-122"/>
                  <a:ea typeface="微软雅黑" panose="020B0503020204020204" pitchFamily="34" charset="-122"/>
                  <a:sym typeface="Inter"/>
                </a:rPr>
                <a:t> </a:t>
              </a:r>
              <a:r>
                <a:rPr lang="en-US" sz="1600" b="1" dirty="0" err="1">
                  <a:solidFill>
                    <a:schemeClr val="bg1"/>
                  </a:solidFill>
                  <a:latin typeface="微软雅黑" panose="020B0503020204020204" pitchFamily="34" charset="-122"/>
                  <a:ea typeface="微软雅黑" panose="020B0503020204020204" pitchFamily="34" charset="-122"/>
                  <a:sym typeface="Inter"/>
                </a:rPr>
                <a:t>的完整学术毕业论文</a:t>
              </a:r>
              <a:r>
                <a:rPr lang="en-US" sz="1600" b="1" dirty="0">
                  <a:solidFill>
                    <a:schemeClr val="bg1"/>
                  </a:solidFill>
                  <a:latin typeface="微软雅黑" panose="020B0503020204020204" pitchFamily="34" charset="-122"/>
                  <a:ea typeface="微软雅黑" panose="020B0503020204020204" pitchFamily="34" charset="-122"/>
                  <a:sym typeface="Inter"/>
                </a:rPr>
                <a:t>。</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44" name="Google Shape;101;p13" descr="image.png">
              <a:extLst>
                <a:ext uri="{FF2B5EF4-FFF2-40B4-BE49-F238E27FC236}">
                  <a16:creationId xmlns:a16="http://schemas.microsoft.com/office/drawing/2014/main" id="{A929EDF3-8FA2-05DF-ECB1-245C1E17EAD6}"/>
                </a:ext>
              </a:extLst>
            </p:cNvPr>
            <p:cNvPicPr preferRelativeResize="0"/>
            <p:nvPr/>
          </p:nvPicPr>
          <p:blipFill rotWithShape="1">
            <a:blip r:embed="rId11">
              <a:alphaModFix/>
            </a:blip>
            <a:srcRect/>
            <a:stretch/>
          </p:blipFill>
          <p:spPr>
            <a:xfrm>
              <a:off x="9740800" y="2773293"/>
              <a:ext cx="285750" cy="381000"/>
            </a:xfrm>
            <a:prstGeom prst="rect">
              <a:avLst/>
            </a:prstGeom>
            <a:noFill/>
            <a:ln>
              <a:noFill/>
            </a:ln>
          </p:spPr>
        </p:pic>
      </p:grpSp>
    </p:spTree>
    <p:custDataLst>
      <p:tags r:id="rId1"/>
    </p:custDataLst>
    <p:extLst>
      <p:ext uri="{BB962C8B-B14F-4D97-AF65-F5344CB8AC3E}">
        <p14:creationId xmlns:p14="http://schemas.microsoft.com/office/powerpoint/2010/main" val="1166665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5AAC-C8C0-F04F-228E-C303FE7725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24D61F-FBAA-4BBE-1E16-A0E052919F98}"/>
              </a:ext>
            </a:extLst>
          </p:cNvPr>
          <p:cNvSpPr>
            <a:spLocks noGrp="1"/>
          </p:cNvSpPr>
          <p:nvPr>
            <p:ph type="title"/>
          </p:nvPr>
        </p:nvSpPr>
        <p:spPr/>
        <p:txBody>
          <a:bodyPr wrap="square">
            <a:normAutofit/>
          </a:bodyPr>
          <a:lstStyle/>
          <a:p>
            <a:pPr lvl="0"/>
            <a:r>
              <a:rPr lang="en-US" dirty="0">
                <a:latin typeface="+mn-ea"/>
                <a:ea typeface="+mn-ea"/>
              </a:rPr>
              <a:t>06.</a:t>
            </a:r>
            <a:r>
              <a:rPr lang="zh-CN" altLang="en-US" dirty="0">
                <a:latin typeface="+mn-ea"/>
                <a:ea typeface="+mn-ea"/>
              </a:rPr>
              <a:t>工作进度计划</a:t>
            </a:r>
            <a:endParaRPr lang="en-US" dirty="0">
              <a:latin typeface="+mn-ea"/>
              <a:ea typeface="+mn-ea"/>
            </a:endParaRPr>
          </a:p>
        </p:txBody>
      </p:sp>
    </p:spTree>
    <p:custDataLst>
      <p:tags r:id="rId1"/>
    </p:custDataLst>
    <p:extLst>
      <p:ext uri="{BB962C8B-B14F-4D97-AF65-F5344CB8AC3E}">
        <p14:creationId xmlns:p14="http://schemas.microsoft.com/office/powerpoint/2010/main" val="612992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2" name="图片 11" descr="桌子上放着花瓶&#10;&#10;AI 生成的内容可能不正确。">
            <a:extLst>
              <a:ext uri="{FF2B5EF4-FFF2-40B4-BE49-F238E27FC236}">
                <a16:creationId xmlns:a16="http://schemas.microsoft.com/office/drawing/2014/main" id="{ABF3E6A4-4E40-4672-0571-30898CCB77F1}"/>
              </a:ext>
            </a:extLst>
          </p:cNvPr>
          <p:cNvPicPr>
            <a:picLocks noChangeAspect="1"/>
          </p:cNvPicPr>
          <p:nvPr/>
        </p:nvPicPr>
        <p:blipFill>
          <a:blip r:embed="rId3"/>
          <a:stretch>
            <a:fillRect/>
          </a:stretch>
        </p:blipFill>
        <p:spPr>
          <a:xfrm>
            <a:off x="0" y="9923"/>
            <a:ext cx="12192000" cy="6838154"/>
          </a:xfrm>
          <a:prstGeom prst="rect">
            <a:avLst/>
          </a:prstGeom>
        </p:spPr>
      </p:pic>
      <p:pic>
        <p:nvPicPr>
          <p:cNvPr id="146" name="Google Shape;146;p15" descr="image.png"/>
          <p:cNvPicPr preferRelativeResize="0"/>
          <p:nvPr/>
        </p:nvPicPr>
        <p:blipFill rotWithShape="1">
          <a:blip r:embed="rId4">
            <a:alphaModFix/>
          </a:blip>
          <a:srcRect/>
          <a:stretch/>
        </p:blipFill>
        <p:spPr>
          <a:xfrm>
            <a:off x="416775" y="1275239"/>
            <a:ext cx="5510099" cy="1185862"/>
          </a:xfrm>
          <a:prstGeom prst="rect">
            <a:avLst/>
          </a:prstGeom>
          <a:solidFill>
            <a:schemeClr val="tx1">
              <a:alpha val="8000"/>
            </a:schemeClr>
          </a:solidFill>
          <a:ln>
            <a:noFill/>
          </a:ln>
          <a:effectLst>
            <a:outerShdw blurRad="292100" dist="139700" dir="2700000" algn="tl" rotWithShape="0">
              <a:srgbClr val="333333">
                <a:alpha val="65000"/>
              </a:srgbClr>
            </a:outerShdw>
          </a:effectLst>
        </p:spPr>
      </p:pic>
      <p:pic>
        <p:nvPicPr>
          <p:cNvPr id="147" name="Google Shape;147;p15" descr="image.png"/>
          <p:cNvPicPr preferRelativeResize="0"/>
          <p:nvPr/>
        </p:nvPicPr>
        <p:blipFill rotWithShape="1">
          <a:blip r:embed="rId5">
            <a:alphaModFix/>
          </a:blip>
          <a:srcRect/>
          <a:stretch/>
        </p:blipFill>
        <p:spPr>
          <a:xfrm>
            <a:off x="6286500" y="1295400"/>
            <a:ext cx="5553075" cy="1185862"/>
          </a:xfrm>
          <a:prstGeom prst="rect">
            <a:avLst/>
          </a:prstGeom>
          <a:solidFill>
            <a:schemeClr val="tx1">
              <a:alpha val="8000"/>
            </a:schemeClr>
          </a:solidFill>
          <a:ln>
            <a:noFill/>
          </a:ln>
        </p:spPr>
      </p:pic>
      <p:pic>
        <p:nvPicPr>
          <p:cNvPr id="148" name="Google Shape;148;p15" descr="image.png"/>
          <p:cNvPicPr preferRelativeResize="0"/>
          <p:nvPr/>
        </p:nvPicPr>
        <p:blipFill rotWithShape="1">
          <a:blip r:embed="rId6">
            <a:alphaModFix/>
          </a:blip>
          <a:srcRect/>
          <a:stretch/>
        </p:blipFill>
        <p:spPr>
          <a:xfrm>
            <a:off x="415527" y="2624137"/>
            <a:ext cx="5510099" cy="1185862"/>
          </a:xfrm>
          <a:prstGeom prst="rect">
            <a:avLst/>
          </a:prstGeom>
          <a:solidFill>
            <a:schemeClr val="tx1">
              <a:alpha val="8000"/>
            </a:schemeClr>
          </a:solidFill>
          <a:ln>
            <a:noFill/>
          </a:ln>
          <a:effectLst>
            <a:outerShdw blurRad="292100" dist="139700" dir="2700000" algn="tl" rotWithShape="0">
              <a:srgbClr val="333333">
                <a:alpha val="65000"/>
              </a:srgbClr>
            </a:outerShdw>
          </a:effectLst>
        </p:spPr>
      </p:pic>
      <p:pic>
        <p:nvPicPr>
          <p:cNvPr id="149" name="Google Shape;149;p15" descr="image.png"/>
          <p:cNvPicPr preferRelativeResize="0"/>
          <p:nvPr/>
        </p:nvPicPr>
        <p:blipFill rotWithShape="1">
          <a:blip r:embed="rId6">
            <a:alphaModFix/>
          </a:blip>
          <a:srcRect/>
          <a:stretch/>
        </p:blipFill>
        <p:spPr>
          <a:xfrm>
            <a:off x="6286500" y="2624137"/>
            <a:ext cx="5553075" cy="1185862"/>
          </a:xfrm>
          <a:prstGeom prst="rect">
            <a:avLst/>
          </a:prstGeom>
          <a:solidFill>
            <a:schemeClr val="tx1">
              <a:alpha val="8000"/>
            </a:schemeClr>
          </a:solidFill>
          <a:ln>
            <a:noFill/>
          </a:ln>
          <a:effectLst>
            <a:outerShdw blurRad="292100" dist="139700" dir="2700000" algn="tl" rotWithShape="0">
              <a:srgbClr val="333333">
                <a:alpha val="65000"/>
              </a:srgbClr>
            </a:outerShdw>
          </a:effectLst>
        </p:spPr>
      </p:pic>
      <p:pic>
        <p:nvPicPr>
          <p:cNvPr id="150" name="Google Shape;150;p15" descr="image.png"/>
          <p:cNvPicPr preferRelativeResize="0"/>
          <p:nvPr/>
        </p:nvPicPr>
        <p:blipFill rotWithShape="1">
          <a:blip r:embed="rId7">
            <a:alphaModFix/>
          </a:blip>
          <a:srcRect/>
          <a:stretch/>
        </p:blipFill>
        <p:spPr>
          <a:xfrm>
            <a:off x="415527" y="3952875"/>
            <a:ext cx="5489974" cy="1185862"/>
          </a:xfrm>
          <a:prstGeom prst="rect">
            <a:avLst/>
          </a:prstGeom>
          <a:solidFill>
            <a:schemeClr val="tx1">
              <a:alpha val="8000"/>
            </a:schemeClr>
          </a:solidFill>
          <a:ln>
            <a:noFill/>
          </a:ln>
          <a:effectLst>
            <a:outerShdw blurRad="292100" dist="139700" dir="2700000" algn="tl" rotWithShape="0">
              <a:srgbClr val="333333">
                <a:alpha val="65000"/>
              </a:srgbClr>
            </a:outerShdw>
          </a:effectLst>
        </p:spPr>
      </p:pic>
      <p:pic>
        <p:nvPicPr>
          <p:cNvPr id="151" name="Google Shape;151;p15" descr="image.png"/>
          <p:cNvPicPr preferRelativeResize="0"/>
          <p:nvPr/>
        </p:nvPicPr>
        <p:blipFill rotWithShape="1">
          <a:blip r:embed="rId8">
            <a:alphaModFix/>
          </a:blip>
          <a:srcRect/>
          <a:stretch/>
        </p:blipFill>
        <p:spPr>
          <a:xfrm>
            <a:off x="6286500" y="3952875"/>
            <a:ext cx="5553075" cy="1185862"/>
          </a:xfrm>
          <a:prstGeom prst="rect">
            <a:avLst/>
          </a:prstGeom>
          <a:solidFill>
            <a:schemeClr val="tx1">
              <a:alpha val="8000"/>
            </a:schemeClr>
          </a:solidFill>
          <a:ln>
            <a:noFill/>
          </a:ln>
          <a:effectLst>
            <a:outerShdw blurRad="292100" dist="139700" dir="2700000" algn="tl" rotWithShape="0">
              <a:srgbClr val="333333">
                <a:alpha val="65000"/>
              </a:srgbClr>
            </a:outerShdw>
          </a:effectLst>
        </p:spPr>
      </p:pic>
      <p:pic>
        <p:nvPicPr>
          <p:cNvPr id="152" name="Google Shape;152;p15" descr="image.png"/>
          <p:cNvPicPr preferRelativeResize="0"/>
          <p:nvPr/>
        </p:nvPicPr>
        <p:blipFill rotWithShape="1">
          <a:blip r:embed="rId9">
            <a:alphaModFix/>
          </a:blip>
          <a:srcRect/>
          <a:stretch/>
        </p:blipFill>
        <p:spPr>
          <a:xfrm>
            <a:off x="415527" y="5281612"/>
            <a:ext cx="5489974" cy="1185862"/>
          </a:xfrm>
          <a:prstGeom prst="rect">
            <a:avLst/>
          </a:prstGeom>
          <a:solidFill>
            <a:schemeClr val="tx1">
              <a:alpha val="8000"/>
            </a:schemeClr>
          </a:solidFill>
          <a:ln>
            <a:noFill/>
          </a:ln>
          <a:effectLst>
            <a:outerShdw blurRad="292100" dist="139700" dir="2700000" algn="tl" rotWithShape="0">
              <a:srgbClr val="333333">
                <a:alpha val="65000"/>
              </a:srgbClr>
            </a:outerShdw>
          </a:effectLst>
        </p:spPr>
      </p:pic>
      <p:pic>
        <p:nvPicPr>
          <p:cNvPr id="153" name="Google Shape;153;p15" descr="image.png"/>
          <p:cNvPicPr preferRelativeResize="0"/>
          <p:nvPr/>
        </p:nvPicPr>
        <p:blipFill rotWithShape="1">
          <a:blip r:embed="rId9">
            <a:alphaModFix/>
          </a:blip>
          <a:srcRect/>
          <a:stretch/>
        </p:blipFill>
        <p:spPr>
          <a:xfrm>
            <a:off x="6286500" y="5281612"/>
            <a:ext cx="5553075" cy="1185862"/>
          </a:xfrm>
          <a:prstGeom prst="rect">
            <a:avLst/>
          </a:prstGeom>
          <a:solidFill>
            <a:schemeClr val="tx1">
              <a:alpha val="8000"/>
            </a:schemeClr>
          </a:solidFill>
          <a:ln>
            <a:noFill/>
          </a:ln>
          <a:effectLst>
            <a:outerShdw blurRad="292100" dist="139700" dir="2700000" algn="tl" rotWithShape="0">
              <a:srgbClr val="333333">
                <a:alpha val="65000"/>
              </a:srgbClr>
            </a:outerShdw>
          </a:effectLst>
        </p:spPr>
      </p:pic>
      <p:pic>
        <p:nvPicPr>
          <p:cNvPr id="155" name="Google Shape;155;p15" descr="image.png"/>
          <p:cNvPicPr preferRelativeResize="0"/>
          <p:nvPr/>
        </p:nvPicPr>
        <p:blipFill rotWithShape="1">
          <a:blip r:embed="rId10">
            <a:alphaModFix/>
          </a:blip>
          <a:srcRect/>
          <a:stretch/>
        </p:blipFill>
        <p:spPr>
          <a:xfrm>
            <a:off x="5539976" y="1744422"/>
            <a:ext cx="257175" cy="228600"/>
          </a:xfrm>
          <a:prstGeom prst="rect">
            <a:avLst/>
          </a:prstGeom>
          <a:noFill/>
          <a:ln>
            <a:noFill/>
          </a:ln>
        </p:spPr>
      </p:pic>
      <p:pic>
        <p:nvPicPr>
          <p:cNvPr id="156" name="Google Shape;156;p15" descr="image.png"/>
          <p:cNvPicPr preferRelativeResize="0"/>
          <p:nvPr/>
        </p:nvPicPr>
        <p:blipFill rotWithShape="1">
          <a:blip r:embed="rId11">
            <a:alphaModFix/>
          </a:blip>
          <a:srcRect/>
          <a:stretch/>
        </p:blipFill>
        <p:spPr>
          <a:xfrm>
            <a:off x="11463349" y="1774031"/>
            <a:ext cx="200025" cy="228600"/>
          </a:xfrm>
          <a:prstGeom prst="rect">
            <a:avLst/>
          </a:prstGeom>
          <a:noFill/>
          <a:ln>
            <a:noFill/>
          </a:ln>
        </p:spPr>
      </p:pic>
      <p:pic>
        <p:nvPicPr>
          <p:cNvPr id="157" name="Google Shape;157;p15" descr="image.png"/>
          <p:cNvPicPr preferRelativeResize="0"/>
          <p:nvPr/>
        </p:nvPicPr>
        <p:blipFill rotWithShape="1">
          <a:blip r:embed="rId12">
            <a:alphaModFix/>
          </a:blip>
          <a:srcRect/>
          <a:stretch/>
        </p:blipFill>
        <p:spPr>
          <a:xfrm>
            <a:off x="5478261" y="3073186"/>
            <a:ext cx="285750" cy="228600"/>
          </a:xfrm>
          <a:prstGeom prst="rect">
            <a:avLst/>
          </a:prstGeom>
          <a:noFill/>
          <a:ln>
            <a:noFill/>
          </a:ln>
        </p:spPr>
      </p:pic>
      <p:pic>
        <p:nvPicPr>
          <p:cNvPr id="158" name="Google Shape;158;p15" descr="image.png"/>
          <p:cNvPicPr preferRelativeResize="0"/>
          <p:nvPr/>
        </p:nvPicPr>
        <p:blipFill rotWithShape="1">
          <a:blip r:embed="rId13">
            <a:alphaModFix/>
          </a:blip>
          <a:srcRect/>
          <a:stretch/>
        </p:blipFill>
        <p:spPr>
          <a:xfrm>
            <a:off x="11466922" y="3109550"/>
            <a:ext cx="257175" cy="228600"/>
          </a:xfrm>
          <a:prstGeom prst="rect">
            <a:avLst/>
          </a:prstGeom>
          <a:noFill/>
          <a:ln>
            <a:noFill/>
          </a:ln>
        </p:spPr>
      </p:pic>
      <p:pic>
        <p:nvPicPr>
          <p:cNvPr id="159" name="Google Shape;159;p15" descr="image.png"/>
          <p:cNvPicPr preferRelativeResize="0"/>
          <p:nvPr/>
        </p:nvPicPr>
        <p:blipFill rotWithShape="1">
          <a:blip r:embed="rId14">
            <a:alphaModFix/>
          </a:blip>
          <a:srcRect/>
          <a:stretch/>
        </p:blipFill>
        <p:spPr>
          <a:xfrm>
            <a:off x="5467993" y="4399966"/>
            <a:ext cx="285750" cy="228600"/>
          </a:xfrm>
          <a:prstGeom prst="rect">
            <a:avLst/>
          </a:prstGeom>
          <a:noFill/>
          <a:ln>
            <a:noFill/>
          </a:ln>
        </p:spPr>
      </p:pic>
      <p:pic>
        <p:nvPicPr>
          <p:cNvPr id="160" name="Google Shape;160;p15" descr="image.png"/>
          <p:cNvPicPr preferRelativeResize="0"/>
          <p:nvPr/>
        </p:nvPicPr>
        <p:blipFill rotWithShape="1">
          <a:blip r:embed="rId15">
            <a:alphaModFix/>
          </a:blip>
          <a:srcRect/>
          <a:stretch/>
        </p:blipFill>
        <p:spPr>
          <a:xfrm>
            <a:off x="11511295" y="4445269"/>
            <a:ext cx="228600" cy="228600"/>
          </a:xfrm>
          <a:prstGeom prst="rect">
            <a:avLst/>
          </a:prstGeom>
          <a:noFill/>
          <a:ln>
            <a:noFill/>
          </a:ln>
        </p:spPr>
      </p:pic>
      <p:pic>
        <p:nvPicPr>
          <p:cNvPr id="161" name="Google Shape;161;p15" descr="image.png"/>
          <p:cNvPicPr preferRelativeResize="0"/>
          <p:nvPr/>
        </p:nvPicPr>
        <p:blipFill rotWithShape="1">
          <a:blip r:embed="rId16">
            <a:alphaModFix/>
          </a:blip>
          <a:srcRect/>
          <a:stretch/>
        </p:blipFill>
        <p:spPr>
          <a:xfrm>
            <a:off x="5484742" y="5757554"/>
            <a:ext cx="171450" cy="228600"/>
          </a:xfrm>
          <a:prstGeom prst="rect">
            <a:avLst/>
          </a:prstGeom>
          <a:noFill/>
          <a:ln>
            <a:noFill/>
          </a:ln>
        </p:spPr>
      </p:pic>
      <p:pic>
        <p:nvPicPr>
          <p:cNvPr id="162" name="Google Shape;162;p15" descr="image.png"/>
          <p:cNvPicPr preferRelativeResize="0"/>
          <p:nvPr/>
        </p:nvPicPr>
        <p:blipFill rotWithShape="1">
          <a:blip r:embed="rId17">
            <a:alphaModFix/>
          </a:blip>
          <a:srcRect/>
          <a:stretch/>
        </p:blipFill>
        <p:spPr>
          <a:xfrm>
            <a:off x="11490022" y="5760243"/>
            <a:ext cx="285750" cy="228600"/>
          </a:xfrm>
          <a:prstGeom prst="rect">
            <a:avLst/>
          </a:prstGeom>
          <a:noFill/>
          <a:ln>
            <a:noFill/>
          </a:ln>
        </p:spPr>
      </p:pic>
      <p:sp>
        <p:nvSpPr>
          <p:cNvPr id="163" name="Google Shape;163;p15"/>
          <p:cNvSpPr txBox="1"/>
          <p:nvPr/>
        </p:nvSpPr>
        <p:spPr>
          <a:xfrm>
            <a:off x="645375" y="1410403"/>
            <a:ext cx="2247900" cy="215444"/>
          </a:xfrm>
          <a:prstGeom prst="rect">
            <a:avLst/>
          </a:prstGeom>
          <a:noFill/>
          <a:ln>
            <a:noFill/>
          </a:ln>
        </p:spPr>
        <p:txBody>
          <a:bodyPr spcFirstLastPara="1" wrap="square" lIns="0" tIns="0" rIns="0" bIns="0" anchor="ctr" anchorCtr="0">
            <a:spAutoFit/>
          </a:bodyPr>
          <a:lstStyle/>
          <a:p>
            <a:pPr lvl="0"/>
            <a:r>
              <a:rPr lang="en-US" b="1" i="0" u="none" strike="noStrike" cap="none" dirty="0">
                <a:solidFill>
                  <a:schemeClr val="tx1"/>
                </a:solidFill>
                <a:latin typeface="Arial" panose="020B0604020202020204" pitchFamily="34" charset="0"/>
                <a:ea typeface="微软雅黑" panose="020B0503020204020204" pitchFamily="34" charset="-122"/>
                <a:cs typeface="Inter"/>
                <a:sym typeface="Inter"/>
              </a:rPr>
              <a:t>1.</a:t>
            </a:r>
            <a:r>
              <a:rPr lang="zh-CN" altLang="en-US" b="1" dirty="0">
                <a:solidFill>
                  <a:schemeClr val="tx1"/>
                </a:solidFill>
                <a:latin typeface="Arial" panose="020B0604020202020204" pitchFamily="34" charset="0"/>
                <a:ea typeface="微软雅黑" panose="020B0503020204020204" pitchFamily="34" charset="-122"/>
              </a:rPr>
              <a:t>选题调研与开题准备</a:t>
            </a:r>
            <a:endParaRPr dirty="0">
              <a:solidFill>
                <a:schemeClr val="tx1"/>
              </a:solidFill>
              <a:latin typeface="Arial" panose="020B0604020202020204" pitchFamily="34" charset="0"/>
              <a:ea typeface="微软雅黑" panose="020B0503020204020204" pitchFamily="34" charset="-122"/>
            </a:endParaRPr>
          </a:p>
        </p:txBody>
      </p:sp>
      <p:sp>
        <p:nvSpPr>
          <p:cNvPr id="164" name="Google Shape;164;p15"/>
          <p:cNvSpPr txBox="1"/>
          <p:nvPr/>
        </p:nvSpPr>
        <p:spPr>
          <a:xfrm>
            <a:off x="3184388" y="1439964"/>
            <a:ext cx="247113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chemeClr val="tx1"/>
                </a:solidFill>
                <a:latin typeface="Arial" panose="020B0604020202020204" pitchFamily="34" charset="0"/>
                <a:ea typeface="微软雅黑" panose="020B0503020204020204" pitchFamily="34" charset="-122"/>
                <a:cs typeface="JetBrains Mono"/>
                <a:sym typeface="JetBrains Mono"/>
              </a:rPr>
              <a:t>2025年10月20日 - 2025年11月20日</a:t>
            </a:r>
            <a:endParaRPr b="1" dirty="0">
              <a:solidFill>
                <a:schemeClr val="tx1"/>
              </a:solidFill>
              <a:latin typeface="Arial" panose="020B0604020202020204" pitchFamily="34" charset="0"/>
              <a:ea typeface="微软雅黑" panose="020B0503020204020204" pitchFamily="34" charset="-122"/>
            </a:endParaRPr>
          </a:p>
        </p:txBody>
      </p:sp>
      <p:sp>
        <p:nvSpPr>
          <p:cNvPr id="165" name="Google Shape;165;p15"/>
          <p:cNvSpPr txBox="1"/>
          <p:nvPr/>
        </p:nvSpPr>
        <p:spPr>
          <a:xfrm>
            <a:off x="6515099" y="1426845"/>
            <a:ext cx="3056604" cy="276999"/>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2.</a:t>
            </a:r>
            <a:r>
              <a:rPr lang="zh-CN" altLang="en-US" b="1" dirty="0">
                <a:solidFill>
                  <a:schemeClr val="tx1"/>
                </a:solidFill>
                <a:latin typeface="Arial" panose="020B0604020202020204" pitchFamily="34" charset="0"/>
                <a:ea typeface="微软雅黑" panose="020B0503020204020204" pitchFamily="34" charset="-122"/>
                <a:sym typeface="Inter"/>
              </a:rPr>
              <a:t>实验</a:t>
            </a:r>
            <a:r>
              <a:rPr lang="zh-CN" altLang="en-US" b="1" dirty="0">
                <a:solidFill>
                  <a:schemeClr val="tx1"/>
                </a:solidFill>
                <a:latin typeface="Arial" panose="020B0604020202020204" pitchFamily="34" charset="0"/>
                <a:ea typeface="微软雅黑" panose="020B0503020204020204" pitchFamily="34" charset="-122"/>
              </a:rPr>
              <a:t>环境搭建与数据预处理</a:t>
            </a:r>
            <a:endParaRPr b="1" dirty="0">
              <a:solidFill>
                <a:schemeClr val="tx1"/>
              </a:solidFill>
              <a:latin typeface="Arial" panose="020B0604020202020204" pitchFamily="34" charset="0"/>
              <a:ea typeface="微软雅黑" panose="020B0503020204020204" pitchFamily="34" charset="-122"/>
            </a:endParaRPr>
          </a:p>
        </p:txBody>
      </p:sp>
      <p:sp>
        <p:nvSpPr>
          <p:cNvPr id="166" name="Google Shape;166;p15"/>
          <p:cNvSpPr txBox="1"/>
          <p:nvPr/>
        </p:nvSpPr>
        <p:spPr>
          <a:xfrm>
            <a:off x="9580250" y="1487188"/>
            <a:ext cx="243553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2025年11月25日 - 2025年12月10日</a:t>
            </a:r>
            <a:endParaRPr sz="1050" b="1" dirty="0">
              <a:solidFill>
                <a:schemeClr val="tx1"/>
              </a:solidFill>
              <a:latin typeface="Arial" panose="020B0604020202020204" pitchFamily="34" charset="0"/>
              <a:ea typeface="微软雅黑" panose="020B0503020204020204" pitchFamily="34" charset="-122"/>
            </a:endParaRPr>
          </a:p>
        </p:txBody>
      </p:sp>
      <p:sp>
        <p:nvSpPr>
          <p:cNvPr id="167" name="Google Shape;167;p15"/>
          <p:cNvSpPr txBox="1"/>
          <p:nvPr/>
        </p:nvSpPr>
        <p:spPr>
          <a:xfrm>
            <a:off x="644126" y="2758725"/>
            <a:ext cx="2881449" cy="276999"/>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3.</a:t>
            </a:r>
            <a:r>
              <a:rPr lang="zh-CN" altLang="en-US" b="1" dirty="0">
                <a:solidFill>
                  <a:schemeClr val="tx1"/>
                </a:solidFill>
                <a:latin typeface="Arial" panose="020B0604020202020204" pitchFamily="34" charset="0"/>
                <a:ea typeface="微软雅黑" panose="020B0503020204020204" pitchFamily="34" charset="-122"/>
              </a:rPr>
              <a:t>推荐算法模型设计与训练</a:t>
            </a:r>
            <a:endParaRPr b="1" dirty="0">
              <a:solidFill>
                <a:schemeClr val="tx1"/>
              </a:solidFill>
              <a:latin typeface="Arial" panose="020B0604020202020204" pitchFamily="34" charset="0"/>
              <a:ea typeface="微软雅黑" panose="020B0503020204020204" pitchFamily="34" charset="-122"/>
            </a:endParaRPr>
          </a:p>
        </p:txBody>
      </p:sp>
      <p:sp>
        <p:nvSpPr>
          <p:cNvPr id="168" name="Google Shape;168;p15"/>
          <p:cNvSpPr txBox="1"/>
          <p:nvPr/>
        </p:nvSpPr>
        <p:spPr>
          <a:xfrm>
            <a:off x="3525575" y="2810974"/>
            <a:ext cx="23622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2025年12月11日 - 2026年01月05日</a:t>
            </a:r>
            <a:endParaRPr sz="1050" b="1" dirty="0">
              <a:solidFill>
                <a:schemeClr val="tx1"/>
              </a:solidFill>
              <a:latin typeface="Arial" panose="020B0604020202020204" pitchFamily="34" charset="0"/>
              <a:ea typeface="微软雅黑" panose="020B0503020204020204" pitchFamily="34" charset="-122"/>
            </a:endParaRPr>
          </a:p>
        </p:txBody>
      </p:sp>
      <p:sp>
        <p:nvSpPr>
          <p:cNvPr id="169" name="Google Shape;169;p15"/>
          <p:cNvSpPr txBox="1"/>
          <p:nvPr/>
        </p:nvSpPr>
        <p:spPr>
          <a:xfrm>
            <a:off x="6515100" y="2735814"/>
            <a:ext cx="3227990" cy="276999"/>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4. </a:t>
            </a:r>
            <a:r>
              <a:rPr lang="zh-CN" altLang="en-US" b="1" dirty="0">
                <a:solidFill>
                  <a:schemeClr val="tx1"/>
                </a:solidFill>
                <a:latin typeface="Arial" panose="020B0604020202020204" pitchFamily="34" charset="0"/>
                <a:ea typeface="微软雅黑" panose="020B0503020204020204" pitchFamily="34" charset="-122"/>
              </a:rPr>
              <a:t>业务系统后端开发</a:t>
            </a:r>
            <a:endParaRPr b="1" dirty="0">
              <a:solidFill>
                <a:schemeClr val="tx1"/>
              </a:solidFill>
              <a:latin typeface="Arial" panose="020B0604020202020204" pitchFamily="34" charset="0"/>
              <a:ea typeface="微软雅黑" panose="020B0503020204020204" pitchFamily="34" charset="-122"/>
            </a:endParaRPr>
          </a:p>
        </p:txBody>
      </p:sp>
      <p:sp>
        <p:nvSpPr>
          <p:cNvPr id="170" name="Google Shape;170;p15"/>
          <p:cNvSpPr txBox="1"/>
          <p:nvPr/>
        </p:nvSpPr>
        <p:spPr>
          <a:xfrm>
            <a:off x="9453004" y="2795414"/>
            <a:ext cx="2292864"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2026年01月06日 - 2026年02月25日</a:t>
            </a:r>
            <a:endParaRPr sz="1050" b="1" dirty="0">
              <a:solidFill>
                <a:schemeClr val="tx1"/>
              </a:solidFill>
              <a:latin typeface="Arial" panose="020B0604020202020204" pitchFamily="34" charset="0"/>
              <a:ea typeface="微软雅黑" panose="020B0503020204020204" pitchFamily="34" charset="-122"/>
            </a:endParaRPr>
          </a:p>
        </p:txBody>
      </p:sp>
      <p:sp>
        <p:nvSpPr>
          <p:cNvPr id="171" name="Google Shape;171;p15"/>
          <p:cNvSpPr txBox="1"/>
          <p:nvPr/>
        </p:nvSpPr>
        <p:spPr>
          <a:xfrm>
            <a:off x="644126" y="4050348"/>
            <a:ext cx="2727381" cy="276999"/>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5.</a:t>
            </a:r>
            <a:r>
              <a:rPr lang="zh-CN" altLang="en-US" b="1" dirty="0">
                <a:solidFill>
                  <a:schemeClr val="tx1"/>
                </a:solidFill>
                <a:latin typeface="Arial" panose="020B0604020202020204" pitchFamily="34" charset="0"/>
                <a:ea typeface="微软雅黑" panose="020B0503020204020204" pitchFamily="34" charset="-122"/>
              </a:rPr>
              <a:t>系统集成与异构链路打通</a:t>
            </a:r>
            <a:endParaRPr b="1" dirty="0">
              <a:solidFill>
                <a:schemeClr val="tx1"/>
              </a:solidFill>
              <a:latin typeface="Arial" panose="020B0604020202020204" pitchFamily="34" charset="0"/>
              <a:ea typeface="微软雅黑" panose="020B0503020204020204" pitchFamily="34" charset="-122"/>
            </a:endParaRPr>
          </a:p>
        </p:txBody>
      </p:sp>
      <p:sp>
        <p:nvSpPr>
          <p:cNvPr id="172" name="Google Shape;172;p15"/>
          <p:cNvSpPr txBox="1"/>
          <p:nvPr/>
        </p:nvSpPr>
        <p:spPr>
          <a:xfrm>
            <a:off x="3619746" y="4108119"/>
            <a:ext cx="23336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2026年02月26日 - 2026年03月20日</a:t>
            </a:r>
            <a:endParaRPr sz="1050" b="1" dirty="0">
              <a:solidFill>
                <a:schemeClr val="tx1"/>
              </a:solidFill>
              <a:latin typeface="Arial" panose="020B0604020202020204" pitchFamily="34" charset="0"/>
              <a:ea typeface="微软雅黑" panose="020B0503020204020204" pitchFamily="34" charset="-122"/>
            </a:endParaRPr>
          </a:p>
        </p:txBody>
      </p:sp>
      <p:sp>
        <p:nvSpPr>
          <p:cNvPr id="173" name="Google Shape;173;p15"/>
          <p:cNvSpPr txBox="1"/>
          <p:nvPr/>
        </p:nvSpPr>
        <p:spPr>
          <a:xfrm>
            <a:off x="6515100" y="4081125"/>
            <a:ext cx="3227990"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6.</a:t>
            </a:r>
            <a:r>
              <a:rPr lang="zh-CN" altLang="en-US" b="1" dirty="0">
                <a:solidFill>
                  <a:schemeClr val="tx1"/>
                </a:solidFill>
                <a:latin typeface="Arial" panose="020B0604020202020204" pitchFamily="34" charset="0"/>
                <a:ea typeface="微软雅黑" panose="020B0503020204020204" pitchFamily="34" charset="-122"/>
              </a:rPr>
              <a:t>系统联调、性能测试与优化</a:t>
            </a:r>
            <a:endParaRPr b="1" dirty="0">
              <a:solidFill>
                <a:schemeClr val="tx1"/>
              </a:solidFill>
              <a:latin typeface="Arial" panose="020B0604020202020204" pitchFamily="34" charset="0"/>
              <a:ea typeface="微软雅黑" panose="020B0503020204020204" pitchFamily="34" charset="-122"/>
            </a:endParaRPr>
          </a:p>
        </p:txBody>
      </p:sp>
      <p:sp>
        <p:nvSpPr>
          <p:cNvPr id="174" name="Google Shape;174;p15"/>
          <p:cNvSpPr txBox="1"/>
          <p:nvPr/>
        </p:nvSpPr>
        <p:spPr>
          <a:xfrm>
            <a:off x="9621037" y="4110477"/>
            <a:ext cx="2314278"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2026年04月06日 - 2026年04月30日</a:t>
            </a:r>
            <a:endParaRPr sz="1050" b="1" dirty="0">
              <a:solidFill>
                <a:schemeClr val="tx1"/>
              </a:solidFill>
              <a:latin typeface="Arial" panose="020B0604020202020204" pitchFamily="34" charset="0"/>
              <a:ea typeface="微软雅黑" panose="020B0503020204020204" pitchFamily="34" charset="-122"/>
            </a:endParaRPr>
          </a:p>
        </p:txBody>
      </p:sp>
      <p:sp>
        <p:nvSpPr>
          <p:cNvPr id="175" name="Google Shape;175;p15"/>
          <p:cNvSpPr txBox="1"/>
          <p:nvPr/>
        </p:nvSpPr>
        <p:spPr>
          <a:xfrm>
            <a:off x="644127" y="5388964"/>
            <a:ext cx="2762750" cy="276999"/>
          </a:xfrm>
          <a:prstGeom prst="rect">
            <a:avLst/>
          </a:prstGeom>
          <a:noFill/>
          <a:ln>
            <a:noFill/>
          </a:ln>
        </p:spPr>
        <p:txBody>
          <a:bodyPr spcFirstLastPara="1" wrap="square" lIns="0" tIns="0" rIns="0" bIns="0" anchor="ctr" anchorCtr="0">
            <a:spAutoFit/>
          </a:bodyPr>
          <a:lstStyle/>
          <a:p>
            <a:pPr lvl="0"/>
            <a:r>
              <a:rPr lang="en-US" altLang="zh-CN" b="1" dirty="0">
                <a:solidFill>
                  <a:schemeClr val="tx1"/>
                </a:solidFill>
                <a:latin typeface="Arial" panose="020B0604020202020204" pitchFamily="34" charset="0"/>
                <a:ea typeface="微软雅黑" panose="020B0503020204020204" pitchFamily="34" charset="-122"/>
              </a:rPr>
              <a:t>7.</a:t>
            </a:r>
            <a:r>
              <a:rPr lang="zh-CN" altLang="en-US" b="1" dirty="0">
                <a:solidFill>
                  <a:schemeClr val="tx1"/>
                </a:solidFill>
                <a:latin typeface="Arial" panose="020B0604020202020204" pitchFamily="34" charset="0"/>
                <a:ea typeface="微软雅黑" panose="020B0503020204020204" pitchFamily="34" charset="-122"/>
              </a:rPr>
              <a:t>论文初稿撰写与查重修改</a:t>
            </a:r>
            <a:endParaRPr b="1" dirty="0">
              <a:solidFill>
                <a:schemeClr val="tx1"/>
              </a:solidFill>
              <a:latin typeface="Arial" panose="020B0604020202020204" pitchFamily="34" charset="0"/>
              <a:ea typeface="微软雅黑" panose="020B0503020204020204" pitchFamily="34" charset="-122"/>
            </a:endParaRPr>
          </a:p>
        </p:txBody>
      </p:sp>
      <p:sp>
        <p:nvSpPr>
          <p:cNvPr id="176" name="Google Shape;176;p15"/>
          <p:cNvSpPr txBox="1"/>
          <p:nvPr/>
        </p:nvSpPr>
        <p:spPr>
          <a:xfrm>
            <a:off x="3525576" y="5455136"/>
            <a:ext cx="229723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2026年05月01日 - 2026年05月15日</a:t>
            </a:r>
            <a:endParaRPr sz="1050" b="1" dirty="0">
              <a:solidFill>
                <a:schemeClr val="tx1"/>
              </a:solidFill>
              <a:latin typeface="Arial" panose="020B0604020202020204" pitchFamily="34" charset="0"/>
              <a:ea typeface="微软雅黑" panose="020B0503020204020204" pitchFamily="34" charset="-122"/>
            </a:endParaRPr>
          </a:p>
        </p:txBody>
      </p:sp>
      <p:sp>
        <p:nvSpPr>
          <p:cNvPr id="177" name="Google Shape;177;p15"/>
          <p:cNvSpPr txBox="1"/>
          <p:nvPr/>
        </p:nvSpPr>
        <p:spPr>
          <a:xfrm>
            <a:off x="6515099" y="5394671"/>
            <a:ext cx="2937905" cy="276999"/>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8.</a:t>
            </a:r>
            <a:r>
              <a:rPr lang="zh-CN" altLang="en-US" b="1" dirty="0">
                <a:solidFill>
                  <a:schemeClr val="tx1"/>
                </a:solidFill>
                <a:latin typeface="Arial" panose="020B0604020202020204" pitchFamily="34" charset="0"/>
                <a:ea typeface="微软雅黑" panose="020B0503020204020204" pitchFamily="34" charset="-122"/>
              </a:rPr>
              <a:t>论文定稿、资料归档与答辩</a:t>
            </a:r>
            <a:endParaRPr b="1" dirty="0">
              <a:solidFill>
                <a:schemeClr val="tx1"/>
              </a:solidFill>
              <a:latin typeface="Arial" panose="020B0604020202020204" pitchFamily="34" charset="0"/>
              <a:ea typeface="微软雅黑" panose="020B0503020204020204" pitchFamily="34" charset="-122"/>
            </a:endParaRPr>
          </a:p>
        </p:txBody>
      </p:sp>
      <p:sp>
        <p:nvSpPr>
          <p:cNvPr id="178" name="Google Shape;178;p15"/>
          <p:cNvSpPr txBox="1"/>
          <p:nvPr/>
        </p:nvSpPr>
        <p:spPr>
          <a:xfrm>
            <a:off x="9571703" y="5455136"/>
            <a:ext cx="2363612"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2026年05月16日 - 2026年06月25日</a:t>
            </a:r>
            <a:endParaRPr sz="1050" b="1" dirty="0">
              <a:solidFill>
                <a:schemeClr val="tx1"/>
              </a:solidFill>
              <a:latin typeface="Arial" panose="020B0604020202020204" pitchFamily="34" charset="0"/>
              <a:ea typeface="微软雅黑" panose="020B0503020204020204" pitchFamily="34" charset="-122"/>
            </a:endParaRPr>
          </a:p>
        </p:txBody>
      </p:sp>
      <p:sp>
        <p:nvSpPr>
          <p:cNvPr id="179" name="Google Shape;179;p15"/>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spc="1000" dirty="0" err="1">
                <a:latin typeface="微软雅黑" panose="020B0503020204020204" pitchFamily="34" charset="-122"/>
                <a:ea typeface="微软雅黑" panose="020B0503020204020204" pitchFamily="34" charset="-122"/>
                <a:cs typeface="Inter ExtraBold"/>
                <a:sym typeface="Inter ExtraBold"/>
              </a:rPr>
              <a:t>工作进度计划</a:t>
            </a:r>
            <a:endParaRPr sz="2850" b="1" spc="1000" dirty="0">
              <a:latin typeface="微软雅黑" panose="020B0503020204020204" pitchFamily="34" charset="-122"/>
              <a:ea typeface="微软雅黑" panose="020B0503020204020204" pitchFamily="34" charset="-122"/>
            </a:endParaRPr>
          </a:p>
        </p:txBody>
      </p:sp>
      <p:sp>
        <p:nvSpPr>
          <p:cNvPr id="180" name="Google Shape;180;p15"/>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文本框 1">
            <a:extLst>
              <a:ext uri="{FF2B5EF4-FFF2-40B4-BE49-F238E27FC236}">
                <a16:creationId xmlns:a16="http://schemas.microsoft.com/office/drawing/2014/main" id="{13EAF60A-E44F-DEBD-A52F-31DC90811AED}"/>
              </a:ext>
            </a:extLst>
          </p:cNvPr>
          <p:cNvSpPr txBox="1"/>
          <p:nvPr/>
        </p:nvSpPr>
        <p:spPr>
          <a:xfrm>
            <a:off x="538700" y="1670196"/>
            <a:ext cx="4796506"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查阅国内外关于大数据推荐系统的核心文献；确定基于 </a:t>
            </a:r>
            <a:r>
              <a:rPr lang="en-US" altLang="zh-CN" sz="1200" dirty="0">
                <a:solidFill>
                  <a:schemeClr val="tx1"/>
                </a:solidFill>
                <a:latin typeface="Arial" panose="020B0604020202020204" pitchFamily="34" charset="0"/>
                <a:ea typeface="微软雅黑" panose="020B0503020204020204" pitchFamily="34" charset="-122"/>
              </a:rPr>
              <a:t>Spark </a:t>
            </a:r>
            <a:r>
              <a:rPr lang="zh-CN" altLang="en-US" sz="1200" dirty="0">
                <a:solidFill>
                  <a:schemeClr val="tx1"/>
                </a:solidFill>
                <a:latin typeface="Arial" panose="020B0604020202020204" pitchFamily="34" charset="0"/>
                <a:ea typeface="微软雅黑" panose="020B0503020204020204" pitchFamily="34" charset="-122"/>
              </a:rPr>
              <a:t>与</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 </a:t>
            </a:r>
            <a:r>
              <a:rPr lang="en-US" altLang="zh-CN" sz="1200" dirty="0" err="1">
                <a:solidFill>
                  <a:schemeClr val="tx1"/>
                </a:solidFill>
                <a:latin typeface="Arial" panose="020B0604020202020204" pitchFamily="34" charset="0"/>
                <a:ea typeface="微软雅黑" panose="020B0503020204020204" pitchFamily="34" charset="-122"/>
              </a:rPr>
              <a:t>DeepFM</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的技术路线；完成数据集（</a:t>
            </a:r>
            <a:r>
              <a:rPr lang="en-US" altLang="zh-CN" sz="1200" dirty="0">
                <a:solidFill>
                  <a:schemeClr val="tx1"/>
                </a:solidFill>
                <a:latin typeface="Arial" panose="020B0604020202020204" pitchFamily="34" charset="0"/>
                <a:ea typeface="微软雅黑" panose="020B0503020204020204" pitchFamily="34" charset="-122"/>
              </a:rPr>
              <a:t>KKBOX</a:t>
            </a:r>
            <a:r>
              <a:rPr lang="zh-CN" altLang="en-US" sz="1200" dirty="0">
                <a:solidFill>
                  <a:schemeClr val="tx1"/>
                </a:solidFill>
                <a:latin typeface="Arial" panose="020B0604020202020204" pitchFamily="34" charset="0"/>
                <a:ea typeface="微软雅黑" panose="020B0503020204020204" pitchFamily="34" charset="-122"/>
              </a:rPr>
              <a:t>）的获取与初步探查；</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撰写并提交开题报告，参加开题答辩。</a:t>
            </a:r>
          </a:p>
        </p:txBody>
      </p:sp>
      <p:sp>
        <p:nvSpPr>
          <p:cNvPr id="3" name="文本框 2">
            <a:extLst>
              <a:ext uri="{FF2B5EF4-FFF2-40B4-BE49-F238E27FC236}">
                <a16:creationId xmlns:a16="http://schemas.microsoft.com/office/drawing/2014/main" id="{EFD02404-4CB5-C4F9-8467-AA638A687400}"/>
              </a:ext>
            </a:extLst>
          </p:cNvPr>
          <p:cNvSpPr txBox="1"/>
          <p:nvPr/>
        </p:nvSpPr>
        <p:spPr>
          <a:xfrm>
            <a:off x="6407825" y="1696812"/>
            <a:ext cx="4753224"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配置所需语言及 </a:t>
            </a:r>
            <a:r>
              <a:rPr lang="en-US" altLang="zh-CN" sz="1200" dirty="0">
                <a:solidFill>
                  <a:schemeClr val="tx1"/>
                </a:solidFill>
                <a:latin typeface="Arial" panose="020B0604020202020204" pitchFamily="34" charset="0"/>
                <a:ea typeface="微软雅黑" panose="020B0503020204020204" pitchFamily="34" charset="-122"/>
              </a:rPr>
              <a:t>Spark </a:t>
            </a:r>
            <a:r>
              <a:rPr lang="zh-CN" altLang="en-US" sz="1200" dirty="0">
                <a:solidFill>
                  <a:schemeClr val="tx1"/>
                </a:solidFill>
                <a:latin typeface="Arial" panose="020B0604020202020204" pitchFamily="34" charset="0"/>
                <a:ea typeface="微软雅黑" panose="020B0503020204020204" pitchFamily="34" charset="-122"/>
              </a:rPr>
              <a:t>分布式计算环境利用 </a:t>
            </a:r>
            <a:r>
              <a:rPr lang="en-US" altLang="zh-CN" sz="1200" dirty="0" err="1">
                <a:solidFill>
                  <a:schemeClr val="tx1"/>
                </a:solidFill>
                <a:latin typeface="Arial" panose="020B0604020202020204" pitchFamily="34" charset="0"/>
                <a:ea typeface="微软雅黑" panose="020B0503020204020204" pitchFamily="34" charset="-122"/>
              </a:rPr>
              <a:t>PySpark</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对原始交互数</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据进行 </a:t>
            </a:r>
            <a:r>
              <a:rPr lang="en-US" altLang="zh-CN" sz="1200" dirty="0">
                <a:solidFill>
                  <a:schemeClr val="tx1"/>
                </a:solidFill>
                <a:latin typeface="Arial" panose="020B0604020202020204" pitchFamily="34" charset="0"/>
                <a:ea typeface="微软雅黑" panose="020B0503020204020204" pitchFamily="34" charset="-122"/>
              </a:rPr>
              <a:t>ETL </a:t>
            </a:r>
            <a:r>
              <a:rPr lang="zh-CN" altLang="en-US" sz="1200" dirty="0">
                <a:solidFill>
                  <a:schemeClr val="tx1"/>
                </a:solidFill>
                <a:latin typeface="Arial" panose="020B0604020202020204" pitchFamily="34" charset="0"/>
                <a:ea typeface="微软雅黑" panose="020B0503020204020204" pitchFamily="34" charset="-122"/>
              </a:rPr>
              <a:t>清洗；针对 </a:t>
            </a:r>
            <a:r>
              <a:rPr lang="en-US" altLang="zh-CN" sz="1200" dirty="0">
                <a:solidFill>
                  <a:schemeClr val="tx1"/>
                </a:solidFill>
                <a:latin typeface="Arial" panose="020B0604020202020204" pitchFamily="34" charset="0"/>
                <a:ea typeface="微软雅黑" panose="020B0503020204020204" pitchFamily="34" charset="-122"/>
              </a:rPr>
              <a:t>16GB </a:t>
            </a:r>
            <a:r>
              <a:rPr lang="zh-CN" altLang="en-US" sz="1200" dirty="0">
                <a:solidFill>
                  <a:schemeClr val="tx1"/>
                </a:solidFill>
                <a:latin typeface="Arial" panose="020B0604020202020204" pitchFamily="34" charset="0"/>
                <a:ea typeface="微软雅黑" panose="020B0503020204020204" pitchFamily="34" charset="-122"/>
              </a:rPr>
              <a:t>内存环境进行数据下采样与类型转换</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优化，完成特征工程的基础构建。</a:t>
            </a:r>
          </a:p>
        </p:txBody>
      </p:sp>
      <p:sp>
        <p:nvSpPr>
          <p:cNvPr id="4" name="文本框 3">
            <a:extLst>
              <a:ext uri="{FF2B5EF4-FFF2-40B4-BE49-F238E27FC236}">
                <a16:creationId xmlns:a16="http://schemas.microsoft.com/office/drawing/2014/main" id="{051442B8-5851-9A4F-B8C3-3DD48B346319}"/>
              </a:ext>
            </a:extLst>
          </p:cNvPr>
          <p:cNvSpPr txBox="1"/>
          <p:nvPr/>
        </p:nvSpPr>
        <p:spPr>
          <a:xfrm>
            <a:off x="529007" y="2986349"/>
            <a:ext cx="4588115"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构建基于协同过滤的召回层模型；实现基于 </a:t>
            </a:r>
            <a:r>
              <a:rPr lang="en-US" altLang="zh-CN" sz="1200" dirty="0" err="1">
                <a:solidFill>
                  <a:schemeClr val="tx1"/>
                </a:solidFill>
                <a:latin typeface="Arial" panose="020B0604020202020204" pitchFamily="34" charset="0"/>
                <a:ea typeface="微软雅黑" panose="020B0503020204020204" pitchFamily="34" charset="-122"/>
              </a:rPr>
              <a:t>DeepFM</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的深度学习</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精排模型；进行离线模型训练，并通过 </a:t>
            </a:r>
            <a:r>
              <a:rPr lang="en-US" altLang="zh-CN" sz="1200" dirty="0">
                <a:solidFill>
                  <a:schemeClr val="tx1"/>
                </a:solidFill>
                <a:latin typeface="Arial" panose="020B0604020202020204" pitchFamily="34" charset="0"/>
                <a:ea typeface="微软雅黑" panose="020B0503020204020204" pitchFamily="34" charset="-122"/>
              </a:rPr>
              <a:t>AUC</a:t>
            </a:r>
            <a:r>
              <a:rPr lang="zh-CN" altLang="en-US" sz="1200" dirty="0">
                <a:solidFill>
                  <a:schemeClr val="tx1"/>
                </a:solidFill>
                <a:latin typeface="Arial" panose="020B0604020202020204" pitchFamily="34" charset="0"/>
                <a:ea typeface="微软雅黑" panose="020B0503020204020204" pitchFamily="34" charset="-122"/>
              </a:rPr>
              <a:t>、</a:t>
            </a:r>
            <a:r>
              <a:rPr lang="en-US" altLang="zh-CN" sz="1200" dirty="0" err="1">
                <a:solidFill>
                  <a:schemeClr val="tx1"/>
                </a:solidFill>
                <a:latin typeface="Arial" panose="020B0604020202020204" pitchFamily="34" charset="0"/>
                <a:ea typeface="微软雅黑" panose="020B0503020204020204" pitchFamily="34" charset="-122"/>
              </a:rPr>
              <a:t>LogLoss</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等指标对</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模型进行初步调优。</a:t>
            </a:r>
          </a:p>
        </p:txBody>
      </p:sp>
      <p:sp>
        <p:nvSpPr>
          <p:cNvPr id="5" name="文本框 4">
            <a:extLst>
              <a:ext uri="{FF2B5EF4-FFF2-40B4-BE49-F238E27FC236}">
                <a16:creationId xmlns:a16="http://schemas.microsoft.com/office/drawing/2014/main" id="{27AB97E7-B038-4C0E-AF27-732240CA74B9}"/>
              </a:ext>
            </a:extLst>
          </p:cNvPr>
          <p:cNvSpPr txBox="1"/>
          <p:nvPr/>
        </p:nvSpPr>
        <p:spPr>
          <a:xfrm>
            <a:off x="6393887" y="2990539"/>
            <a:ext cx="4908716"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基于 </a:t>
            </a:r>
            <a:r>
              <a:rPr lang="en-US" altLang="zh-CN" sz="1200" dirty="0">
                <a:solidFill>
                  <a:schemeClr val="tx1"/>
                </a:solidFill>
                <a:latin typeface="Arial" panose="020B0604020202020204" pitchFamily="34" charset="0"/>
                <a:ea typeface="微软雅黑" panose="020B0503020204020204" pitchFamily="34" charset="-122"/>
              </a:rPr>
              <a:t>MVC </a:t>
            </a:r>
            <a:r>
              <a:rPr lang="zh-CN" altLang="en-US" sz="1200" dirty="0">
                <a:solidFill>
                  <a:schemeClr val="tx1"/>
                </a:solidFill>
                <a:latin typeface="Arial" panose="020B0604020202020204" pitchFamily="34" charset="0"/>
                <a:ea typeface="微软雅黑" panose="020B0503020204020204" pitchFamily="34" charset="-122"/>
              </a:rPr>
              <a:t>架构开发音乐平台后端业务逻辑，包括用户权限管理、</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歌曲搜索、播放历史采集等功能；设计并实现 </a:t>
            </a:r>
            <a:r>
              <a:rPr lang="en-US" altLang="zh-CN" sz="1200" dirty="0">
                <a:solidFill>
                  <a:schemeClr val="tx1"/>
                </a:solidFill>
                <a:latin typeface="Arial" panose="020B0604020202020204" pitchFamily="34" charset="0"/>
                <a:ea typeface="微软雅黑" panose="020B0503020204020204" pitchFamily="34" charset="-122"/>
              </a:rPr>
              <a:t>MySQL</a:t>
            </a:r>
            <a:r>
              <a:rPr lang="zh-CN" altLang="en-US" sz="1200" dirty="0">
                <a:solidFill>
                  <a:schemeClr val="tx1"/>
                </a:solidFill>
                <a:latin typeface="Arial" panose="020B0604020202020204" pitchFamily="34" charset="0"/>
                <a:ea typeface="微软雅黑" panose="020B0503020204020204" pitchFamily="34" charset="-122"/>
              </a:rPr>
              <a:t>数据库表结构，</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确保业务数据与推荐数据的存储规范。</a:t>
            </a:r>
          </a:p>
        </p:txBody>
      </p:sp>
      <p:sp>
        <p:nvSpPr>
          <p:cNvPr id="6" name="文本框 5">
            <a:extLst>
              <a:ext uri="{FF2B5EF4-FFF2-40B4-BE49-F238E27FC236}">
                <a16:creationId xmlns:a16="http://schemas.microsoft.com/office/drawing/2014/main" id="{1E51985C-10F5-4520-7E90-2F963E8A55EC}"/>
              </a:ext>
            </a:extLst>
          </p:cNvPr>
          <p:cNvSpPr txBox="1"/>
          <p:nvPr/>
        </p:nvSpPr>
        <p:spPr>
          <a:xfrm>
            <a:off x="564273" y="4321267"/>
            <a:ext cx="4953600" cy="788999"/>
          </a:xfrm>
          <a:prstGeom prst="rect">
            <a:avLst/>
          </a:prstGeom>
          <a:noFill/>
        </p:spPr>
        <p:txBody>
          <a:bodyPr wrap="squar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开发 </a:t>
            </a:r>
            <a:r>
              <a:rPr lang="en-US" altLang="zh-CN" sz="1200" dirty="0">
                <a:solidFill>
                  <a:schemeClr val="tx1"/>
                </a:solidFill>
                <a:latin typeface="Arial" panose="020B0604020202020204" pitchFamily="34" charset="0"/>
                <a:ea typeface="微软雅黑" panose="020B0503020204020204" pitchFamily="34" charset="-122"/>
              </a:rPr>
              <a:t>Python </a:t>
            </a:r>
            <a:r>
              <a:rPr lang="zh-CN" altLang="en-US" sz="1200" dirty="0">
                <a:solidFill>
                  <a:schemeClr val="tx1"/>
                </a:solidFill>
                <a:latin typeface="Arial" panose="020B0604020202020204" pitchFamily="34" charset="0"/>
                <a:ea typeface="微软雅黑" panose="020B0503020204020204" pitchFamily="34" charset="-122"/>
              </a:rPr>
              <a:t>离线计算结果向 </a:t>
            </a:r>
            <a:r>
              <a:rPr lang="en-US" altLang="zh-CN" sz="1200" dirty="0">
                <a:solidFill>
                  <a:schemeClr val="tx1"/>
                </a:solidFill>
                <a:latin typeface="Arial" panose="020B0604020202020204" pitchFamily="34" charset="0"/>
                <a:ea typeface="微软雅黑" panose="020B0503020204020204" pitchFamily="34" charset="-122"/>
              </a:rPr>
              <a:t>MySQL </a:t>
            </a:r>
            <a:r>
              <a:rPr lang="zh-CN" altLang="en-US" sz="1200" dirty="0">
                <a:solidFill>
                  <a:schemeClr val="tx1"/>
                </a:solidFill>
                <a:latin typeface="Arial" panose="020B0604020202020204" pitchFamily="34" charset="0"/>
                <a:ea typeface="微软雅黑" panose="020B0503020204020204" pitchFamily="34" charset="-122"/>
              </a:rPr>
              <a:t>数据库自动回传的 </a:t>
            </a:r>
            <a:r>
              <a:rPr lang="en-US" altLang="zh-CN" sz="1200" dirty="0">
                <a:solidFill>
                  <a:schemeClr val="tx1"/>
                </a:solidFill>
                <a:latin typeface="Arial" panose="020B0604020202020204" pitchFamily="34" charset="0"/>
                <a:ea typeface="微软雅黑" panose="020B0503020204020204" pitchFamily="34" charset="-122"/>
              </a:rPr>
              <a:t>JDBC </a:t>
            </a:r>
            <a:r>
              <a:rPr lang="zh-CN" altLang="en-US" sz="1200" dirty="0">
                <a:solidFill>
                  <a:schemeClr val="tx1"/>
                </a:solidFill>
                <a:latin typeface="Arial" panose="020B0604020202020204" pitchFamily="34" charset="0"/>
                <a:ea typeface="微软雅黑" panose="020B0503020204020204" pitchFamily="34" charset="-122"/>
              </a:rPr>
              <a:t>脚本；</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实现 </a:t>
            </a:r>
            <a:r>
              <a:rPr lang="en-US" altLang="zh-CN" sz="1200" dirty="0">
                <a:solidFill>
                  <a:schemeClr val="tx1"/>
                </a:solidFill>
                <a:latin typeface="Arial" panose="020B0604020202020204" pitchFamily="34" charset="0"/>
                <a:ea typeface="微软雅黑" panose="020B0503020204020204" pitchFamily="34" charset="-122"/>
              </a:rPr>
              <a:t>Java </a:t>
            </a:r>
            <a:r>
              <a:rPr lang="zh-CN" altLang="en-US" sz="1200" dirty="0">
                <a:solidFill>
                  <a:schemeClr val="tx1"/>
                </a:solidFill>
                <a:latin typeface="Arial" panose="020B0604020202020204" pitchFamily="34" charset="0"/>
                <a:ea typeface="微软雅黑" panose="020B0503020204020204" pitchFamily="34" charset="-122"/>
              </a:rPr>
              <a:t>前端对个性化推荐结果的动态实时加载；完成前端交互界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面（</a:t>
            </a:r>
            <a:r>
              <a:rPr lang="en-US" altLang="zh-CN" sz="1200" dirty="0">
                <a:solidFill>
                  <a:schemeClr val="tx1"/>
                </a:solidFill>
                <a:latin typeface="Arial" panose="020B0604020202020204" pitchFamily="34" charset="0"/>
                <a:ea typeface="微软雅黑" panose="020B0503020204020204" pitchFamily="34" charset="-122"/>
              </a:rPr>
              <a:t>JSP/CSS/JS</a:t>
            </a:r>
            <a:r>
              <a:rPr lang="zh-CN" altLang="en-US" sz="1200" dirty="0">
                <a:solidFill>
                  <a:schemeClr val="tx1"/>
                </a:solidFill>
                <a:latin typeface="Arial" panose="020B0604020202020204" pitchFamily="34" charset="0"/>
                <a:ea typeface="微软雅黑" panose="020B0503020204020204" pitchFamily="34" charset="-122"/>
              </a:rPr>
              <a:t>）的最终调试。</a:t>
            </a:r>
            <a:endParaRPr lang="zh-CN" altLang="en-US" dirty="0">
              <a:solidFill>
                <a:schemeClr val="tx1"/>
              </a:solidFill>
              <a:latin typeface="Arial" panose="020B0604020202020204" pitchFamily="34" charset="0"/>
              <a:ea typeface="微软雅黑" panose="020B0503020204020204" pitchFamily="34" charset="-122"/>
            </a:endParaRPr>
          </a:p>
        </p:txBody>
      </p:sp>
      <p:sp>
        <p:nvSpPr>
          <p:cNvPr id="7" name="文本框 6">
            <a:extLst>
              <a:ext uri="{FF2B5EF4-FFF2-40B4-BE49-F238E27FC236}">
                <a16:creationId xmlns:a16="http://schemas.microsoft.com/office/drawing/2014/main" id="{EBA51676-776E-4D38-3816-9F3EB5BA722D}"/>
              </a:ext>
            </a:extLst>
          </p:cNvPr>
          <p:cNvSpPr txBox="1"/>
          <p:nvPr/>
        </p:nvSpPr>
        <p:spPr>
          <a:xfrm>
            <a:off x="6425647" y="4323565"/>
            <a:ext cx="4818948"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进行系统全链路联调，测试在模拟用户交互场景下的推荐准确性；</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针对 </a:t>
            </a:r>
            <a:r>
              <a:rPr lang="en-US" altLang="zh-CN" sz="1200" dirty="0">
                <a:solidFill>
                  <a:schemeClr val="tx1"/>
                </a:solidFill>
                <a:latin typeface="Arial" panose="020B0604020202020204" pitchFamily="34" charset="0"/>
                <a:ea typeface="微软雅黑" panose="020B0503020204020204" pitchFamily="34" charset="-122"/>
              </a:rPr>
              <a:t>16GB </a:t>
            </a:r>
            <a:r>
              <a:rPr lang="zh-CN" altLang="en-US" sz="1200" dirty="0">
                <a:solidFill>
                  <a:schemeClr val="tx1"/>
                </a:solidFill>
                <a:latin typeface="Arial" panose="020B0604020202020204" pitchFamily="34" charset="0"/>
                <a:ea typeface="微软雅黑" panose="020B0503020204020204" pitchFamily="34" charset="-122"/>
              </a:rPr>
              <a:t>内存环境进行系统压力测试，优化跨语言系统同步的时延</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问题，确保运行稳定性。</a:t>
            </a:r>
          </a:p>
        </p:txBody>
      </p:sp>
      <p:sp>
        <p:nvSpPr>
          <p:cNvPr id="8" name="文本框 7">
            <a:extLst>
              <a:ext uri="{FF2B5EF4-FFF2-40B4-BE49-F238E27FC236}">
                <a16:creationId xmlns:a16="http://schemas.microsoft.com/office/drawing/2014/main" id="{E6D3FC31-EC32-AEE2-7D2E-6D6E30A6862D}"/>
              </a:ext>
            </a:extLst>
          </p:cNvPr>
          <p:cNvSpPr txBox="1"/>
          <p:nvPr/>
        </p:nvSpPr>
        <p:spPr>
          <a:xfrm>
            <a:off x="537452" y="5671335"/>
            <a:ext cx="4801314" cy="789127"/>
          </a:xfrm>
          <a:prstGeom prst="rect">
            <a:avLst/>
          </a:prstGeom>
          <a:noFill/>
        </p:spPr>
        <p:txBody>
          <a:bodyPr wrap="squar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整理实验数据与系统架构图，按照学校规范撰写毕业论文初稿；进行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初步查重，并根据导师反馈意见对论文逻辑、实验对比分析部分进行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深度修改。</a:t>
            </a:r>
          </a:p>
        </p:txBody>
      </p:sp>
      <p:sp>
        <p:nvSpPr>
          <p:cNvPr id="9" name="文本框 8">
            <a:extLst>
              <a:ext uri="{FF2B5EF4-FFF2-40B4-BE49-F238E27FC236}">
                <a16:creationId xmlns:a16="http://schemas.microsoft.com/office/drawing/2014/main" id="{39A8A638-1653-20E7-7C1B-BA8A44F0CAAF}"/>
              </a:ext>
            </a:extLst>
          </p:cNvPr>
          <p:cNvSpPr txBox="1"/>
          <p:nvPr/>
        </p:nvSpPr>
        <p:spPr>
          <a:xfrm>
            <a:off x="6407825" y="5653587"/>
            <a:ext cx="4724370"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完成论文最终定稿并提交审查；整理项目源码、</a:t>
            </a:r>
            <a:r>
              <a:rPr lang="en-US" altLang="zh-CN" sz="1200" dirty="0">
                <a:solidFill>
                  <a:schemeClr val="tx1"/>
                </a:solidFill>
                <a:latin typeface="Arial" panose="020B0604020202020204" pitchFamily="34" charset="0"/>
                <a:ea typeface="微软雅黑" panose="020B0503020204020204" pitchFamily="34" charset="-122"/>
              </a:rPr>
              <a:t>README </a:t>
            </a:r>
            <a:r>
              <a:rPr lang="zh-CN" altLang="en-US" sz="1200" dirty="0">
                <a:solidFill>
                  <a:schemeClr val="tx1"/>
                </a:solidFill>
                <a:latin typeface="Arial" panose="020B0604020202020204" pitchFamily="34" charset="0"/>
                <a:ea typeface="微软雅黑" panose="020B0503020204020204" pitchFamily="34" charset="-122"/>
              </a:rPr>
              <a:t>文档及数</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据库脚本进行归档；准备毕业答辩演示 </a:t>
            </a:r>
            <a:r>
              <a:rPr lang="en-US" altLang="zh-CN" sz="1200" dirty="0">
                <a:solidFill>
                  <a:schemeClr val="tx1"/>
                </a:solidFill>
                <a:latin typeface="Arial" panose="020B0604020202020204" pitchFamily="34" charset="0"/>
                <a:ea typeface="微软雅黑" panose="020B0503020204020204" pitchFamily="34" charset="-122"/>
              </a:rPr>
              <a:t>PPT</a:t>
            </a:r>
            <a:r>
              <a:rPr lang="zh-CN" altLang="en-US" sz="1200" dirty="0">
                <a:solidFill>
                  <a:schemeClr val="tx1"/>
                </a:solidFill>
                <a:latin typeface="Arial" panose="020B0604020202020204" pitchFamily="34" charset="0"/>
                <a:ea typeface="微软雅黑" panose="020B0503020204020204" pitchFamily="34" charset="-122"/>
              </a:rPr>
              <a:t>，参加并通过毕业论文</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答辩。</a:t>
            </a:r>
          </a:p>
        </p:txBody>
      </p:sp>
      <p:cxnSp>
        <p:nvCxnSpPr>
          <p:cNvPr id="10" name="直接连接符 9">
            <a:extLst>
              <a:ext uri="{FF2B5EF4-FFF2-40B4-BE49-F238E27FC236}">
                <a16:creationId xmlns:a16="http://schemas.microsoft.com/office/drawing/2014/main" id="{AE3563AF-0112-DDD4-EC7E-C3929428E89B}"/>
              </a:ext>
            </a:extLst>
          </p:cNvPr>
          <p:cNvCxnSpPr>
            <a:cxnSpLocks/>
          </p:cNvCxnSpPr>
          <p:nvPr/>
        </p:nvCxnSpPr>
        <p:spPr>
          <a:xfrm>
            <a:off x="547800" y="937623"/>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7A660-8494-19DC-DDAF-6C48365B28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B33E3FF-B330-24C2-C198-554C80A5CC41}"/>
              </a:ext>
            </a:extLst>
          </p:cNvPr>
          <p:cNvSpPr>
            <a:spLocks noGrp="1"/>
          </p:cNvSpPr>
          <p:nvPr>
            <p:ph type="title"/>
          </p:nvPr>
        </p:nvSpPr>
        <p:spPr/>
        <p:txBody>
          <a:bodyPr wrap="square">
            <a:normAutofit/>
          </a:bodyPr>
          <a:lstStyle/>
          <a:p>
            <a:pPr lvl="0"/>
            <a:r>
              <a:rPr lang="en-US" dirty="0">
                <a:latin typeface="+mn-ea"/>
                <a:ea typeface="+mn-ea"/>
              </a:rPr>
              <a:t>07.</a:t>
            </a:r>
            <a:r>
              <a:rPr lang="zh-CN" altLang="en-US" dirty="0">
                <a:latin typeface="+mn-ea"/>
                <a:ea typeface="+mn-ea"/>
              </a:rPr>
              <a:t>参考文献</a:t>
            </a:r>
            <a:endParaRPr lang="en-US" dirty="0">
              <a:latin typeface="+mn-ea"/>
              <a:ea typeface="+mn-ea"/>
            </a:endParaRPr>
          </a:p>
        </p:txBody>
      </p:sp>
    </p:spTree>
    <p:custDataLst>
      <p:tags r:id="rId1"/>
    </p:custDataLst>
    <p:extLst>
      <p:ext uri="{BB962C8B-B14F-4D97-AF65-F5344CB8AC3E}">
        <p14:creationId xmlns:p14="http://schemas.microsoft.com/office/powerpoint/2010/main" val="1701691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 name="图片 3" descr="房间的摆设布局&#10;&#10;AI 生成的内容可能不正确。">
            <a:extLst>
              <a:ext uri="{FF2B5EF4-FFF2-40B4-BE49-F238E27FC236}">
                <a16:creationId xmlns:a16="http://schemas.microsoft.com/office/drawing/2014/main" id="{B86500D5-0273-5238-2CB6-C9A1EAAA3A36}"/>
              </a:ext>
            </a:extLst>
          </p:cNvPr>
          <p:cNvPicPr>
            <a:picLocks noChangeAspect="1"/>
          </p:cNvPicPr>
          <p:nvPr/>
        </p:nvPicPr>
        <p:blipFill>
          <a:blip r:embed="rId3"/>
          <a:stretch>
            <a:fillRect/>
          </a:stretch>
        </p:blipFill>
        <p:spPr>
          <a:xfrm>
            <a:off x="0" y="16124"/>
            <a:ext cx="12192000" cy="6825751"/>
          </a:xfrm>
          <a:prstGeom prst="rect">
            <a:avLst/>
          </a:prstGeom>
        </p:spPr>
      </p:pic>
      <p:pic>
        <p:nvPicPr>
          <p:cNvPr id="473" name="Google Shape;473;p34" descr="image.png"/>
          <p:cNvPicPr preferRelativeResize="0"/>
          <p:nvPr/>
        </p:nvPicPr>
        <p:blipFill rotWithShape="1">
          <a:blip r:embed="rId4">
            <a:alphaModFix/>
          </a:blip>
          <a:srcRect/>
          <a:stretch/>
        </p:blipFill>
        <p:spPr>
          <a:xfrm>
            <a:off x="571500" y="1136208"/>
            <a:ext cx="11049000" cy="5348480"/>
          </a:xfrm>
          <a:prstGeom prst="rect">
            <a:avLst/>
          </a:prstGeom>
          <a:noFill/>
          <a:ln>
            <a:noFill/>
          </a:ln>
        </p:spPr>
      </p:pic>
      <p:sp>
        <p:nvSpPr>
          <p:cNvPr id="475" name="Google Shape;475;p34"/>
          <p:cNvSpPr txBox="1"/>
          <p:nvPr/>
        </p:nvSpPr>
        <p:spPr>
          <a:xfrm>
            <a:off x="866775" y="1288824"/>
            <a:ext cx="10458450" cy="787908"/>
          </a:xfrm>
          <a:prstGeom prst="rect">
            <a:avLst/>
          </a:prstGeom>
          <a:noFill/>
          <a:ln>
            <a:noFill/>
          </a:ln>
        </p:spPr>
        <p:txBody>
          <a:bodyPr spcFirstLastPara="1" wrap="square" lIns="0" tIns="0" rIns="0" bIns="0" anchor="t" anchorCtr="0">
            <a:spAutoFit/>
          </a:bodyPr>
          <a:lstStyle/>
          <a:p>
            <a:pPr marL="0" marR="0" lvl="0" indent="0" algn="just" rtl="0">
              <a:lnSpc>
                <a:spcPct val="159929"/>
              </a:lnSpc>
              <a:spcBef>
                <a:spcPts val="0"/>
              </a:spcBef>
              <a:spcAft>
                <a:spcPts val="0"/>
              </a:spcAft>
              <a:buNone/>
            </a:pPr>
            <a:r>
              <a:rPr lang="en-US" sz="1600" b="1" i="0" u="none" strike="noStrike" cap="none" dirty="0">
                <a:solidFill>
                  <a:srgbClr val="E0E0E0"/>
                </a:solidFill>
                <a:latin typeface="微软雅黑" panose="020B0503020204020204" pitchFamily="34" charset="-122"/>
                <a:ea typeface="微软雅黑" panose="020B0503020204020204" pitchFamily="34" charset="-122"/>
                <a:cs typeface="Inter"/>
                <a:sym typeface="Inter"/>
              </a:rPr>
              <a:t>[1] Niu </a:t>
            </a:r>
            <a:r>
              <a:rPr lang="en-US" sz="1600" b="1" i="0" u="none" strike="noStrike" cap="none" dirty="0" err="1">
                <a:solidFill>
                  <a:srgbClr val="E0E0E0"/>
                </a:solidFill>
                <a:latin typeface="微软雅黑" panose="020B0503020204020204" pitchFamily="34" charset="-122"/>
                <a:ea typeface="微软雅黑" panose="020B0503020204020204" pitchFamily="34" charset="-122"/>
                <a:cs typeface="Inter"/>
                <a:sym typeface="Inter"/>
              </a:rPr>
              <a:t>Yizhen</a:t>
            </a:r>
            <a:r>
              <a:rPr lang="en-US" sz="1600" b="1" i="0" u="none" strike="noStrike" cap="none" dirty="0">
                <a:solidFill>
                  <a:srgbClr val="E0E0E0"/>
                </a:solidFill>
                <a:latin typeface="微软雅黑" panose="020B0503020204020204" pitchFamily="34" charset="-122"/>
                <a:ea typeface="微软雅黑" panose="020B0503020204020204" pitchFamily="34" charset="-122"/>
                <a:cs typeface="Inter"/>
                <a:sym typeface="Inter"/>
              </a:rPr>
              <a:t>. Collaborative Filtering-Based Music Recommendation in Spark Architecture [J]. Mathematical Problems in Engineering, 2022.</a:t>
            </a:r>
            <a:endParaRPr sz="1600" b="1" dirty="0">
              <a:latin typeface="微软雅黑" panose="020B0503020204020204" pitchFamily="34" charset="-122"/>
              <a:ea typeface="微软雅黑" panose="020B0503020204020204" pitchFamily="34" charset="-122"/>
            </a:endParaRPr>
          </a:p>
        </p:txBody>
      </p:sp>
      <p:sp>
        <p:nvSpPr>
          <p:cNvPr id="486" name="Google Shape;486;p34"/>
          <p:cNvSpPr/>
          <p:nvPr/>
        </p:nvSpPr>
        <p:spPr>
          <a:xfrm>
            <a:off x="571500" y="1000423"/>
            <a:ext cx="110490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Calibri"/>
              <a:ea typeface="Calibri"/>
              <a:cs typeface="Calibri"/>
              <a:sym typeface="Calibri"/>
            </a:endParaRPr>
          </a:p>
        </p:txBody>
      </p:sp>
      <p:sp>
        <p:nvSpPr>
          <p:cNvPr id="485" name="Google Shape;485;p34"/>
          <p:cNvSpPr txBox="1"/>
          <p:nvPr/>
        </p:nvSpPr>
        <p:spPr>
          <a:xfrm>
            <a:off x="571500" y="352507"/>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latin typeface="微软雅黑" panose="020B0503020204020204" pitchFamily="34" charset="-122"/>
                <a:ea typeface="微软雅黑" panose="020B0503020204020204" pitchFamily="34" charset="-122"/>
                <a:cs typeface="Inter"/>
                <a:sym typeface="Inter"/>
              </a:rPr>
              <a:t>参考</a:t>
            </a:r>
            <a:r>
              <a:rPr lang="zh-CN" altLang="en-US" sz="2850" b="1" i="0" u="none" strike="noStrike" cap="none" spc="1000" dirty="0">
                <a:latin typeface="微软雅黑" panose="020B0503020204020204" pitchFamily="34" charset="-122"/>
                <a:ea typeface="微软雅黑" panose="020B0503020204020204" pitchFamily="34" charset="-122"/>
                <a:cs typeface="Inter"/>
                <a:sym typeface="Inter"/>
              </a:rPr>
              <a:t>文献</a:t>
            </a:r>
            <a:r>
              <a:rPr lang="en-US" altLang="zh-CN" sz="2850" b="1" i="0" u="none" strike="noStrike" cap="none" spc="1000" dirty="0">
                <a:latin typeface="微软雅黑" panose="020B0503020204020204" pitchFamily="34" charset="-122"/>
                <a:ea typeface="微软雅黑" panose="020B0503020204020204" pitchFamily="34" charset="-122"/>
                <a:cs typeface="Inter"/>
                <a:sym typeface="Inter"/>
              </a:rPr>
              <a:t>							</a:t>
            </a:r>
            <a:r>
              <a:rPr lang="en-US" altLang="zh-CN" sz="2850" b="1" spc="1000" dirty="0">
                <a:latin typeface="微软雅黑" panose="020B0503020204020204" pitchFamily="34" charset="-122"/>
                <a:ea typeface="微软雅黑" panose="020B0503020204020204" pitchFamily="34" charset="-122"/>
                <a:cs typeface="Inter"/>
                <a:sym typeface="Inter"/>
              </a:rPr>
              <a:t> </a:t>
            </a:r>
            <a:r>
              <a:rPr lang="zh-CN" altLang="en-US" sz="2850" b="1" i="0" u="none" strike="noStrike" cap="none" spc="1000" dirty="0">
                <a:latin typeface="微软雅黑" panose="020B0503020204020204" pitchFamily="34" charset="-122"/>
                <a:ea typeface="微软雅黑" panose="020B0503020204020204" pitchFamily="34" charset="-122"/>
                <a:cs typeface="Inter"/>
                <a:sym typeface="Inter"/>
              </a:rPr>
              <a:t>续表</a:t>
            </a:r>
            <a:r>
              <a:rPr lang="en-US" altLang="zh-CN" sz="2400" spc="1000" dirty="0">
                <a:latin typeface="微软雅黑" panose="020B0503020204020204" pitchFamily="34" charset="-122"/>
                <a:ea typeface="微软雅黑" panose="020B0503020204020204" pitchFamily="34" charset="-122"/>
              </a:rPr>
              <a:t> (1/2)</a:t>
            </a:r>
            <a:endParaRPr sz="2400" spc="1000" dirty="0">
              <a:latin typeface="微软雅黑" panose="020B0503020204020204" pitchFamily="34" charset="-122"/>
              <a:ea typeface="微软雅黑" panose="020B0503020204020204" pitchFamily="34" charset="-122"/>
            </a:endParaRPr>
          </a:p>
        </p:txBody>
      </p:sp>
      <p:sp>
        <p:nvSpPr>
          <p:cNvPr id="2" name="Google Shape;475;p34">
            <a:extLst>
              <a:ext uri="{FF2B5EF4-FFF2-40B4-BE49-F238E27FC236}">
                <a16:creationId xmlns:a16="http://schemas.microsoft.com/office/drawing/2014/main" id="{27E21EFB-BA57-6B3C-ED3C-C20798488806}"/>
              </a:ext>
            </a:extLst>
          </p:cNvPr>
          <p:cNvSpPr txBox="1"/>
          <p:nvPr/>
        </p:nvSpPr>
        <p:spPr>
          <a:xfrm>
            <a:off x="866775" y="2095500"/>
            <a:ext cx="10458450" cy="1181862"/>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[2]Zhiyuan Liu, Wei Xu, </a:t>
            </a:r>
            <a:r>
              <a:rPr lang="en-US" altLang="zh-CN" sz="1600" b="1" dirty="0" err="1">
                <a:solidFill>
                  <a:srgbClr val="E0E0E0"/>
                </a:solidFill>
                <a:latin typeface="微软雅黑" panose="020B0503020204020204" pitchFamily="34" charset="-122"/>
                <a:ea typeface="微软雅黑" panose="020B0503020204020204" pitchFamily="34" charset="-122"/>
              </a:rPr>
              <a:t>Wenping</a:t>
            </a:r>
            <a:r>
              <a:rPr lang="en-US" altLang="zh-CN" sz="1600" b="1" dirty="0">
                <a:solidFill>
                  <a:srgbClr val="E0E0E0"/>
                </a:solidFill>
                <a:latin typeface="微软雅黑" panose="020B0503020204020204" pitchFamily="34" charset="-122"/>
                <a:ea typeface="微软雅黑" panose="020B0503020204020204" pitchFamily="34" charset="-122"/>
              </a:rPr>
              <a:t> Zhang, </a:t>
            </a:r>
            <a:r>
              <a:rPr lang="en-US" altLang="zh-CN" sz="1600" b="1" dirty="0" err="1">
                <a:solidFill>
                  <a:srgbClr val="E0E0E0"/>
                </a:solidFill>
                <a:latin typeface="微软雅黑" panose="020B0503020204020204" pitchFamily="34" charset="-122"/>
                <a:ea typeface="微软雅黑" panose="020B0503020204020204" pitchFamily="34" charset="-122"/>
              </a:rPr>
              <a:t>Qiqi</a:t>
            </a:r>
            <a:r>
              <a:rPr lang="en-US" altLang="zh-CN" sz="1600" b="1" dirty="0">
                <a:solidFill>
                  <a:srgbClr val="E0E0E0"/>
                </a:solidFill>
                <a:latin typeface="微软雅黑" panose="020B0503020204020204" pitchFamily="34" charset="-122"/>
                <a:ea typeface="微软雅黑" panose="020B0503020204020204" pitchFamily="34" charset="-122"/>
              </a:rPr>
              <a:t> Jiang. An Emotion-based personalized music recommendation framework for emotion Improvement [J]. Information Processing &amp; Management, 2023, 60(3): 103256. </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484" name="细线1"/>
          <p:cNvSpPr/>
          <p:nvPr/>
        </p:nvSpPr>
        <p:spPr>
          <a:xfrm>
            <a:off x="866775" y="2104859"/>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475;p34">
            <a:extLst>
              <a:ext uri="{FF2B5EF4-FFF2-40B4-BE49-F238E27FC236}">
                <a16:creationId xmlns:a16="http://schemas.microsoft.com/office/drawing/2014/main" id="{5857368D-AFD1-32DA-A209-50C6100B631B}"/>
              </a:ext>
            </a:extLst>
          </p:cNvPr>
          <p:cNvSpPr txBox="1"/>
          <p:nvPr/>
        </p:nvSpPr>
        <p:spPr>
          <a:xfrm>
            <a:off x="866775" y="3267920"/>
            <a:ext cx="10458450" cy="1181862"/>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[3]Mao </a:t>
            </a:r>
            <a:r>
              <a:rPr lang="en-US" altLang="zh-CN" sz="1600" b="1" dirty="0" err="1">
                <a:solidFill>
                  <a:srgbClr val="E0E0E0"/>
                </a:solidFill>
                <a:latin typeface="微软雅黑" panose="020B0503020204020204" pitchFamily="34" charset="-122"/>
                <a:ea typeface="微软雅黑" panose="020B0503020204020204" pitchFamily="34" charset="-122"/>
              </a:rPr>
              <a:t>Yuxu</a:t>
            </a:r>
            <a:r>
              <a:rPr lang="en-US" altLang="zh-CN" sz="1600" b="1" dirty="0">
                <a:solidFill>
                  <a:srgbClr val="E0E0E0"/>
                </a:solidFill>
                <a:latin typeface="微软雅黑" panose="020B0503020204020204" pitchFamily="34" charset="-122"/>
                <a:ea typeface="微软雅黑" panose="020B0503020204020204" pitchFamily="34" charset="-122"/>
              </a:rPr>
              <a:t>, Zhong Guoqiang, Wang </a:t>
            </a:r>
            <a:r>
              <a:rPr lang="en-US" altLang="zh-CN" sz="1600" b="1" dirty="0" err="1">
                <a:solidFill>
                  <a:srgbClr val="E0E0E0"/>
                </a:solidFill>
                <a:latin typeface="微软雅黑" panose="020B0503020204020204" pitchFamily="34" charset="-122"/>
                <a:ea typeface="微软雅黑" panose="020B0503020204020204" pitchFamily="34" charset="-122"/>
              </a:rPr>
              <a:t>Haizhen</a:t>
            </a:r>
            <a:r>
              <a:rPr lang="en-US" altLang="zh-CN" sz="1600" b="1" dirty="0">
                <a:solidFill>
                  <a:srgbClr val="E0E0E0"/>
                </a:solidFill>
                <a:latin typeface="微软雅黑" panose="020B0503020204020204" pitchFamily="34" charset="-122"/>
                <a:ea typeface="微软雅黑" panose="020B0503020204020204" pitchFamily="34" charset="-122"/>
              </a:rPr>
              <a:t>, Huang </a:t>
            </a:r>
            <a:r>
              <a:rPr lang="en-US" altLang="zh-CN" sz="1600" b="1" dirty="0" err="1">
                <a:solidFill>
                  <a:srgbClr val="E0E0E0"/>
                </a:solidFill>
                <a:latin typeface="微软雅黑" panose="020B0503020204020204" pitchFamily="34" charset="-122"/>
                <a:ea typeface="微软雅黑" panose="020B0503020204020204" pitchFamily="34" charset="-122"/>
              </a:rPr>
              <a:t>Kaizhu</a:t>
            </a:r>
            <a:r>
              <a:rPr lang="en-US" altLang="zh-CN" sz="1600" b="1" dirty="0">
                <a:solidFill>
                  <a:srgbClr val="E0E0E0"/>
                </a:solidFill>
                <a:latin typeface="微软雅黑" panose="020B0503020204020204" pitchFamily="34" charset="-122"/>
                <a:ea typeface="微软雅黑" panose="020B0503020204020204" pitchFamily="34" charset="-122"/>
              </a:rPr>
              <a:t>. Music-CRN: An Efficient Content-Based Music Classification and Recommendation Network [J]. Cognitive Computation, 2022, 14(6): 2306–2316. </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8" name="Google Shape;475;p34">
            <a:extLst>
              <a:ext uri="{FF2B5EF4-FFF2-40B4-BE49-F238E27FC236}">
                <a16:creationId xmlns:a16="http://schemas.microsoft.com/office/drawing/2014/main" id="{51C18657-A83D-7984-1945-32F09BDAE6C7}"/>
              </a:ext>
            </a:extLst>
          </p:cNvPr>
          <p:cNvSpPr txBox="1"/>
          <p:nvPr/>
        </p:nvSpPr>
        <p:spPr>
          <a:xfrm>
            <a:off x="866775" y="4421373"/>
            <a:ext cx="10458450" cy="787908"/>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[4]Park Minju, Lee </a:t>
            </a:r>
            <a:r>
              <a:rPr lang="en-US" altLang="zh-CN" sz="1600" b="1" dirty="0" err="1">
                <a:solidFill>
                  <a:srgbClr val="E0E0E0"/>
                </a:solidFill>
                <a:latin typeface="微软雅黑" panose="020B0503020204020204" pitchFamily="34" charset="-122"/>
                <a:ea typeface="微软雅黑" panose="020B0503020204020204" pitchFamily="34" charset="-122"/>
              </a:rPr>
              <a:t>Kyogu</a:t>
            </a:r>
            <a:r>
              <a:rPr lang="en-US" altLang="zh-CN" sz="1600" b="1" dirty="0">
                <a:solidFill>
                  <a:srgbClr val="E0E0E0"/>
                </a:solidFill>
                <a:latin typeface="微软雅黑" panose="020B0503020204020204" pitchFamily="34" charset="-122"/>
                <a:ea typeface="微软雅黑" panose="020B0503020204020204" pitchFamily="34" charset="-122"/>
              </a:rPr>
              <a:t>. Exploiting Negative Preference in Content based Music Recommendation with Contrastive Learning [J]. </a:t>
            </a:r>
            <a:r>
              <a:rPr lang="en-US" altLang="zh-CN" sz="1600" b="1" dirty="0" err="1">
                <a:solidFill>
                  <a:srgbClr val="E0E0E0"/>
                </a:solidFill>
                <a:latin typeface="微软雅黑" panose="020B0503020204020204" pitchFamily="34" charset="-122"/>
                <a:ea typeface="微软雅黑" panose="020B0503020204020204" pitchFamily="34" charset="-122"/>
              </a:rPr>
              <a:t>arXiv</a:t>
            </a:r>
            <a:r>
              <a:rPr lang="en-US" altLang="zh-CN" sz="1600" b="1" dirty="0">
                <a:solidFill>
                  <a:srgbClr val="E0E0E0"/>
                </a:solidFill>
                <a:latin typeface="微软雅黑" panose="020B0503020204020204" pitchFamily="34" charset="-122"/>
                <a:ea typeface="微软雅黑" panose="020B0503020204020204" pitchFamily="34" charset="-122"/>
              </a:rPr>
              <a:t>, 2022. </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10" name="细线4">
            <a:extLst>
              <a:ext uri="{FF2B5EF4-FFF2-40B4-BE49-F238E27FC236}">
                <a16:creationId xmlns:a16="http://schemas.microsoft.com/office/drawing/2014/main" id="{3EE7AC7D-448C-3CBF-8C34-8F5084FE567D}"/>
              </a:ext>
            </a:extLst>
          </p:cNvPr>
          <p:cNvSpPr/>
          <p:nvPr/>
        </p:nvSpPr>
        <p:spPr>
          <a:xfrm>
            <a:off x="866775" y="5326016"/>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475;p34">
            <a:extLst>
              <a:ext uri="{FF2B5EF4-FFF2-40B4-BE49-F238E27FC236}">
                <a16:creationId xmlns:a16="http://schemas.microsoft.com/office/drawing/2014/main" id="{784FF25C-3A2D-3672-FA06-396280365F6C}"/>
              </a:ext>
            </a:extLst>
          </p:cNvPr>
          <p:cNvSpPr txBox="1"/>
          <p:nvPr/>
        </p:nvSpPr>
        <p:spPr>
          <a:xfrm>
            <a:off x="866775" y="5361194"/>
            <a:ext cx="10458450" cy="787908"/>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[5]Paul Sarvesh, Singh Sagar, </a:t>
            </a:r>
            <a:r>
              <a:rPr lang="en-US" altLang="zh-CN" sz="1600" b="1" dirty="0" err="1">
                <a:solidFill>
                  <a:srgbClr val="E0E0E0"/>
                </a:solidFill>
                <a:latin typeface="微软雅黑" panose="020B0503020204020204" pitchFamily="34" charset="-122"/>
                <a:ea typeface="微软雅黑" panose="020B0503020204020204" pitchFamily="34" charset="-122"/>
              </a:rPr>
              <a:t>Rajbhoj</a:t>
            </a:r>
            <a:r>
              <a:rPr lang="en-US" altLang="zh-CN" sz="1600" b="1" dirty="0">
                <a:solidFill>
                  <a:srgbClr val="E0E0E0"/>
                </a:solidFill>
                <a:latin typeface="微软雅黑" panose="020B0503020204020204" pitchFamily="34" charset="-122"/>
                <a:ea typeface="微软雅黑" panose="020B0503020204020204" pitchFamily="34" charset="-122"/>
              </a:rPr>
              <a:t> Shraddha. Personalized Music Recommendation System [J]. SSRN Electronic Journal, 2021</a:t>
            </a:r>
            <a:r>
              <a:rPr lang="en-US" altLang="zh-CN" sz="1600" b="1" dirty="0">
                <a:solidFill>
                  <a:schemeClr val="bg1"/>
                </a:solidFill>
                <a:latin typeface="微软雅黑" panose="020B0503020204020204" pitchFamily="34" charset="-122"/>
                <a:ea typeface="微软雅黑" panose="020B0503020204020204" pitchFamily="34" charset="-122"/>
              </a:rPr>
              <a:t>.</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12" name="细线3">
            <a:extLst>
              <a:ext uri="{FF2B5EF4-FFF2-40B4-BE49-F238E27FC236}">
                <a16:creationId xmlns:a16="http://schemas.microsoft.com/office/drawing/2014/main" id="{A2D0AEA3-44DE-D3BC-B858-A1BAC0E19ED2}"/>
              </a:ext>
            </a:extLst>
          </p:cNvPr>
          <p:cNvSpPr/>
          <p:nvPr/>
        </p:nvSpPr>
        <p:spPr>
          <a:xfrm>
            <a:off x="866775" y="4421373"/>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细线2">
            <a:extLst>
              <a:ext uri="{FF2B5EF4-FFF2-40B4-BE49-F238E27FC236}">
                <a16:creationId xmlns:a16="http://schemas.microsoft.com/office/drawing/2014/main" id="{C6E3A011-9CD2-220F-021D-8D989ED07DF0}"/>
              </a:ext>
            </a:extLst>
          </p:cNvPr>
          <p:cNvSpPr/>
          <p:nvPr/>
        </p:nvSpPr>
        <p:spPr>
          <a:xfrm>
            <a:off x="866775" y="328575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 name="细线4">
            <a:extLst>
              <a:ext uri="{FF2B5EF4-FFF2-40B4-BE49-F238E27FC236}">
                <a16:creationId xmlns:a16="http://schemas.microsoft.com/office/drawing/2014/main" id="{16D11512-B661-61AA-2CD0-8036DBB9FC3D}"/>
              </a:ext>
            </a:extLst>
          </p:cNvPr>
          <p:cNvSpPr/>
          <p:nvPr/>
        </p:nvSpPr>
        <p:spPr>
          <a:xfrm>
            <a:off x="866775" y="6144339"/>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1">
          <a:extLst>
            <a:ext uri="{FF2B5EF4-FFF2-40B4-BE49-F238E27FC236}">
              <a16:creationId xmlns:a16="http://schemas.microsoft.com/office/drawing/2014/main" id="{75C13674-E2EA-A1FA-7EF6-B947CD906035}"/>
            </a:ext>
          </a:extLst>
        </p:cNvPr>
        <p:cNvGrpSpPr/>
        <p:nvPr/>
      </p:nvGrpSpPr>
      <p:grpSpPr>
        <a:xfrm>
          <a:off x="0" y="0"/>
          <a:ext cx="0" cy="0"/>
          <a:chOff x="0" y="0"/>
          <a:chExt cx="0" cy="0"/>
        </a:xfrm>
      </p:grpSpPr>
      <p:pic>
        <p:nvPicPr>
          <p:cNvPr id="13" name="图片 12" descr="桌子上放着花瓶&#10;&#10;AI 生成的内容可能不正确。">
            <a:extLst>
              <a:ext uri="{FF2B5EF4-FFF2-40B4-BE49-F238E27FC236}">
                <a16:creationId xmlns:a16="http://schemas.microsoft.com/office/drawing/2014/main" id="{220F95FD-3391-1A71-1C7E-EA786CD4B8F4}"/>
              </a:ext>
            </a:extLst>
          </p:cNvPr>
          <p:cNvPicPr>
            <a:picLocks noChangeAspect="1"/>
          </p:cNvPicPr>
          <p:nvPr/>
        </p:nvPicPr>
        <p:blipFill>
          <a:blip r:embed="rId3"/>
          <a:stretch>
            <a:fillRect/>
          </a:stretch>
        </p:blipFill>
        <p:spPr>
          <a:xfrm>
            <a:off x="0" y="10515"/>
            <a:ext cx="12192000" cy="6836970"/>
          </a:xfrm>
          <a:prstGeom prst="rect">
            <a:avLst/>
          </a:prstGeom>
        </p:spPr>
      </p:pic>
      <p:sp>
        <p:nvSpPr>
          <p:cNvPr id="486" name="标线">
            <a:extLst>
              <a:ext uri="{FF2B5EF4-FFF2-40B4-BE49-F238E27FC236}">
                <a16:creationId xmlns:a16="http://schemas.microsoft.com/office/drawing/2014/main" id="{00F7F618-6D3A-EDE4-D76B-4C0226C2312A}"/>
              </a:ext>
            </a:extLst>
          </p:cNvPr>
          <p:cNvSpPr/>
          <p:nvPr/>
        </p:nvSpPr>
        <p:spPr>
          <a:xfrm>
            <a:off x="571500" y="924223"/>
            <a:ext cx="11049000" cy="952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73" name="Google Shape;473;p34" descr="image.png">
            <a:extLst>
              <a:ext uri="{FF2B5EF4-FFF2-40B4-BE49-F238E27FC236}">
                <a16:creationId xmlns:a16="http://schemas.microsoft.com/office/drawing/2014/main" id="{4E82622E-492A-3FDC-7D10-0AAF444F3780}"/>
              </a:ext>
            </a:extLst>
          </p:cNvPr>
          <p:cNvPicPr preferRelativeResize="0"/>
          <p:nvPr/>
        </p:nvPicPr>
        <p:blipFill rotWithShape="1">
          <a:blip r:embed="rId4">
            <a:alphaModFix/>
          </a:blip>
          <a:srcRect/>
          <a:stretch/>
        </p:blipFill>
        <p:spPr>
          <a:xfrm>
            <a:off x="645319" y="1217834"/>
            <a:ext cx="11049000" cy="5149634"/>
          </a:xfrm>
          <a:prstGeom prst="rect">
            <a:avLst/>
          </a:prstGeom>
          <a:noFill/>
          <a:ln>
            <a:noFill/>
          </a:ln>
        </p:spPr>
      </p:pic>
      <p:sp>
        <p:nvSpPr>
          <p:cNvPr id="475" name="Google Shape;475;p34">
            <a:extLst>
              <a:ext uri="{FF2B5EF4-FFF2-40B4-BE49-F238E27FC236}">
                <a16:creationId xmlns:a16="http://schemas.microsoft.com/office/drawing/2014/main" id="{91084D7E-6B2E-0A86-0B22-5952D3B69310}"/>
              </a:ext>
            </a:extLst>
          </p:cNvPr>
          <p:cNvSpPr txBox="1"/>
          <p:nvPr/>
        </p:nvSpPr>
        <p:spPr>
          <a:xfrm>
            <a:off x="866775" y="1315500"/>
            <a:ext cx="10458450" cy="787908"/>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[6]Le Li, Tao Dan, Zheng </a:t>
            </a:r>
            <a:r>
              <a:rPr lang="en-US" altLang="zh-CN" sz="1600" b="1" dirty="0" err="1">
                <a:solidFill>
                  <a:srgbClr val="E0E0E0"/>
                </a:solidFill>
                <a:latin typeface="微软雅黑" panose="020B0503020204020204" pitchFamily="34" charset="-122"/>
                <a:ea typeface="微软雅黑" panose="020B0503020204020204" pitchFamily="34" charset="-122"/>
              </a:rPr>
              <a:t>Chenwang</a:t>
            </a:r>
            <a:r>
              <a:rPr lang="en-US" altLang="zh-CN" sz="1600" b="1" dirty="0">
                <a:solidFill>
                  <a:srgbClr val="E0E0E0"/>
                </a:solidFill>
                <a:latin typeface="微软雅黑" panose="020B0503020204020204" pitchFamily="34" charset="-122"/>
                <a:ea typeface="微软雅黑" panose="020B0503020204020204" pitchFamily="34" charset="-122"/>
              </a:rPr>
              <a:t>, Gao </a:t>
            </a:r>
            <a:r>
              <a:rPr lang="en-US" altLang="zh-CN" sz="1600" b="1" dirty="0" err="1">
                <a:solidFill>
                  <a:srgbClr val="E0E0E0"/>
                </a:solidFill>
                <a:latin typeface="微软雅黑" panose="020B0503020204020204" pitchFamily="34" charset="-122"/>
                <a:ea typeface="微软雅黑" panose="020B0503020204020204" pitchFamily="34" charset="-122"/>
              </a:rPr>
              <a:t>Ruipeng</a:t>
            </a:r>
            <a:r>
              <a:rPr lang="en-US" altLang="zh-CN" sz="1600" b="1" dirty="0">
                <a:solidFill>
                  <a:srgbClr val="E0E0E0"/>
                </a:solidFill>
                <a:latin typeface="微软雅黑" panose="020B0503020204020204" pitchFamily="34" charset="-122"/>
                <a:ea typeface="微软雅黑" panose="020B0503020204020204" pitchFamily="34" charset="-122"/>
              </a:rPr>
              <a:t>. Attentive Auto encoder for Content-Aware Music Recommendation [J]. CCF Transactions on Pervasive Computing and Interaction, 2022, 4(1): 76–87.</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485" name="Google Shape;485;p34">
            <a:extLst>
              <a:ext uri="{FF2B5EF4-FFF2-40B4-BE49-F238E27FC236}">
                <a16:creationId xmlns:a16="http://schemas.microsoft.com/office/drawing/2014/main" id="{3C366860-2B80-07E0-D6EA-4334E41B4992}"/>
              </a:ext>
            </a:extLst>
          </p:cNvPr>
          <p:cNvSpPr txBox="1"/>
          <p:nvPr/>
        </p:nvSpPr>
        <p:spPr>
          <a:xfrm>
            <a:off x="571500" y="276307"/>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latin typeface="微软雅黑" panose="020B0503020204020204" pitchFamily="34" charset="-122"/>
                <a:ea typeface="微软雅黑" panose="020B0503020204020204" pitchFamily="34" charset="-122"/>
                <a:cs typeface="Inter"/>
                <a:sym typeface="Inter"/>
              </a:rPr>
              <a:t>参考</a:t>
            </a:r>
            <a:r>
              <a:rPr lang="zh-CN" altLang="en-US" sz="2850" b="1" i="0" u="none" strike="noStrike" cap="none" spc="1000" dirty="0">
                <a:latin typeface="微软雅黑" panose="020B0503020204020204" pitchFamily="34" charset="-122"/>
                <a:ea typeface="微软雅黑" panose="020B0503020204020204" pitchFamily="34" charset="-122"/>
                <a:cs typeface="Inter"/>
                <a:sym typeface="Inter"/>
              </a:rPr>
              <a:t>文献</a:t>
            </a:r>
            <a:r>
              <a:rPr lang="en-US" altLang="zh-CN" sz="2850" b="1" i="0" u="none" strike="noStrike" cap="none" spc="1000" dirty="0">
                <a:latin typeface="微软雅黑" panose="020B0503020204020204" pitchFamily="34" charset="-122"/>
                <a:ea typeface="微软雅黑" panose="020B0503020204020204" pitchFamily="34" charset="-122"/>
                <a:cs typeface="Inter"/>
                <a:sym typeface="Inter"/>
              </a:rPr>
              <a:t>					</a:t>
            </a:r>
            <a:r>
              <a:rPr lang="en-US" altLang="zh-CN" sz="2850" b="1" spc="1000" dirty="0">
                <a:latin typeface="微软雅黑" panose="020B0503020204020204" pitchFamily="34" charset="-122"/>
                <a:ea typeface="微软雅黑" panose="020B0503020204020204" pitchFamily="34" charset="-122"/>
                <a:cs typeface="Inter"/>
                <a:sym typeface="Inter"/>
              </a:rPr>
              <a:t>         </a:t>
            </a:r>
            <a:r>
              <a:rPr lang="zh-CN" altLang="en-US" sz="2850" b="1" i="0" u="none" strike="noStrike" cap="none" spc="1000" dirty="0">
                <a:latin typeface="微软雅黑" panose="020B0503020204020204" pitchFamily="34" charset="-122"/>
                <a:ea typeface="微软雅黑" panose="020B0503020204020204" pitchFamily="34" charset="-122"/>
                <a:cs typeface="Inter"/>
                <a:sym typeface="Inter"/>
              </a:rPr>
              <a:t>续表</a:t>
            </a:r>
            <a:r>
              <a:rPr lang="en-US" altLang="zh-CN" sz="2400" spc="1000" dirty="0">
                <a:latin typeface="微软雅黑" panose="020B0503020204020204" pitchFamily="34" charset="-122"/>
                <a:ea typeface="微软雅黑" panose="020B0503020204020204" pitchFamily="34" charset="-122"/>
              </a:rPr>
              <a:t> (2/2)</a:t>
            </a:r>
            <a:endParaRPr sz="2400" spc="1000" dirty="0">
              <a:latin typeface="微软雅黑" panose="020B0503020204020204" pitchFamily="34" charset="-122"/>
              <a:ea typeface="微软雅黑" panose="020B0503020204020204" pitchFamily="34" charset="-122"/>
            </a:endParaRPr>
          </a:p>
        </p:txBody>
      </p:sp>
      <p:sp>
        <p:nvSpPr>
          <p:cNvPr id="2" name="Google Shape;475;p34">
            <a:extLst>
              <a:ext uri="{FF2B5EF4-FFF2-40B4-BE49-F238E27FC236}">
                <a16:creationId xmlns:a16="http://schemas.microsoft.com/office/drawing/2014/main" id="{47AE195A-D73D-6FDA-6100-376ECF5CAE30}"/>
              </a:ext>
            </a:extLst>
          </p:cNvPr>
          <p:cNvSpPr txBox="1"/>
          <p:nvPr/>
        </p:nvSpPr>
        <p:spPr>
          <a:xfrm>
            <a:off x="866775" y="2214620"/>
            <a:ext cx="10753724" cy="787908"/>
          </a:xfrm>
          <a:prstGeom prst="rect">
            <a:avLst/>
          </a:prstGeom>
          <a:noFill/>
          <a:ln>
            <a:noFill/>
          </a:ln>
        </p:spPr>
        <p:txBody>
          <a:bodyPr spcFirstLastPara="1" wrap="square" lIns="0" tIns="0" rIns="0" bIns="0" anchor="t" anchorCtr="0">
            <a:spAutoFit/>
          </a:bodyPr>
          <a:lstStyle/>
          <a:p>
            <a:pPr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[7]</a:t>
            </a:r>
            <a:r>
              <a:rPr lang="zh-CN" altLang="en-US" sz="1600" b="1" dirty="0">
                <a:solidFill>
                  <a:srgbClr val="E0E0E0"/>
                </a:solidFill>
                <a:latin typeface="微软雅黑" panose="020B0503020204020204" pitchFamily="34" charset="-122"/>
                <a:ea typeface="微软雅黑" panose="020B0503020204020204" pitchFamily="34" charset="-122"/>
              </a:rPr>
              <a:t>刘昊</a:t>
            </a:r>
            <a:r>
              <a:rPr lang="en-US" altLang="zh-CN" sz="1600" b="1" dirty="0">
                <a:solidFill>
                  <a:srgbClr val="E0E0E0"/>
                </a:solidFill>
                <a:latin typeface="微软雅黑" panose="020B0503020204020204" pitchFamily="34" charset="-122"/>
                <a:ea typeface="微软雅黑" panose="020B0503020204020204" pitchFamily="34" charset="-122"/>
              </a:rPr>
              <a:t>.</a:t>
            </a:r>
            <a:r>
              <a:rPr lang="zh-CN" altLang="en-US" sz="1600" b="1" dirty="0">
                <a:solidFill>
                  <a:srgbClr val="E0E0E0"/>
                </a:solidFill>
                <a:latin typeface="微软雅黑" panose="020B0503020204020204" pitchFamily="34" charset="-122"/>
                <a:ea typeface="微软雅黑" panose="020B0503020204020204" pitchFamily="34" charset="-122"/>
              </a:rPr>
              <a:t>基于深度学习和协同过滤的音乐推荐系统研究</a:t>
            </a:r>
            <a:r>
              <a:rPr lang="en-US" altLang="zh-CN" sz="1600" b="1" dirty="0">
                <a:solidFill>
                  <a:srgbClr val="E0E0E0"/>
                </a:solidFill>
                <a:latin typeface="微软雅黑" panose="020B0503020204020204" pitchFamily="34" charset="-122"/>
                <a:ea typeface="微软雅黑" panose="020B0503020204020204" pitchFamily="34" charset="-122"/>
              </a:rPr>
              <a:t>[D].</a:t>
            </a:r>
            <a:r>
              <a:rPr lang="zh-CN" altLang="en-US" sz="1600" b="1" dirty="0">
                <a:solidFill>
                  <a:srgbClr val="E0E0E0"/>
                </a:solidFill>
                <a:latin typeface="微软雅黑" panose="020B0503020204020204" pitchFamily="34" charset="-122"/>
                <a:ea typeface="微软雅黑" panose="020B0503020204020204" pitchFamily="34" charset="-122"/>
              </a:rPr>
              <a:t>吉林建筑大学</a:t>
            </a:r>
            <a:r>
              <a:rPr lang="en-US" altLang="zh-CN" sz="1600" b="1" dirty="0">
                <a:solidFill>
                  <a:srgbClr val="E0E0E0"/>
                </a:solidFill>
                <a:latin typeface="微软雅黑" panose="020B0503020204020204" pitchFamily="34" charset="-122"/>
                <a:ea typeface="微软雅黑" panose="020B0503020204020204" pitchFamily="34" charset="-122"/>
              </a:rPr>
              <a:t>,2023.DOI:10.27714/d.cnki.gjljs.2023.000</a:t>
            </a:r>
          </a:p>
          <a:p>
            <a:pPr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421.</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484" name="细线6">
            <a:extLst>
              <a:ext uri="{FF2B5EF4-FFF2-40B4-BE49-F238E27FC236}">
                <a16:creationId xmlns:a16="http://schemas.microsoft.com/office/drawing/2014/main" id="{21E945F4-CA48-A1DC-B2CF-4D03713CDD8E}"/>
              </a:ext>
            </a:extLst>
          </p:cNvPr>
          <p:cNvSpPr/>
          <p:nvPr/>
        </p:nvSpPr>
        <p:spPr>
          <a:xfrm>
            <a:off x="866775" y="217151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细线7">
            <a:extLst>
              <a:ext uri="{FF2B5EF4-FFF2-40B4-BE49-F238E27FC236}">
                <a16:creationId xmlns:a16="http://schemas.microsoft.com/office/drawing/2014/main" id="{65475FEC-AAC3-53B6-6663-8325F05ADCA3}"/>
              </a:ext>
            </a:extLst>
          </p:cNvPr>
          <p:cNvSpPr/>
          <p:nvPr/>
        </p:nvSpPr>
        <p:spPr>
          <a:xfrm>
            <a:off x="866775" y="3011618"/>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475;p34">
            <a:extLst>
              <a:ext uri="{FF2B5EF4-FFF2-40B4-BE49-F238E27FC236}">
                <a16:creationId xmlns:a16="http://schemas.microsoft.com/office/drawing/2014/main" id="{32367C5F-1F5B-18CE-28D7-58EEBE49B679}"/>
              </a:ext>
            </a:extLst>
          </p:cNvPr>
          <p:cNvSpPr txBox="1"/>
          <p:nvPr/>
        </p:nvSpPr>
        <p:spPr>
          <a:xfrm>
            <a:off x="866775" y="2976312"/>
            <a:ext cx="10458450" cy="787908"/>
          </a:xfrm>
          <a:prstGeom prst="rect">
            <a:avLst/>
          </a:prstGeom>
          <a:noFill/>
          <a:ln>
            <a:noFill/>
          </a:ln>
        </p:spPr>
        <p:txBody>
          <a:bodyPr spcFirstLastPara="1" wrap="square" lIns="0" tIns="0" rIns="0" bIns="0" anchor="t" anchorCtr="0">
            <a:spAutoFit/>
          </a:bodyPr>
          <a:lstStyle/>
          <a:p>
            <a:pPr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[8]</a:t>
            </a:r>
            <a:r>
              <a:rPr lang="zh-CN" altLang="en-US" sz="1600" b="1" dirty="0">
                <a:solidFill>
                  <a:srgbClr val="E0E0E0"/>
                </a:solidFill>
                <a:latin typeface="微软雅黑" panose="020B0503020204020204" pitchFamily="34" charset="-122"/>
                <a:ea typeface="微软雅黑" panose="020B0503020204020204" pitchFamily="34" charset="-122"/>
              </a:rPr>
              <a:t>冯亚寒</a:t>
            </a:r>
            <a:r>
              <a:rPr lang="en-US" altLang="zh-CN" sz="1600" b="1" dirty="0">
                <a:solidFill>
                  <a:srgbClr val="E0E0E0"/>
                </a:solidFill>
                <a:latin typeface="微软雅黑" panose="020B0503020204020204" pitchFamily="34" charset="-122"/>
                <a:ea typeface="微软雅黑" panose="020B0503020204020204" pitchFamily="34" charset="-122"/>
              </a:rPr>
              <a:t>.</a:t>
            </a:r>
            <a:r>
              <a:rPr lang="zh-CN" altLang="en-US" sz="1600" b="1" dirty="0">
                <a:solidFill>
                  <a:srgbClr val="E0E0E0"/>
                </a:solidFill>
                <a:latin typeface="微软雅黑" panose="020B0503020204020204" pitchFamily="34" charset="-122"/>
                <a:ea typeface="微软雅黑" panose="020B0503020204020204" pitchFamily="34" charset="-122"/>
              </a:rPr>
              <a:t>基于</a:t>
            </a:r>
            <a:r>
              <a:rPr lang="en-US" altLang="zh-CN" sz="1600" b="1" dirty="0">
                <a:solidFill>
                  <a:srgbClr val="E0E0E0"/>
                </a:solidFill>
                <a:latin typeface="微软雅黑" panose="020B0503020204020204" pitchFamily="34" charset="-122"/>
                <a:ea typeface="微软雅黑" panose="020B0503020204020204" pitchFamily="34" charset="-122"/>
              </a:rPr>
              <a:t>WSM-CNN</a:t>
            </a:r>
            <a:r>
              <a:rPr lang="zh-CN" altLang="en-US" sz="1600" b="1" dirty="0">
                <a:solidFill>
                  <a:srgbClr val="E0E0E0"/>
                </a:solidFill>
                <a:latin typeface="微软雅黑" panose="020B0503020204020204" pitchFamily="34" charset="-122"/>
                <a:ea typeface="微软雅黑" panose="020B0503020204020204" pitchFamily="34" charset="-122"/>
              </a:rPr>
              <a:t>及其改进的音乐多情感分类方法研究与应用</a:t>
            </a:r>
            <a:r>
              <a:rPr lang="en-US" altLang="zh-CN" sz="1600" b="1" dirty="0">
                <a:solidFill>
                  <a:srgbClr val="E0E0E0"/>
                </a:solidFill>
                <a:latin typeface="微软雅黑" panose="020B0503020204020204" pitchFamily="34" charset="-122"/>
                <a:ea typeface="微软雅黑" panose="020B0503020204020204" pitchFamily="34" charset="-122"/>
              </a:rPr>
              <a:t>[D].</a:t>
            </a:r>
            <a:r>
              <a:rPr lang="zh-CN" altLang="en-US" sz="1600" b="1" dirty="0">
                <a:solidFill>
                  <a:srgbClr val="E0E0E0"/>
                </a:solidFill>
                <a:latin typeface="微软雅黑" panose="020B0503020204020204" pitchFamily="34" charset="-122"/>
                <a:ea typeface="微软雅黑" panose="020B0503020204020204" pitchFamily="34" charset="-122"/>
              </a:rPr>
              <a:t>北京建筑大学</a:t>
            </a:r>
            <a:r>
              <a:rPr lang="en-US" altLang="zh-CN" sz="1600" b="1" dirty="0">
                <a:solidFill>
                  <a:srgbClr val="E0E0E0"/>
                </a:solidFill>
                <a:latin typeface="微软雅黑" panose="020B0503020204020204" pitchFamily="34" charset="-122"/>
                <a:ea typeface="微软雅黑" panose="020B0503020204020204" pitchFamily="34" charset="-122"/>
              </a:rPr>
              <a:t>, 2025. DOI:10.26943/d.cnki.gbjzc.2025.000833. </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7" name="细线8">
            <a:extLst>
              <a:ext uri="{FF2B5EF4-FFF2-40B4-BE49-F238E27FC236}">
                <a16:creationId xmlns:a16="http://schemas.microsoft.com/office/drawing/2014/main" id="{93F29D62-80A4-EE33-085B-CC124DAF1633}"/>
              </a:ext>
            </a:extLst>
          </p:cNvPr>
          <p:cNvSpPr/>
          <p:nvPr/>
        </p:nvSpPr>
        <p:spPr>
          <a:xfrm>
            <a:off x="866775" y="3765182"/>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475;p34">
            <a:extLst>
              <a:ext uri="{FF2B5EF4-FFF2-40B4-BE49-F238E27FC236}">
                <a16:creationId xmlns:a16="http://schemas.microsoft.com/office/drawing/2014/main" id="{BDECFD3D-1BA1-C7FB-64C1-58443273D94A}"/>
              </a:ext>
            </a:extLst>
          </p:cNvPr>
          <p:cNvSpPr txBox="1"/>
          <p:nvPr/>
        </p:nvSpPr>
        <p:spPr>
          <a:xfrm>
            <a:off x="866775" y="3825698"/>
            <a:ext cx="10458450" cy="787908"/>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[9]</a:t>
            </a:r>
            <a:r>
              <a:rPr lang="zh-CN" altLang="en-US" sz="1600" b="1" dirty="0">
                <a:solidFill>
                  <a:srgbClr val="E0E0E0"/>
                </a:solidFill>
                <a:latin typeface="微软雅黑" panose="020B0503020204020204" pitchFamily="34" charset="-122"/>
                <a:ea typeface="微软雅黑" panose="020B0503020204020204" pitchFamily="34" charset="-122"/>
              </a:rPr>
              <a:t>杨率</a:t>
            </a:r>
            <a:r>
              <a:rPr lang="en-US" altLang="zh-CN" sz="1600" b="1" dirty="0">
                <a:solidFill>
                  <a:srgbClr val="E0E0E0"/>
                </a:solidFill>
                <a:latin typeface="微软雅黑" panose="020B0503020204020204" pitchFamily="34" charset="-122"/>
                <a:ea typeface="微软雅黑" panose="020B0503020204020204" pitchFamily="34" charset="-122"/>
              </a:rPr>
              <a:t>.</a:t>
            </a:r>
            <a:r>
              <a:rPr lang="zh-CN" altLang="en-US" sz="1600" b="1" dirty="0">
                <a:solidFill>
                  <a:srgbClr val="E0E0E0"/>
                </a:solidFill>
                <a:latin typeface="微软雅黑" panose="020B0503020204020204" pitchFamily="34" charset="-122"/>
                <a:ea typeface="微软雅黑" panose="020B0503020204020204" pitchFamily="34" charset="-122"/>
              </a:rPr>
              <a:t>基于深度神经网络的个性化实时音乐推荐系统研究与实现</a:t>
            </a:r>
            <a:r>
              <a:rPr lang="en-US" altLang="zh-CN" sz="1600" b="1" dirty="0">
                <a:solidFill>
                  <a:srgbClr val="E0E0E0"/>
                </a:solidFill>
                <a:latin typeface="微软雅黑" panose="020B0503020204020204" pitchFamily="34" charset="-122"/>
                <a:ea typeface="微软雅黑" panose="020B0503020204020204" pitchFamily="34" charset="-122"/>
              </a:rPr>
              <a:t>[D].</a:t>
            </a:r>
            <a:r>
              <a:rPr lang="zh-CN" altLang="en-US" sz="1600" b="1" dirty="0">
                <a:solidFill>
                  <a:srgbClr val="E0E0E0"/>
                </a:solidFill>
                <a:latin typeface="微软雅黑" panose="020B0503020204020204" pitchFamily="34" charset="-122"/>
                <a:ea typeface="微软雅黑" panose="020B0503020204020204" pitchFamily="34" charset="-122"/>
              </a:rPr>
              <a:t>华中科技大学</a:t>
            </a:r>
            <a:r>
              <a:rPr lang="en-US" altLang="zh-CN" sz="1600" b="1" dirty="0">
                <a:solidFill>
                  <a:srgbClr val="E0E0E0"/>
                </a:solidFill>
                <a:latin typeface="微软雅黑" panose="020B0503020204020204" pitchFamily="34" charset="-122"/>
                <a:ea typeface="微软雅黑" panose="020B0503020204020204" pitchFamily="34" charset="-122"/>
              </a:rPr>
              <a:t>,2023.DOI:10.27157/d.cnki.ghzku.2023.000276.</a:t>
            </a:r>
            <a:endParaRPr lang="zh-CN" altLang="en-US" sz="1600" b="1" dirty="0">
              <a:solidFill>
                <a:srgbClr val="E0E0E0"/>
              </a:solidFill>
              <a:latin typeface="微软雅黑" panose="020B0503020204020204" pitchFamily="34" charset="-122"/>
              <a:ea typeface="微软雅黑" panose="020B0503020204020204" pitchFamily="34" charset="-122"/>
            </a:endParaRPr>
          </a:p>
        </p:txBody>
      </p:sp>
      <p:sp>
        <p:nvSpPr>
          <p:cNvPr id="10" name="Google Shape;484;p34">
            <a:extLst>
              <a:ext uri="{FF2B5EF4-FFF2-40B4-BE49-F238E27FC236}">
                <a16:creationId xmlns:a16="http://schemas.microsoft.com/office/drawing/2014/main" id="{CD6674BA-3FF7-716D-2C0E-38AF77BE2C8C}"/>
              </a:ext>
            </a:extLst>
          </p:cNvPr>
          <p:cNvSpPr/>
          <p:nvPr/>
        </p:nvSpPr>
        <p:spPr>
          <a:xfrm>
            <a:off x="866775" y="4605043"/>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475;p34">
            <a:extLst>
              <a:ext uri="{FF2B5EF4-FFF2-40B4-BE49-F238E27FC236}">
                <a16:creationId xmlns:a16="http://schemas.microsoft.com/office/drawing/2014/main" id="{E9661F88-9EAD-A4B4-8583-9C2868346DF1}"/>
              </a:ext>
            </a:extLst>
          </p:cNvPr>
          <p:cNvSpPr txBox="1"/>
          <p:nvPr/>
        </p:nvSpPr>
        <p:spPr>
          <a:xfrm>
            <a:off x="866775" y="4669185"/>
            <a:ext cx="10458450" cy="787908"/>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[10]</a:t>
            </a:r>
            <a:r>
              <a:rPr lang="zh-CN" altLang="en-US" sz="1600" b="1" dirty="0">
                <a:solidFill>
                  <a:srgbClr val="E0E0E0"/>
                </a:solidFill>
                <a:latin typeface="微软雅黑" panose="020B0503020204020204" pitchFamily="34" charset="-122"/>
                <a:ea typeface="微软雅黑" panose="020B0503020204020204" pitchFamily="34" charset="-122"/>
              </a:rPr>
              <a:t>赵吉</a:t>
            </a:r>
            <a:r>
              <a:rPr lang="en-US" altLang="zh-CN" sz="1600" b="1" dirty="0">
                <a:solidFill>
                  <a:srgbClr val="E0E0E0"/>
                </a:solidFill>
                <a:latin typeface="微软雅黑" panose="020B0503020204020204" pitchFamily="34" charset="-122"/>
                <a:ea typeface="微软雅黑" panose="020B0503020204020204" pitchFamily="34" charset="-122"/>
              </a:rPr>
              <a:t>,</a:t>
            </a:r>
            <a:r>
              <a:rPr lang="zh-CN" altLang="en-US" sz="1600" b="1" dirty="0">
                <a:solidFill>
                  <a:srgbClr val="E0E0E0"/>
                </a:solidFill>
                <a:latin typeface="微软雅黑" panose="020B0503020204020204" pitchFamily="34" charset="-122"/>
                <a:ea typeface="微软雅黑" panose="020B0503020204020204" pitchFamily="34" charset="-122"/>
              </a:rPr>
              <a:t>胡海然</a:t>
            </a:r>
            <a:r>
              <a:rPr lang="en-US" altLang="zh-CN" sz="1600" b="1" dirty="0">
                <a:solidFill>
                  <a:srgbClr val="E0E0E0"/>
                </a:solidFill>
                <a:latin typeface="微软雅黑" panose="020B0503020204020204" pitchFamily="34" charset="-122"/>
                <a:ea typeface="微软雅黑" panose="020B0503020204020204" pitchFamily="34" charset="-122"/>
              </a:rPr>
              <a:t>,</a:t>
            </a:r>
            <a:r>
              <a:rPr lang="zh-CN" altLang="en-US" sz="1600" b="1" dirty="0">
                <a:solidFill>
                  <a:srgbClr val="E0E0E0"/>
                </a:solidFill>
                <a:latin typeface="微软雅黑" panose="020B0503020204020204" pitchFamily="34" charset="-122"/>
                <a:ea typeface="微软雅黑" panose="020B0503020204020204" pitchFamily="34" charset="-122"/>
              </a:rPr>
              <a:t>张婷</a:t>
            </a:r>
            <a:r>
              <a:rPr lang="en-US" altLang="zh-CN" sz="1600" b="1" dirty="0">
                <a:solidFill>
                  <a:srgbClr val="E0E0E0"/>
                </a:solidFill>
                <a:latin typeface="微软雅黑" panose="020B0503020204020204" pitchFamily="34" charset="-122"/>
                <a:ea typeface="微软雅黑" panose="020B0503020204020204" pitchFamily="34" charset="-122"/>
              </a:rPr>
              <a:t>.</a:t>
            </a:r>
            <a:r>
              <a:rPr lang="zh-CN" altLang="en-US" sz="1600" b="1" dirty="0">
                <a:solidFill>
                  <a:srgbClr val="E0E0E0"/>
                </a:solidFill>
                <a:latin typeface="微软雅黑" panose="020B0503020204020204" pitchFamily="34" charset="-122"/>
                <a:ea typeface="微软雅黑" panose="020B0503020204020204" pitchFamily="34" charset="-122"/>
              </a:rPr>
              <a:t>基于</a:t>
            </a:r>
            <a:r>
              <a:rPr lang="en-US" altLang="zh-CN" sz="1600" b="1" dirty="0">
                <a:solidFill>
                  <a:srgbClr val="E0E0E0"/>
                </a:solidFill>
                <a:latin typeface="微软雅黑" panose="020B0503020204020204" pitchFamily="34" charset="-122"/>
                <a:ea typeface="微软雅黑" panose="020B0503020204020204" pitchFamily="34" charset="-122"/>
              </a:rPr>
              <a:t>Spark</a:t>
            </a:r>
            <a:r>
              <a:rPr lang="zh-CN" altLang="en-US" sz="1600" b="1" dirty="0">
                <a:solidFill>
                  <a:srgbClr val="E0E0E0"/>
                </a:solidFill>
                <a:latin typeface="微软雅黑" panose="020B0503020204020204" pitchFamily="34" charset="-122"/>
                <a:ea typeface="微软雅黑" panose="020B0503020204020204" pitchFamily="34" charset="-122"/>
              </a:rPr>
              <a:t>的个性化音乐推荐系统设计与实现</a:t>
            </a:r>
            <a:r>
              <a:rPr lang="en-US" altLang="zh-CN" sz="1600" b="1" dirty="0">
                <a:solidFill>
                  <a:srgbClr val="E0E0E0"/>
                </a:solidFill>
                <a:latin typeface="微软雅黑" panose="020B0503020204020204" pitchFamily="34" charset="-122"/>
                <a:ea typeface="微软雅黑" panose="020B0503020204020204" pitchFamily="34" charset="-122"/>
              </a:rPr>
              <a:t>[J].</a:t>
            </a:r>
            <a:r>
              <a:rPr lang="zh-CN" altLang="en-US" sz="1600" b="1" dirty="0">
                <a:solidFill>
                  <a:srgbClr val="E0E0E0"/>
                </a:solidFill>
                <a:latin typeface="微软雅黑" panose="020B0503020204020204" pitchFamily="34" charset="-122"/>
                <a:ea typeface="微软雅黑" panose="020B0503020204020204" pitchFamily="34" charset="-122"/>
              </a:rPr>
              <a:t>电子 制作</a:t>
            </a:r>
            <a:r>
              <a:rPr lang="en-US" altLang="zh-CN" sz="1600" b="1" dirty="0">
                <a:solidFill>
                  <a:srgbClr val="E0E0E0"/>
                </a:solidFill>
                <a:latin typeface="微软雅黑" panose="020B0503020204020204" pitchFamily="34" charset="-122"/>
                <a:ea typeface="微软雅黑" panose="020B0503020204020204" pitchFamily="34" charset="-122"/>
              </a:rPr>
              <a:t>,2024,32(18):55-58.DOI:10.16589/j.cnki.cn11-3571/tn.2024.18.014.</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12" name="Google Shape;484;p34">
            <a:extLst>
              <a:ext uri="{FF2B5EF4-FFF2-40B4-BE49-F238E27FC236}">
                <a16:creationId xmlns:a16="http://schemas.microsoft.com/office/drawing/2014/main" id="{E7577FE4-A330-A1F6-0551-E8253C889608}"/>
              </a:ext>
            </a:extLst>
          </p:cNvPr>
          <p:cNvSpPr/>
          <p:nvPr/>
        </p:nvSpPr>
        <p:spPr>
          <a:xfrm>
            <a:off x="866775" y="5484799"/>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475;p34">
            <a:extLst>
              <a:ext uri="{FF2B5EF4-FFF2-40B4-BE49-F238E27FC236}">
                <a16:creationId xmlns:a16="http://schemas.microsoft.com/office/drawing/2014/main" id="{E1147E7F-0178-6E1B-B772-0AA71AF54BBB}"/>
              </a:ext>
            </a:extLst>
          </p:cNvPr>
          <p:cNvSpPr txBox="1"/>
          <p:nvPr/>
        </p:nvSpPr>
        <p:spPr>
          <a:xfrm>
            <a:off x="866775" y="5563397"/>
            <a:ext cx="10458450" cy="393954"/>
          </a:xfrm>
          <a:prstGeom prst="rect">
            <a:avLst/>
          </a:prstGeom>
          <a:noFill/>
          <a:ln>
            <a:noFill/>
          </a:ln>
        </p:spPr>
        <p:txBody>
          <a:bodyPr spcFirstLastPara="1" wrap="square" lIns="0" tIns="0" rIns="0" bIns="0" anchor="t" anchorCtr="0">
            <a:spAutoFit/>
          </a:bodyPr>
          <a:lstStyle/>
          <a:p>
            <a:pPr lvl="0" algn="just">
              <a:lnSpc>
                <a:spcPct val="159929"/>
              </a:lnSpc>
            </a:pPr>
            <a:r>
              <a:rPr lang="en-US" altLang="zh-CN" sz="1600" b="1" dirty="0">
                <a:solidFill>
                  <a:srgbClr val="E0E0E0"/>
                </a:solidFill>
                <a:latin typeface="微软雅黑" panose="020B0503020204020204" pitchFamily="34" charset="-122"/>
                <a:ea typeface="微软雅黑" panose="020B0503020204020204" pitchFamily="34" charset="-122"/>
              </a:rPr>
              <a:t>[11]</a:t>
            </a:r>
            <a:r>
              <a:rPr lang="zh-CN" altLang="en-US" sz="1600" b="1" dirty="0">
                <a:solidFill>
                  <a:srgbClr val="E0E0E0"/>
                </a:solidFill>
                <a:latin typeface="微软雅黑" panose="020B0503020204020204" pitchFamily="34" charset="-122"/>
                <a:ea typeface="微软雅黑" panose="020B0503020204020204" pitchFamily="34" charset="-122"/>
              </a:rPr>
              <a:t>李津</a:t>
            </a:r>
            <a:r>
              <a:rPr lang="en-US" altLang="zh-CN" sz="1600" b="1" dirty="0">
                <a:solidFill>
                  <a:srgbClr val="E0E0E0"/>
                </a:solidFill>
                <a:latin typeface="微软雅黑" panose="020B0503020204020204" pitchFamily="34" charset="-122"/>
                <a:ea typeface="微软雅黑" panose="020B0503020204020204" pitchFamily="34" charset="-122"/>
              </a:rPr>
              <a:t>.</a:t>
            </a:r>
            <a:r>
              <a:rPr lang="zh-CN" altLang="en-US" sz="1600" b="1" dirty="0">
                <a:solidFill>
                  <a:srgbClr val="E0E0E0"/>
                </a:solidFill>
                <a:latin typeface="微软雅黑" panose="020B0503020204020204" pitchFamily="34" charset="-122"/>
                <a:ea typeface="微软雅黑" panose="020B0503020204020204" pitchFamily="34" charset="-122"/>
              </a:rPr>
              <a:t>基于知识图谱的个性化音乐推荐系统设计与实现</a:t>
            </a:r>
            <a:r>
              <a:rPr lang="en-US" altLang="zh-CN" sz="1600" b="1" dirty="0">
                <a:solidFill>
                  <a:srgbClr val="E0E0E0"/>
                </a:solidFill>
                <a:latin typeface="微软雅黑" panose="020B0503020204020204" pitchFamily="34" charset="-122"/>
                <a:ea typeface="微软雅黑" panose="020B0503020204020204" pitchFamily="34" charset="-122"/>
              </a:rPr>
              <a:t>[J].</a:t>
            </a:r>
            <a:r>
              <a:rPr lang="zh-CN" altLang="en-US" sz="1600" b="1" dirty="0">
                <a:solidFill>
                  <a:srgbClr val="E0E0E0"/>
                </a:solidFill>
                <a:latin typeface="微软雅黑" panose="020B0503020204020204" pitchFamily="34" charset="-122"/>
                <a:ea typeface="微软雅黑" panose="020B0503020204020204" pitchFamily="34" charset="-122"/>
              </a:rPr>
              <a:t>科学技术创新</a:t>
            </a:r>
            <a:r>
              <a:rPr lang="en-US" altLang="zh-CN" sz="1600" b="1" dirty="0">
                <a:solidFill>
                  <a:srgbClr val="E0E0E0"/>
                </a:solidFill>
                <a:latin typeface="微软雅黑" panose="020B0503020204020204" pitchFamily="34" charset="-122"/>
                <a:ea typeface="微软雅黑" panose="020B0503020204020204" pitchFamily="34" charset="-122"/>
              </a:rPr>
              <a:t>,2024,(02):127-130. </a:t>
            </a:r>
            <a:endParaRPr sz="1600" b="1" dirty="0">
              <a:solidFill>
                <a:srgbClr val="E0E0E0"/>
              </a:solidFill>
              <a:latin typeface="微软雅黑" panose="020B0503020204020204" pitchFamily="34" charset="-122"/>
              <a:ea typeface="微软雅黑" panose="020B0503020204020204" pitchFamily="34" charset="-122"/>
            </a:endParaRPr>
          </a:p>
        </p:txBody>
      </p:sp>
      <p:sp>
        <p:nvSpPr>
          <p:cNvPr id="4" name="Google Shape;484;p34">
            <a:extLst>
              <a:ext uri="{FF2B5EF4-FFF2-40B4-BE49-F238E27FC236}">
                <a16:creationId xmlns:a16="http://schemas.microsoft.com/office/drawing/2014/main" id="{6454D412-C705-0FFB-5F76-380C23E6D7C2}"/>
              </a:ext>
            </a:extLst>
          </p:cNvPr>
          <p:cNvSpPr/>
          <p:nvPr/>
        </p:nvSpPr>
        <p:spPr>
          <a:xfrm>
            <a:off x="866775" y="6097071"/>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0640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652495" y="3012303"/>
            <a:ext cx="4964906" cy="712089"/>
          </a:xfrm>
        </p:spPr>
        <p:txBody>
          <a:bodyPr wrap="square">
            <a:normAutofit fontScale="90000"/>
          </a:bodyPr>
          <a:lstStyle/>
          <a:p>
            <a:pPr lvl="0" algn="ctr"/>
            <a:r>
              <a:rPr lang="en-US" spc="1000" dirty="0">
                <a:latin typeface="+mn-ea"/>
                <a:ea typeface="+mn-ea"/>
              </a:rPr>
              <a:t>THANKS</a:t>
            </a:r>
          </a:p>
        </p:txBody>
      </p:sp>
      <p:sp>
        <p:nvSpPr>
          <p:cNvPr id="3" name="文本占位符 2">
            <a:extLst>
              <a:ext uri="{FF2B5EF4-FFF2-40B4-BE49-F238E27FC236}">
                <a16:creationId xmlns:a16="http://schemas.microsoft.com/office/drawing/2014/main" id="{1DDE9708-E31C-9496-1A30-183FD4632A46}"/>
              </a:ext>
            </a:extLst>
          </p:cNvPr>
          <p:cNvSpPr>
            <a:spLocks noGrp="1"/>
          </p:cNvSpPr>
          <p:nvPr>
            <p:ph type="body" sz="quarter" idx="14"/>
          </p:nvPr>
        </p:nvSpPr>
        <p:spPr>
          <a:xfrm>
            <a:off x="7597133" y="3824266"/>
            <a:ext cx="3075630" cy="276999"/>
          </a:xfrm>
        </p:spPr>
        <p:txBody>
          <a:bodyPr>
            <a:noAutofit/>
          </a:bodyPr>
          <a:lstStyle/>
          <a:p>
            <a:pPr algn="ctr"/>
            <a:r>
              <a:rPr lang="zh-CN" altLang="en-US" sz="2200" dirty="0">
                <a:solidFill>
                  <a:srgbClr val="FFFFFF"/>
                </a:solidFill>
                <a:latin typeface="微软雅黑" panose="020B0503020204020204" pitchFamily="34" charset="-122"/>
                <a:ea typeface="微软雅黑" panose="020B0503020204020204" pitchFamily="34" charset="-122"/>
                <a:cs typeface="JetBrains Mono"/>
                <a:sym typeface="JetBrains Mono"/>
              </a:rPr>
              <a:t>感谢聆听 </a:t>
            </a:r>
            <a:r>
              <a:rPr lang="en-US" altLang="zh-CN" sz="2200" dirty="0">
                <a:solidFill>
                  <a:srgbClr val="FFFFFF"/>
                </a:solidFill>
                <a:latin typeface="微软雅黑" panose="020B0503020204020204" pitchFamily="34" charset="-122"/>
                <a:ea typeface="微软雅黑" panose="020B0503020204020204" pitchFamily="34" charset="-122"/>
                <a:cs typeface="JetBrains Mono"/>
                <a:sym typeface="JetBrains Mono"/>
              </a:rPr>
              <a:t>· </a:t>
            </a:r>
            <a:r>
              <a:rPr lang="zh-CN" altLang="en-US" sz="2200" dirty="0">
                <a:solidFill>
                  <a:srgbClr val="FFFFFF"/>
                </a:solidFill>
                <a:latin typeface="微软雅黑" panose="020B0503020204020204" pitchFamily="34" charset="-122"/>
                <a:ea typeface="微软雅黑" panose="020B0503020204020204" pitchFamily="34" charset="-122"/>
                <a:cs typeface="JetBrains Mono"/>
                <a:sym typeface="JetBrains Mono"/>
              </a:rPr>
              <a:t>欢迎提问</a:t>
            </a:r>
            <a:endParaRPr lang="zh-CN" altLang="en-US" sz="2200" dirty="0">
              <a:latin typeface="微软雅黑" panose="020B0503020204020204" pitchFamily="34" charset="-122"/>
              <a:ea typeface="微软雅黑" panose="020B0503020204020204" pitchFamily="34" charset="-122"/>
            </a:endParaRPr>
          </a:p>
          <a:p>
            <a:pPr algn="ctr"/>
            <a:endParaRPr lang="zh-CN" altLang="en-US" sz="2200" dirty="0"/>
          </a:p>
        </p:txBody>
      </p:sp>
    </p:spTree>
    <p:custDataLst>
      <p:tags r:id="rId1"/>
    </p:custDataLst>
    <p:extLst>
      <p:ext uri="{BB962C8B-B14F-4D97-AF65-F5344CB8AC3E}">
        <p14:creationId xmlns:p14="http://schemas.microsoft.com/office/powerpoint/2010/main" val="24478901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IMAGE" val="New_Batches_0108_Outline/20240108/images_object_20001_21000/8a3c926d-b188-43a0-b3e6-b50e908d686f-1.source.default.zh-Hans.jpg"/>
  <p:tag name="OFFICEPLUS.THEME" val="New_Batches_0108_Outline/20240108/images_object_20001_21000/8a3c926d-b188-43a0-b3e6-b50e908d686f-1.source.default.zh-Hans-9.pptx"/>
  <p:tag name="OFFICEPLUS.OUTLINE" val="931065"/>
  <p:tag name="OFFICEPLUS.OUTLINEEXTERNAL" val="b3b61fc9-2369-766c-a248-0a0ba87b4d1c"/>
</p:tagLst>
</file>

<file path=ppt/tags/tag2.xml><?xml version="1.0" encoding="utf-8"?>
<p:tagLst xmlns:a="http://schemas.openxmlformats.org/drawingml/2006/main" xmlns:r="http://schemas.openxmlformats.org/officeDocument/2006/relationships" xmlns:p="http://schemas.openxmlformats.org/presentationml/2006/main">
  <p:tag name="OFFICEPLUS.TAG" val="03a12446-4040-4dad-8d54-bb681f108928"/>
</p:tagLst>
</file>

<file path=ppt/tags/tag3.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7268269"/>
</p:tagLst>
</file>

<file path=ppt/tags/tag4.xml><?xml version="1.0" encoding="utf-8"?>
<p:tagLst xmlns:a="http://schemas.openxmlformats.org/drawingml/2006/main" xmlns:r="http://schemas.openxmlformats.org/officeDocument/2006/relationships" xmlns:p="http://schemas.openxmlformats.org/presentationml/2006/main">
  <p:tag name="OFFICEPLUS.TEMPLATE" val="87567d3f-b623-4eba-8152-64fed7a739ba.pptx"/>
  <p:tag name="OFFICEPLUS.TAG" val="9e4641ec-8dc6-4050-900b-dadf5fdb9e4c"/>
  <p:tag name="OFFICEPLUS.OUTLINECONTENT" val="25577229"/>
</p:tagLst>
</file>

<file path=ppt/tags/tag5.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7268269"/>
</p:tagLst>
</file>

<file path=ppt/tags/tag6.xml><?xml version="1.0" encoding="utf-8"?>
<p:tagLst xmlns:a="http://schemas.openxmlformats.org/drawingml/2006/main" xmlns:r="http://schemas.openxmlformats.org/officeDocument/2006/relationships" xmlns:p="http://schemas.openxmlformats.org/presentationml/2006/main">
  <p:tag name="OFFICEPLUS.TEMPLATE" val="001bb9b3-f01a-4ceb-9606-5a5905b776ef.pptx"/>
  <p:tag name="OFFICEPLUS.TAG" val="9e4641ec-8dc6-4050-900b-dadf5fdb9e4c"/>
  <p:tag name="OFFICEPLUS.OUTLINECONTENT" val="25577230"/>
</p:tagLst>
</file>

<file path=ppt/tags/tag7.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输入文本，单击此处输入"/>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标题"/>
</p:tagLst>
</file>

<file path=ppt/tags/tag9.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输入文本，单击此处输入"/>
</p:tagLst>
</file>

<file path=ppt/tags/tag10.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标题"/>
</p:tagLst>
</file>

<file path=ppt/tags/tag11.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输入文本，单击此处输入"/>
</p:tagLst>
</file>

<file path=ppt/tags/tag1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标题"/>
</p:tagLst>
</file>

<file path=ppt/tags/tag13.xml><?xml version="1.0" encoding="utf-8"?>
<p:tagLst xmlns:a="http://schemas.openxmlformats.org/drawingml/2006/main" xmlns:r="http://schemas.openxmlformats.org/officeDocument/2006/relationships" xmlns:p="http://schemas.openxmlformats.org/presentationml/2006/main">
  <p:tag name="OFFICEPLUS.TEMPLATE" val="001bb9b3-f01a-4ceb-9606-5a5905b776ef.pptx"/>
  <p:tag name="OFFICEPLUS.TAG" val="9e4641ec-8dc6-4050-900b-dadf5fdb9e4c"/>
  <p:tag name="OFFICEPLUS.OUTLINECONTENT" val="25577230"/>
</p:tagLst>
</file>

<file path=ppt/tags/tag14.xml><?xml version="1.0" encoding="utf-8"?>
<p:tagLst xmlns:a="http://schemas.openxmlformats.org/drawingml/2006/main" xmlns:r="http://schemas.openxmlformats.org/officeDocument/2006/relationships" xmlns:p="http://schemas.openxmlformats.org/presentationml/2006/main">
  <p:tag name="ISOPTEXTBOXGROUP" val="true"/>
</p:tagLst>
</file>

<file path=ppt/tags/tag15.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7268269"/>
</p:tagLst>
</file>

<file path=ppt/tags/tag16.xml><?xml version="1.0" encoding="utf-8"?>
<p:tagLst xmlns:a="http://schemas.openxmlformats.org/drawingml/2006/main" xmlns:r="http://schemas.openxmlformats.org/officeDocument/2006/relationships" xmlns:p="http://schemas.openxmlformats.org/presentationml/2006/main">
  <p:tag name="OFFICEPLUS.TEMPLATE" val="001bb9b3-f01a-4ceb-9606-5a5905b776ef.pptx"/>
  <p:tag name="OFFICEPLUS.TAG" val="9e4641ec-8dc6-4050-900b-dadf5fdb9e4c"/>
  <p:tag name="OFFICEPLUS.OUTLINECONTENT" val="25577230"/>
</p:tagLst>
</file>

<file path=ppt/tags/tag17.xml><?xml version="1.0" encoding="utf-8"?>
<p:tagLst xmlns:a="http://schemas.openxmlformats.org/drawingml/2006/main" xmlns:r="http://schemas.openxmlformats.org/officeDocument/2006/relationships" xmlns:p="http://schemas.openxmlformats.org/presentationml/2006/main">
  <p:tag name="ISOPTEXTBOXGROUP" val="true"/>
</p:tagLst>
</file>

<file path=ppt/tags/tag18.xml><?xml version="1.0" encoding="utf-8"?>
<p:tagLst xmlns:a="http://schemas.openxmlformats.org/drawingml/2006/main" xmlns:r="http://schemas.openxmlformats.org/officeDocument/2006/relationships" xmlns:p="http://schemas.openxmlformats.org/presentationml/2006/main">
  <p:tag name="OFFICEPLUS.TEMPLATE" val="001bb9b3-f01a-4ceb-9606-5a5905b776ef.pptx"/>
  <p:tag name="OFFICEPLUS.TAG" val="9e4641ec-8dc6-4050-900b-dadf5fdb9e4c"/>
  <p:tag name="OFFICEPLUS.OUTLINECONTENT" val="25577230"/>
</p:tagLst>
</file>

<file path=ppt/tags/tag19.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7268269"/>
</p:tagLst>
</file>

<file path=ppt/tags/tag20.xml><?xml version="1.0" encoding="utf-8"?>
<p:tagLst xmlns:a="http://schemas.openxmlformats.org/drawingml/2006/main" xmlns:r="http://schemas.openxmlformats.org/officeDocument/2006/relationships" xmlns:p="http://schemas.openxmlformats.org/presentationml/2006/main">
  <p:tag name="OFFICEPLUS.TEMPLATE" val="a7a9583c-2f1a-4c6c-bc62-a8d489a05fd6.pptx"/>
  <p:tag name="OFFICEPLUS.TAG" val="bd142c3d-b2ac-49d2-945d-a40ea7d68a02"/>
  <p:tag name="OFFICEPLUS.OUTLINECONTENT" val="25577231"/>
</p:tagLst>
</file>

<file path=ppt/tags/tag21.xml><?xml version="1.0" encoding="utf-8"?>
<p:tagLst xmlns:a="http://schemas.openxmlformats.org/drawingml/2006/main" xmlns:r="http://schemas.openxmlformats.org/officeDocument/2006/relationships" xmlns:p="http://schemas.openxmlformats.org/presentationml/2006/main">
  <p:tag name="OFFICEPLUS.TEMPLATE" val="001bb9b3-f01a-4ceb-9606-5a5905b776ef.pptx"/>
  <p:tag name="OFFICEPLUS.TAG" val="9e4641ec-8dc6-4050-900b-dadf5fdb9e4c"/>
  <p:tag name="OFFICEPLUS.OUTLINECONTENT" val="25577230"/>
</p:tagLst>
</file>

<file path=ppt/tags/tag22.xml><?xml version="1.0" encoding="utf-8"?>
<p:tagLst xmlns:a="http://schemas.openxmlformats.org/drawingml/2006/main" xmlns:r="http://schemas.openxmlformats.org/officeDocument/2006/relationships" xmlns:p="http://schemas.openxmlformats.org/presentationml/2006/main">
  <p:tag name="OFFICEPLUS.TEMPLATE" val="89a3a0b2-494d-4ab2-ade4-1c0a15d27a45.pptx"/>
  <p:tag name="OFFICEPLUS.TAG" val="9e4641ec-8dc6-4050-900b-dadf5fdb9e4c"/>
  <p:tag name="OFFICEPLUS.OUTLINECONTENT" val="25577232"/>
</p:tagLst>
</file>

<file path=ppt/tags/tag23.xml><?xml version="1.0" encoding="utf-8"?>
<p:tagLst xmlns:a="http://schemas.openxmlformats.org/drawingml/2006/main" xmlns:r="http://schemas.openxmlformats.org/officeDocument/2006/relationships" xmlns:p="http://schemas.openxmlformats.org/presentationml/2006/main">
  <p:tag name="OFFICEPLUS.TEMPLATE" val="49309129-4b6a-4a29-ac16-a63e31664429.pptx"/>
  <p:tag name="OFFICEPLUS.TAG" val="9e4641ec-8dc6-4050-900b-dadf5fdb9e4c"/>
  <p:tag name="OFFICEPLUS.OUTLINECONTENT" val="25577233"/>
</p:tagLst>
</file>

<file path=ppt/tags/tag24.xml><?xml version="1.0" encoding="utf-8"?>
<p:tagLst xmlns:a="http://schemas.openxmlformats.org/drawingml/2006/main" xmlns:r="http://schemas.openxmlformats.org/officeDocument/2006/relationships" xmlns:p="http://schemas.openxmlformats.org/presentationml/2006/main">
  <p:tag name="TYPE" val="icon"/>
</p:tagLst>
</file>

<file path=ppt/tags/tag25.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7268270"/>
</p:tagLst>
</file>

<file path=ppt/tags/tag26.xml><?xml version="1.0" encoding="utf-8"?>
<p:tagLst xmlns:a="http://schemas.openxmlformats.org/drawingml/2006/main" xmlns:r="http://schemas.openxmlformats.org/officeDocument/2006/relationships" xmlns:p="http://schemas.openxmlformats.org/presentationml/2006/main">
  <p:tag name="OFFICEPLUS.TEMPLATE" val="16566aca-c813-496f-a7ae-e7868cf7dca0.pptx"/>
  <p:tag name="OFFICEPLUS.TAG" val="9e4641ec-8dc6-4050-900b-dadf5fdb9e4c"/>
  <p:tag name="OFFICEPLUS.OUTLINECONTENT" val="25577234"/>
</p:tagLst>
</file>

<file path=ppt/tags/tag27.xml><?xml version="1.0" encoding="utf-8"?>
<p:tagLst xmlns:a="http://schemas.openxmlformats.org/drawingml/2006/main" xmlns:r="http://schemas.openxmlformats.org/officeDocument/2006/relationships" xmlns:p="http://schemas.openxmlformats.org/presentationml/2006/main">
  <p:tag name="OFFICEPLUS.TEMPLATE" val="1a65d110-7ea6-4c52-b730-0c3692e379fe.pptx"/>
  <p:tag name="OFFICEPLUS.TAG" val="9e4641ec-8dc6-4050-900b-dadf5fdb9e4c"/>
  <p:tag name="OFFICEPLUS.OUTLINECONTENT" val="25577235"/>
</p:tagLst>
</file>

<file path=ppt/tags/tag28.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7268270"/>
</p:tagLst>
</file>

<file path=ppt/tags/tag29.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7268270"/>
</p:tagLst>
</file>

<file path=ppt/tags/tag30.xml><?xml version="1.0" encoding="utf-8"?>
<p:tagLst xmlns:a="http://schemas.openxmlformats.org/drawingml/2006/main" xmlns:r="http://schemas.openxmlformats.org/officeDocument/2006/relationships" xmlns:p="http://schemas.openxmlformats.org/presentationml/2006/main">
  <p:tag name="OFFICEPLUS.TAG" val="e69c5ac3-dafd-4b9a-bbf1-d26a1016f816"/>
</p:tagLst>
</file>

<file path=ppt/theme/theme1.xml><?xml version="1.0" encoding="utf-8"?>
<a:theme xmlns:a="http://schemas.openxmlformats.org/drawingml/2006/main" name="Designed by OfficePLUS">
  <a:themeElements>
    <a:clrScheme name="OfficePLUS">
      <a:dk1>
        <a:srgbClr val="000000"/>
      </a:dk1>
      <a:lt1>
        <a:srgbClr val="FFFFFF"/>
      </a:lt1>
      <a:dk2>
        <a:srgbClr val="778495"/>
      </a:dk2>
      <a:lt2>
        <a:srgbClr val="F0F0F0"/>
      </a:lt2>
      <a:accent1>
        <a:srgbClr val="6E552F"/>
      </a:accent1>
      <a:accent2>
        <a:srgbClr val="7F9182"/>
      </a:accent2>
      <a:accent3>
        <a:srgbClr val="4D5A52"/>
      </a:accent3>
      <a:accent4>
        <a:srgbClr val="AC9061"/>
      </a:accent4>
      <a:accent5>
        <a:srgbClr val="8E7C44"/>
      </a:accent5>
      <a:accent6>
        <a:srgbClr val="C9B477"/>
      </a:accent6>
      <a:hlink>
        <a:srgbClr val="4472C4"/>
      </a:hlink>
      <a:folHlink>
        <a:srgbClr val="BFBFBF"/>
      </a:folHlink>
    </a:clrScheme>
    <a:fontScheme name="OfficePLUS">
      <a:majorFont>
        <a:latin typeface="Arial"/>
        <a:ea typeface="微软雅黑"/>
        <a:cs typeface=""/>
      </a:majorFont>
      <a:minorFont>
        <a:latin typeface="Arial"/>
        <a:ea typeface="微软雅黑"/>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PLUS"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4505</Words>
  <Application>Microsoft Office PowerPoint</Application>
  <PresentationFormat>宽屏</PresentationFormat>
  <Paragraphs>256</Paragraphs>
  <Slides>26</Slides>
  <Notes>18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26</vt:i4>
      </vt:variant>
    </vt:vector>
  </HeadingPairs>
  <TitlesOfParts>
    <vt:vector size="31" baseType="lpstr">
      <vt:lpstr>等线</vt:lpstr>
      <vt:lpstr>微软雅黑</vt:lpstr>
      <vt:lpstr>Arial</vt:lpstr>
      <vt:lpstr>Calibri</vt:lpstr>
      <vt:lpstr>Designed by OfficePLUS</vt:lpstr>
      <vt:lpstr>基于大数据技术的个化 音乐推荐系统设计与实现</vt:lpstr>
      <vt:lpstr>PowerPoint 演示文稿</vt:lpstr>
      <vt:lpstr>01.选题的背景与意义</vt:lpstr>
      <vt:lpstr>PowerPoint 演示文稿</vt:lpstr>
      <vt:lpstr>PowerPoint 演示文稿</vt:lpstr>
      <vt:lpstr>02.国内外研究现状</vt:lpstr>
      <vt:lpstr>PowerPoint 演示文稿</vt:lpstr>
      <vt:lpstr>PowerPoint 演示文稿</vt:lpstr>
      <vt:lpstr>03.研究目标与问题</vt:lpstr>
      <vt:lpstr>PowerPoint 演示文稿</vt:lpstr>
      <vt:lpstr>PowerPoint 演示文稿</vt:lpstr>
      <vt:lpstr>04.技术路线和系统架构</vt:lpstr>
      <vt:lpstr>PowerPoint 演示文稿</vt:lpstr>
      <vt:lpstr>PowerPoint 演示文稿</vt:lpstr>
      <vt:lpstr>PowerPoint 演示文稿</vt:lpstr>
      <vt:lpstr>PowerPoint 演示文稿</vt:lpstr>
      <vt:lpstr>PowerPoint 演示文稿</vt:lpstr>
      <vt:lpstr>05.预期成果与创新点</vt:lpstr>
      <vt:lpstr>PowerPoint 演示文稿</vt:lpstr>
      <vt:lpstr>PowerPoint 演示文稿</vt:lpstr>
      <vt:lpstr>06.工作进度计划</vt:lpstr>
      <vt:lpstr>PowerPoint 演示文稿</vt:lpstr>
      <vt:lpstr>07.参考文献</vt:lpstr>
      <vt:lpstr>PowerPoint 演示文稿</vt:lpstr>
      <vt:lpstr>PowerPoint 演示文稿</vt:lpstr>
      <vt:lpstr>THANKS</vt:lpstr>
    </vt:vector>
  </TitlesOfParts>
  <Company>OfficePLUS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拂 君</cp:lastModifiedBy>
  <cp:revision>18</cp:revision>
  <dcterms:created xsi:type="dcterms:W3CDTF">2023-07-20T03:04:31Z</dcterms:created>
  <dcterms:modified xsi:type="dcterms:W3CDTF">2026-01-10T09:20:51Z</dcterms:modified>
</cp:coreProperties>
</file>